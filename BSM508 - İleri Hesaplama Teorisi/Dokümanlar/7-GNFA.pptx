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274"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B854EB7-C9FD-46F1-8004-05D148C3446F}"/>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96CB43AE-019A-4C15-A5F5-9D526BDF55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DC66EA44-590F-4010-99D5-AF64DCCDA6E1}"/>
              </a:ext>
            </a:extLst>
          </p:cNvPr>
          <p:cNvSpPr>
            <a:spLocks noGrp="1"/>
          </p:cNvSpPr>
          <p:nvPr>
            <p:ph type="dt" sz="half" idx="10"/>
          </p:nvPr>
        </p:nvSpPr>
        <p:spPr/>
        <p:txBody>
          <a:bodyPr/>
          <a:lstStyle/>
          <a:p>
            <a:fld id="{F82BA592-A2EF-4DEA-AB74-F01F99B33ABA}" type="datetimeFigureOut">
              <a:rPr lang="tr-TR" smtClean="0"/>
              <a:t>28.10.2023</a:t>
            </a:fld>
            <a:endParaRPr lang="tr-TR"/>
          </a:p>
        </p:txBody>
      </p:sp>
      <p:sp>
        <p:nvSpPr>
          <p:cNvPr id="5" name="Alt Bilgi Yer Tutucusu 4">
            <a:extLst>
              <a:ext uri="{FF2B5EF4-FFF2-40B4-BE49-F238E27FC236}">
                <a16:creationId xmlns:a16="http://schemas.microsoft.com/office/drawing/2014/main" id="{4BBC23AE-DB9F-4950-AD11-F59B40574CD8}"/>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6DEFED8F-74F3-415A-945B-DEB850075CDD}"/>
              </a:ext>
            </a:extLst>
          </p:cNvPr>
          <p:cNvSpPr>
            <a:spLocks noGrp="1"/>
          </p:cNvSpPr>
          <p:nvPr>
            <p:ph type="sldNum" sz="quarter" idx="12"/>
          </p:nvPr>
        </p:nvSpPr>
        <p:spPr/>
        <p:txBody>
          <a:bodyPr/>
          <a:lstStyle/>
          <a:p>
            <a:fld id="{7865C0AA-AB88-49A5-9597-82E9DB9FEF8F}" type="slidenum">
              <a:rPr lang="tr-TR" smtClean="0"/>
              <a:t>‹#›</a:t>
            </a:fld>
            <a:endParaRPr lang="tr-TR"/>
          </a:p>
        </p:txBody>
      </p:sp>
    </p:spTree>
    <p:extLst>
      <p:ext uri="{BB962C8B-B14F-4D97-AF65-F5344CB8AC3E}">
        <p14:creationId xmlns:p14="http://schemas.microsoft.com/office/powerpoint/2010/main" val="249872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CF20AD2-D7A7-4CCF-8FE2-6CAC46195AF2}"/>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2081A4C2-51B8-4E9F-A18F-2A41B985CF5D}"/>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33588CAA-686B-4B74-A1E7-61EDFCD6AC2F}"/>
              </a:ext>
            </a:extLst>
          </p:cNvPr>
          <p:cNvSpPr>
            <a:spLocks noGrp="1"/>
          </p:cNvSpPr>
          <p:nvPr>
            <p:ph type="dt" sz="half" idx="10"/>
          </p:nvPr>
        </p:nvSpPr>
        <p:spPr/>
        <p:txBody>
          <a:bodyPr/>
          <a:lstStyle/>
          <a:p>
            <a:fld id="{F82BA592-A2EF-4DEA-AB74-F01F99B33ABA}" type="datetimeFigureOut">
              <a:rPr lang="tr-TR" smtClean="0"/>
              <a:t>28.10.2023</a:t>
            </a:fld>
            <a:endParaRPr lang="tr-TR"/>
          </a:p>
        </p:txBody>
      </p:sp>
      <p:sp>
        <p:nvSpPr>
          <p:cNvPr id="5" name="Alt Bilgi Yer Tutucusu 4">
            <a:extLst>
              <a:ext uri="{FF2B5EF4-FFF2-40B4-BE49-F238E27FC236}">
                <a16:creationId xmlns:a16="http://schemas.microsoft.com/office/drawing/2014/main" id="{44EA7177-55BF-423C-8BE5-D4FF5B038F9E}"/>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87C52295-A0CE-4054-8970-222508CF1B13}"/>
              </a:ext>
            </a:extLst>
          </p:cNvPr>
          <p:cNvSpPr>
            <a:spLocks noGrp="1"/>
          </p:cNvSpPr>
          <p:nvPr>
            <p:ph type="sldNum" sz="quarter" idx="12"/>
          </p:nvPr>
        </p:nvSpPr>
        <p:spPr/>
        <p:txBody>
          <a:bodyPr/>
          <a:lstStyle/>
          <a:p>
            <a:fld id="{7865C0AA-AB88-49A5-9597-82E9DB9FEF8F}" type="slidenum">
              <a:rPr lang="tr-TR" smtClean="0"/>
              <a:t>‹#›</a:t>
            </a:fld>
            <a:endParaRPr lang="tr-TR"/>
          </a:p>
        </p:txBody>
      </p:sp>
    </p:spTree>
    <p:extLst>
      <p:ext uri="{BB962C8B-B14F-4D97-AF65-F5344CB8AC3E}">
        <p14:creationId xmlns:p14="http://schemas.microsoft.com/office/powerpoint/2010/main" val="2116092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DA6C9BF-3C98-491B-AC41-DF4D41EB4FFE}"/>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886D3945-11C5-490A-BFA5-D7BE4B6187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453C1F24-1FBE-4044-A5BD-8D8F2AE70B94}"/>
              </a:ext>
            </a:extLst>
          </p:cNvPr>
          <p:cNvSpPr>
            <a:spLocks noGrp="1"/>
          </p:cNvSpPr>
          <p:nvPr>
            <p:ph type="dt" sz="half" idx="10"/>
          </p:nvPr>
        </p:nvSpPr>
        <p:spPr/>
        <p:txBody>
          <a:bodyPr/>
          <a:lstStyle/>
          <a:p>
            <a:fld id="{F82BA592-A2EF-4DEA-AB74-F01F99B33ABA}" type="datetimeFigureOut">
              <a:rPr lang="tr-TR" smtClean="0"/>
              <a:t>28.10.2023</a:t>
            </a:fld>
            <a:endParaRPr lang="tr-TR"/>
          </a:p>
        </p:txBody>
      </p:sp>
      <p:sp>
        <p:nvSpPr>
          <p:cNvPr id="5" name="Alt Bilgi Yer Tutucusu 4">
            <a:extLst>
              <a:ext uri="{FF2B5EF4-FFF2-40B4-BE49-F238E27FC236}">
                <a16:creationId xmlns:a16="http://schemas.microsoft.com/office/drawing/2014/main" id="{E3D42D87-AB1B-49E5-95A2-79D60F41E3EF}"/>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45F01CB1-51A8-45B7-A049-CE57E1617748}"/>
              </a:ext>
            </a:extLst>
          </p:cNvPr>
          <p:cNvSpPr>
            <a:spLocks noGrp="1"/>
          </p:cNvSpPr>
          <p:nvPr>
            <p:ph type="sldNum" sz="quarter" idx="12"/>
          </p:nvPr>
        </p:nvSpPr>
        <p:spPr/>
        <p:txBody>
          <a:bodyPr/>
          <a:lstStyle/>
          <a:p>
            <a:fld id="{7865C0AA-AB88-49A5-9597-82E9DB9FEF8F}" type="slidenum">
              <a:rPr lang="tr-TR" smtClean="0"/>
              <a:t>‹#›</a:t>
            </a:fld>
            <a:endParaRPr lang="tr-TR"/>
          </a:p>
        </p:txBody>
      </p:sp>
    </p:spTree>
    <p:extLst>
      <p:ext uri="{BB962C8B-B14F-4D97-AF65-F5344CB8AC3E}">
        <p14:creationId xmlns:p14="http://schemas.microsoft.com/office/powerpoint/2010/main" val="3412450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917CCD9-5069-4428-99FE-40686069574F}"/>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D243F5DE-3C85-4B62-824C-EBA6F8C82205}"/>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010CA2B6-88B3-4387-A203-2FB421A64AFB}"/>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99BA7618-D294-4DCF-9E25-65EE887AC4CA}"/>
              </a:ext>
            </a:extLst>
          </p:cNvPr>
          <p:cNvSpPr>
            <a:spLocks noGrp="1"/>
          </p:cNvSpPr>
          <p:nvPr>
            <p:ph type="dt" sz="half" idx="10"/>
          </p:nvPr>
        </p:nvSpPr>
        <p:spPr/>
        <p:txBody>
          <a:bodyPr/>
          <a:lstStyle/>
          <a:p>
            <a:fld id="{F82BA592-A2EF-4DEA-AB74-F01F99B33ABA}" type="datetimeFigureOut">
              <a:rPr lang="tr-TR" smtClean="0"/>
              <a:t>28.10.2023</a:t>
            </a:fld>
            <a:endParaRPr lang="tr-TR"/>
          </a:p>
        </p:txBody>
      </p:sp>
      <p:sp>
        <p:nvSpPr>
          <p:cNvPr id="6" name="Alt Bilgi Yer Tutucusu 5">
            <a:extLst>
              <a:ext uri="{FF2B5EF4-FFF2-40B4-BE49-F238E27FC236}">
                <a16:creationId xmlns:a16="http://schemas.microsoft.com/office/drawing/2014/main" id="{6BC3DB91-F330-4EBD-909D-B0CD3F37279B}"/>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077A8FE3-7BC8-480E-85EA-7D42F3CF1BDB}"/>
              </a:ext>
            </a:extLst>
          </p:cNvPr>
          <p:cNvSpPr>
            <a:spLocks noGrp="1"/>
          </p:cNvSpPr>
          <p:nvPr>
            <p:ph type="sldNum" sz="quarter" idx="12"/>
          </p:nvPr>
        </p:nvSpPr>
        <p:spPr/>
        <p:txBody>
          <a:bodyPr/>
          <a:lstStyle/>
          <a:p>
            <a:fld id="{7865C0AA-AB88-49A5-9597-82E9DB9FEF8F}" type="slidenum">
              <a:rPr lang="tr-TR" smtClean="0"/>
              <a:t>‹#›</a:t>
            </a:fld>
            <a:endParaRPr lang="tr-TR"/>
          </a:p>
        </p:txBody>
      </p:sp>
    </p:spTree>
    <p:extLst>
      <p:ext uri="{BB962C8B-B14F-4D97-AF65-F5344CB8AC3E}">
        <p14:creationId xmlns:p14="http://schemas.microsoft.com/office/powerpoint/2010/main" val="3626067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F74EEB8-6E03-462E-981F-87934FC1C989}"/>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93FC898B-57F5-44A8-87F4-9401AF6456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983111EE-6D5A-4A29-AAEB-D9CD00ABCC02}"/>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1D75E3C8-F168-43D8-B59C-AEB201BD88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0F5ADF2A-FE75-4439-BE48-D25CB1FD01F0}"/>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49BCA173-2F8F-431C-85DF-75D373F6E3F2}"/>
              </a:ext>
            </a:extLst>
          </p:cNvPr>
          <p:cNvSpPr>
            <a:spLocks noGrp="1"/>
          </p:cNvSpPr>
          <p:nvPr>
            <p:ph type="dt" sz="half" idx="10"/>
          </p:nvPr>
        </p:nvSpPr>
        <p:spPr/>
        <p:txBody>
          <a:bodyPr/>
          <a:lstStyle/>
          <a:p>
            <a:fld id="{F82BA592-A2EF-4DEA-AB74-F01F99B33ABA}" type="datetimeFigureOut">
              <a:rPr lang="tr-TR" smtClean="0"/>
              <a:t>28.10.2023</a:t>
            </a:fld>
            <a:endParaRPr lang="tr-TR"/>
          </a:p>
        </p:txBody>
      </p:sp>
      <p:sp>
        <p:nvSpPr>
          <p:cNvPr id="8" name="Alt Bilgi Yer Tutucusu 7">
            <a:extLst>
              <a:ext uri="{FF2B5EF4-FFF2-40B4-BE49-F238E27FC236}">
                <a16:creationId xmlns:a16="http://schemas.microsoft.com/office/drawing/2014/main" id="{A65FEEF1-27CF-44F6-966D-E57F73E5999F}"/>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EAD4F093-DFC5-46DF-B003-3999365FD095}"/>
              </a:ext>
            </a:extLst>
          </p:cNvPr>
          <p:cNvSpPr>
            <a:spLocks noGrp="1"/>
          </p:cNvSpPr>
          <p:nvPr>
            <p:ph type="sldNum" sz="quarter" idx="12"/>
          </p:nvPr>
        </p:nvSpPr>
        <p:spPr/>
        <p:txBody>
          <a:bodyPr/>
          <a:lstStyle/>
          <a:p>
            <a:fld id="{7865C0AA-AB88-49A5-9597-82E9DB9FEF8F}" type="slidenum">
              <a:rPr lang="tr-TR" smtClean="0"/>
              <a:t>‹#›</a:t>
            </a:fld>
            <a:endParaRPr lang="tr-TR"/>
          </a:p>
        </p:txBody>
      </p:sp>
    </p:spTree>
    <p:extLst>
      <p:ext uri="{BB962C8B-B14F-4D97-AF65-F5344CB8AC3E}">
        <p14:creationId xmlns:p14="http://schemas.microsoft.com/office/powerpoint/2010/main" val="1183006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EBC4631-B1CF-4EC1-BD0F-EA8FE5CD77C3}"/>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6748103B-CE7A-4DDD-A660-E7BCDD33EFFC}"/>
              </a:ext>
            </a:extLst>
          </p:cNvPr>
          <p:cNvSpPr>
            <a:spLocks noGrp="1"/>
          </p:cNvSpPr>
          <p:nvPr>
            <p:ph type="dt" sz="half" idx="10"/>
          </p:nvPr>
        </p:nvSpPr>
        <p:spPr/>
        <p:txBody>
          <a:bodyPr/>
          <a:lstStyle/>
          <a:p>
            <a:fld id="{F82BA592-A2EF-4DEA-AB74-F01F99B33ABA}" type="datetimeFigureOut">
              <a:rPr lang="tr-TR" smtClean="0"/>
              <a:t>28.10.2023</a:t>
            </a:fld>
            <a:endParaRPr lang="tr-TR"/>
          </a:p>
        </p:txBody>
      </p:sp>
      <p:sp>
        <p:nvSpPr>
          <p:cNvPr id="4" name="Alt Bilgi Yer Tutucusu 3">
            <a:extLst>
              <a:ext uri="{FF2B5EF4-FFF2-40B4-BE49-F238E27FC236}">
                <a16:creationId xmlns:a16="http://schemas.microsoft.com/office/drawing/2014/main" id="{F6255F64-BE8C-4D05-963E-860441D1CF8F}"/>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6216CC1B-7BCD-4431-9333-C4EDB48CF695}"/>
              </a:ext>
            </a:extLst>
          </p:cNvPr>
          <p:cNvSpPr>
            <a:spLocks noGrp="1"/>
          </p:cNvSpPr>
          <p:nvPr>
            <p:ph type="sldNum" sz="quarter" idx="12"/>
          </p:nvPr>
        </p:nvSpPr>
        <p:spPr/>
        <p:txBody>
          <a:bodyPr/>
          <a:lstStyle/>
          <a:p>
            <a:fld id="{7865C0AA-AB88-49A5-9597-82E9DB9FEF8F}" type="slidenum">
              <a:rPr lang="tr-TR" smtClean="0"/>
              <a:t>‹#›</a:t>
            </a:fld>
            <a:endParaRPr lang="tr-TR"/>
          </a:p>
        </p:txBody>
      </p:sp>
    </p:spTree>
    <p:extLst>
      <p:ext uri="{BB962C8B-B14F-4D97-AF65-F5344CB8AC3E}">
        <p14:creationId xmlns:p14="http://schemas.microsoft.com/office/powerpoint/2010/main" val="2837805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7E41110A-D11D-4A4D-ADB5-A6ABC7903D7D}"/>
              </a:ext>
            </a:extLst>
          </p:cNvPr>
          <p:cNvSpPr>
            <a:spLocks noGrp="1"/>
          </p:cNvSpPr>
          <p:nvPr>
            <p:ph type="dt" sz="half" idx="10"/>
          </p:nvPr>
        </p:nvSpPr>
        <p:spPr/>
        <p:txBody>
          <a:bodyPr/>
          <a:lstStyle/>
          <a:p>
            <a:fld id="{F82BA592-A2EF-4DEA-AB74-F01F99B33ABA}" type="datetimeFigureOut">
              <a:rPr lang="tr-TR" smtClean="0"/>
              <a:t>28.10.2023</a:t>
            </a:fld>
            <a:endParaRPr lang="tr-TR"/>
          </a:p>
        </p:txBody>
      </p:sp>
      <p:sp>
        <p:nvSpPr>
          <p:cNvPr id="3" name="Alt Bilgi Yer Tutucusu 2">
            <a:extLst>
              <a:ext uri="{FF2B5EF4-FFF2-40B4-BE49-F238E27FC236}">
                <a16:creationId xmlns:a16="http://schemas.microsoft.com/office/drawing/2014/main" id="{00742F54-DD59-417B-8D84-8D9A841188E9}"/>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6DF68DCB-EFB9-4FDB-88FC-255CDBA158CF}"/>
              </a:ext>
            </a:extLst>
          </p:cNvPr>
          <p:cNvSpPr>
            <a:spLocks noGrp="1"/>
          </p:cNvSpPr>
          <p:nvPr>
            <p:ph type="sldNum" sz="quarter" idx="12"/>
          </p:nvPr>
        </p:nvSpPr>
        <p:spPr/>
        <p:txBody>
          <a:bodyPr/>
          <a:lstStyle/>
          <a:p>
            <a:fld id="{7865C0AA-AB88-49A5-9597-82E9DB9FEF8F}" type="slidenum">
              <a:rPr lang="tr-TR" smtClean="0"/>
              <a:t>‹#›</a:t>
            </a:fld>
            <a:endParaRPr lang="tr-TR"/>
          </a:p>
        </p:txBody>
      </p:sp>
    </p:spTree>
    <p:extLst>
      <p:ext uri="{BB962C8B-B14F-4D97-AF65-F5344CB8AC3E}">
        <p14:creationId xmlns:p14="http://schemas.microsoft.com/office/powerpoint/2010/main" val="3758895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E6E8026-D8BB-492F-BF4B-A052790398EB}"/>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3EF4758F-0139-4340-9557-9A0F126DC9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78556B5B-0FE2-4191-B855-DEBB75E0BD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70F43D2E-6813-4DBB-AD45-222C8AFE4BC9}"/>
              </a:ext>
            </a:extLst>
          </p:cNvPr>
          <p:cNvSpPr>
            <a:spLocks noGrp="1"/>
          </p:cNvSpPr>
          <p:nvPr>
            <p:ph type="dt" sz="half" idx="10"/>
          </p:nvPr>
        </p:nvSpPr>
        <p:spPr/>
        <p:txBody>
          <a:bodyPr/>
          <a:lstStyle/>
          <a:p>
            <a:fld id="{F82BA592-A2EF-4DEA-AB74-F01F99B33ABA}" type="datetimeFigureOut">
              <a:rPr lang="tr-TR" smtClean="0"/>
              <a:t>28.10.2023</a:t>
            </a:fld>
            <a:endParaRPr lang="tr-TR"/>
          </a:p>
        </p:txBody>
      </p:sp>
      <p:sp>
        <p:nvSpPr>
          <p:cNvPr id="6" name="Alt Bilgi Yer Tutucusu 5">
            <a:extLst>
              <a:ext uri="{FF2B5EF4-FFF2-40B4-BE49-F238E27FC236}">
                <a16:creationId xmlns:a16="http://schemas.microsoft.com/office/drawing/2014/main" id="{733C1D64-82D1-4B11-BB0D-FDB15D53A0FA}"/>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428030F1-93D0-4078-8771-C32C7E29BE3E}"/>
              </a:ext>
            </a:extLst>
          </p:cNvPr>
          <p:cNvSpPr>
            <a:spLocks noGrp="1"/>
          </p:cNvSpPr>
          <p:nvPr>
            <p:ph type="sldNum" sz="quarter" idx="12"/>
          </p:nvPr>
        </p:nvSpPr>
        <p:spPr/>
        <p:txBody>
          <a:bodyPr/>
          <a:lstStyle/>
          <a:p>
            <a:fld id="{7865C0AA-AB88-49A5-9597-82E9DB9FEF8F}" type="slidenum">
              <a:rPr lang="tr-TR" smtClean="0"/>
              <a:t>‹#›</a:t>
            </a:fld>
            <a:endParaRPr lang="tr-TR"/>
          </a:p>
        </p:txBody>
      </p:sp>
    </p:spTree>
    <p:extLst>
      <p:ext uri="{BB962C8B-B14F-4D97-AF65-F5344CB8AC3E}">
        <p14:creationId xmlns:p14="http://schemas.microsoft.com/office/powerpoint/2010/main" val="1818316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1AF2391-F89A-4284-9CB2-7CE6B9CADD5C}"/>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60409D3A-AF89-4814-B2A3-CDB4E7E218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3F54B8A1-BC00-4011-AEFD-BA84FF25E4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349F6471-9A13-4D12-9AB5-9FD384534D6D}"/>
              </a:ext>
            </a:extLst>
          </p:cNvPr>
          <p:cNvSpPr>
            <a:spLocks noGrp="1"/>
          </p:cNvSpPr>
          <p:nvPr>
            <p:ph type="dt" sz="half" idx="10"/>
          </p:nvPr>
        </p:nvSpPr>
        <p:spPr/>
        <p:txBody>
          <a:bodyPr/>
          <a:lstStyle/>
          <a:p>
            <a:fld id="{F82BA592-A2EF-4DEA-AB74-F01F99B33ABA}" type="datetimeFigureOut">
              <a:rPr lang="tr-TR" smtClean="0"/>
              <a:t>28.10.2023</a:t>
            </a:fld>
            <a:endParaRPr lang="tr-TR"/>
          </a:p>
        </p:txBody>
      </p:sp>
      <p:sp>
        <p:nvSpPr>
          <p:cNvPr id="6" name="Alt Bilgi Yer Tutucusu 5">
            <a:extLst>
              <a:ext uri="{FF2B5EF4-FFF2-40B4-BE49-F238E27FC236}">
                <a16:creationId xmlns:a16="http://schemas.microsoft.com/office/drawing/2014/main" id="{153ADFD0-0852-4243-A658-8E60D41CAF0F}"/>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B4C23655-4D50-4249-8B28-5CFBC06AD703}"/>
              </a:ext>
            </a:extLst>
          </p:cNvPr>
          <p:cNvSpPr>
            <a:spLocks noGrp="1"/>
          </p:cNvSpPr>
          <p:nvPr>
            <p:ph type="sldNum" sz="quarter" idx="12"/>
          </p:nvPr>
        </p:nvSpPr>
        <p:spPr/>
        <p:txBody>
          <a:bodyPr/>
          <a:lstStyle/>
          <a:p>
            <a:fld id="{7865C0AA-AB88-49A5-9597-82E9DB9FEF8F}" type="slidenum">
              <a:rPr lang="tr-TR" smtClean="0"/>
              <a:t>‹#›</a:t>
            </a:fld>
            <a:endParaRPr lang="tr-TR"/>
          </a:p>
        </p:txBody>
      </p:sp>
    </p:spTree>
    <p:extLst>
      <p:ext uri="{BB962C8B-B14F-4D97-AF65-F5344CB8AC3E}">
        <p14:creationId xmlns:p14="http://schemas.microsoft.com/office/powerpoint/2010/main" val="4043364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F3C8103-F52C-4667-9241-F5A90D9D6658}"/>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850BAECA-9BE7-4610-8409-7F4B8F22D1FA}"/>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BA9D89BA-6F36-47C7-B4D8-1B7EC58738D6}"/>
              </a:ext>
            </a:extLst>
          </p:cNvPr>
          <p:cNvSpPr>
            <a:spLocks noGrp="1"/>
          </p:cNvSpPr>
          <p:nvPr>
            <p:ph type="dt" sz="half" idx="10"/>
          </p:nvPr>
        </p:nvSpPr>
        <p:spPr/>
        <p:txBody>
          <a:bodyPr/>
          <a:lstStyle/>
          <a:p>
            <a:fld id="{F82BA592-A2EF-4DEA-AB74-F01F99B33ABA}" type="datetimeFigureOut">
              <a:rPr lang="tr-TR" smtClean="0"/>
              <a:t>28.10.2023</a:t>
            </a:fld>
            <a:endParaRPr lang="tr-TR"/>
          </a:p>
        </p:txBody>
      </p:sp>
      <p:sp>
        <p:nvSpPr>
          <p:cNvPr id="5" name="Alt Bilgi Yer Tutucusu 4">
            <a:extLst>
              <a:ext uri="{FF2B5EF4-FFF2-40B4-BE49-F238E27FC236}">
                <a16:creationId xmlns:a16="http://schemas.microsoft.com/office/drawing/2014/main" id="{53854DDF-8BE5-443C-A1AF-EA14388B85F8}"/>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896F1A2E-88A3-4137-96E7-3A8BE23194E4}"/>
              </a:ext>
            </a:extLst>
          </p:cNvPr>
          <p:cNvSpPr>
            <a:spLocks noGrp="1"/>
          </p:cNvSpPr>
          <p:nvPr>
            <p:ph type="sldNum" sz="quarter" idx="12"/>
          </p:nvPr>
        </p:nvSpPr>
        <p:spPr/>
        <p:txBody>
          <a:bodyPr/>
          <a:lstStyle/>
          <a:p>
            <a:fld id="{7865C0AA-AB88-49A5-9597-82E9DB9FEF8F}" type="slidenum">
              <a:rPr lang="tr-TR" smtClean="0"/>
              <a:t>‹#›</a:t>
            </a:fld>
            <a:endParaRPr lang="tr-TR"/>
          </a:p>
        </p:txBody>
      </p:sp>
    </p:spTree>
    <p:extLst>
      <p:ext uri="{BB962C8B-B14F-4D97-AF65-F5344CB8AC3E}">
        <p14:creationId xmlns:p14="http://schemas.microsoft.com/office/powerpoint/2010/main" val="33126335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9DDF48F6-3EAA-4452-966D-6DC98E2B2432}"/>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6DAFCB67-A1E2-4E23-92F8-9CB010BE3149}"/>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EFE908C7-837D-4CC1-9DD2-0ACE73DA4505}"/>
              </a:ext>
            </a:extLst>
          </p:cNvPr>
          <p:cNvSpPr>
            <a:spLocks noGrp="1"/>
          </p:cNvSpPr>
          <p:nvPr>
            <p:ph type="dt" sz="half" idx="10"/>
          </p:nvPr>
        </p:nvSpPr>
        <p:spPr/>
        <p:txBody>
          <a:bodyPr/>
          <a:lstStyle/>
          <a:p>
            <a:fld id="{F82BA592-A2EF-4DEA-AB74-F01F99B33ABA}" type="datetimeFigureOut">
              <a:rPr lang="tr-TR" smtClean="0"/>
              <a:t>28.10.2023</a:t>
            </a:fld>
            <a:endParaRPr lang="tr-TR"/>
          </a:p>
        </p:txBody>
      </p:sp>
      <p:sp>
        <p:nvSpPr>
          <p:cNvPr id="5" name="Alt Bilgi Yer Tutucusu 4">
            <a:extLst>
              <a:ext uri="{FF2B5EF4-FFF2-40B4-BE49-F238E27FC236}">
                <a16:creationId xmlns:a16="http://schemas.microsoft.com/office/drawing/2014/main" id="{27A5E348-62D0-4781-B8AA-0DBABF99E4E4}"/>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31E76756-76F6-4246-8E69-66C86528C13B}"/>
              </a:ext>
            </a:extLst>
          </p:cNvPr>
          <p:cNvSpPr>
            <a:spLocks noGrp="1"/>
          </p:cNvSpPr>
          <p:nvPr>
            <p:ph type="sldNum" sz="quarter" idx="12"/>
          </p:nvPr>
        </p:nvSpPr>
        <p:spPr/>
        <p:txBody>
          <a:bodyPr/>
          <a:lstStyle/>
          <a:p>
            <a:fld id="{7865C0AA-AB88-49A5-9597-82E9DB9FEF8F}" type="slidenum">
              <a:rPr lang="tr-TR" smtClean="0"/>
              <a:t>‹#›</a:t>
            </a:fld>
            <a:endParaRPr lang="tr-TR"/>
          </a:p>
        </p:txBody>
      </p:sp>
    </p:spTree>
    <p:extLst>
      <p:ext uri="{BB962C8B-B14F-4D97-AF65-F5344CB8AC3E}">
        <p14:creationId xmlns:p14="http://schemas.microsoft.com/office/powerpoint/2010/main" val="5207796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F8BC72F7-4F9F-4C85-9A5C-A5ACE4FC75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7C7E59DE-7F34-414F-9300-B0185ECC94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7830AF7D-27DD-46CD-901C-2E867E85D2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2BA592-A2EF-4DEA-AB74-F01F99B33ABA}" type="datetimeFigureOut">
              <a:rPr lang="tr-TR" smtClean="0"/>
              <a:t>28.10.2023</a:t>
            </a:fld>
            <a:endParaRPr lang="tr-TR"/>
          </a:p>
        </p:txBody>
      </p:sp>
      <p:sp>
        <p:nvSpPr>
          <p:cNvPr id="5" name="Alt Bilgi Yer Tutucusu 4">
            <a:extLst>
              <a:ext uri="{FF2B5EF4-FFF2-40B4-BE49-F238E27FC236}">
                <a16:creationId xmlns:a16="http://schemas.microsoft.com/office/drawing/2014/main" id="{61B5F078-1116-4763-8243-B33052D900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a:extLst>
              <a:ext uri="{FF2B5EF4-FFF2-40B4-BE49-F238E27FC236}">
                <a16:creationId xmlns:a16="http://schemas.microsoft.com/office/drawing/2014/main" id="{75BC1E66-C6C4-4669-BA5A-3F4DAB14A2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65C0AA-AB88-49A5-9597-82E9DB9FEF8F}" type="slidenum">
              <a:rPr lang="tr-TR" smtClean="0"/>
              <a:t>‹#›</a:t>
            </a:fld>
            <a:endParaRPr lang="tr-TR"/>
          </a:p>
        </p:txBody>
      </p:sp>
    </p:spTree>
    <p:extLst>
      <p:ext uri="{BB962C8B-B14F-4D97-AF65-F5344CB8AC3E}">
        <p14:creationId xmlns:p14="http://schemas.microsoft.com/office/powerpoint/2010/main" val="13416074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etin kutusu 4">
            <a:extLst>
              <a:ext uri="{FF2B5EF4-FFF2-40B4-BE49-F238E27FC236}">
                <a16:creationId xmlns:a16="http://schemas.microsoft.com/office/drawing/2014/main" id="{287D8EAD-F742-48F9-AE41-F0B0404DB996}"/>
              </a:ext>
            </a:extLst>
          </p:cNvPr>
          <p:cNvSpPr txBox="1"/>
          <p:nvPr/>
        </p:nvSpPr>
        <p:spPr>
          <a:xfrm>
            <a:off x="637674" y="596841"/>
            <a:ext cx="11249526" cy="923330"/>
          </a:xfrm>
          <a:prstGeom prst="rect">
            <a:avLst/>
          </a:prstGeom>
          <a:noFill/>
        </p:spPr>
        <p:txBody>
          <a:bodyPr wrap="square">
            <a:spAutoFit/>
          </a:bodyPr>
          <a:lstStyle/>
          <a:p>
            <a:r>
              <a:rPr lang="tr-TR" dirty="0"/>
              <a:t>Genelleştirilmiş </a:t>
            </a:r>
            <a:r>
              <a:rPr lang="tr-TR" dirty="0" err="1"/>
              <a:t>deterministik</a:t>
            </a:r>
            <a:r>
              <a:rPr lang="tr-TR" dirty="0"/>
              <a:t> olmayan sonlu otomat (GNFA) adı verilen yeni bir sonlu otomat türünü kullanarak bu prosedürü iki parçaya ayırıyoruz. İlk önce </a:t>
            </a:r>
            <a:r>
              <a:rPr lang="tr-TR" dirty="0" err="1"/>
              <a:t>DFA'ların</a:t>
            </a:r>
            <a:r>
              <a:rPr lang="tr-TR" dirty="0"/>
              <a:t> </a:t>
            </a:r>
            <a:r>
              <a:rPr lang="tr-TR" dirty="0" err="1"/>
              <a:t>GNFA'lara</a:t>
            </a:r>
            <a:r>
              <a:rPr lang="tr-TR" dirty="0"/>
              <a:t> ve ardından </a:t>
            </a:r>
            <a:r>
              <a:rPr lang="tr-TR" dirty="0" err="1"/>
              <a:t>GNFA'ların</a:t>
            </a:r>
            <a:r>
              <a:rPr lang="tr-TR" dirty="0"/>
              <a:t> düzenli ifadelere nasıl dönüştürüleceğini gösteriyoruz.</a:t>
            </a:r>
          </a:p>
        </p:txBody>
      </p:sp>
      <p:sp>
        <p:nvSpPr>
          <p:cNvPr id="7" name="Metin kutusu 6">
            <a:extLst>
              <a:ext uri="{FF2B5EF4-FFF2-40B4-BE49-F238E27FC236}">
                <a16:creationId xmlns:a16="http://schemas.microsoft.com/office/drawing/2014/main" id="{3009A0BA-C212-4180-9BFA-664CDC97802F}"/>
              </a:ext>
            </a:extLst>
          </p:cNvPr>
          <p:cNvSpPr txBox="1"/>
          <p:nvPr/>
        </p:nvSpPr>
        <p:spPr>
          <a:xfrm>
            <a:off x="637674" y="2009325"/>
            <a:ext cx="11249526" cy="2031325"/>
          </a:xfrm>
          <a:prstGeom prst="rect">
            <a:avLst/>
          </a:prstGeom>
          <a:noFill/>
        </p:spPr>
        <p:txBody>
          <a:bodyPr wrap="square">
            <a:spAutoFit/>
          </a:bodyPr>
          <a:lstStyle/>
          <a:p>
            <a:r>
              <a:rPr lang="tr-TR" dirty="0"/>
              <a:t>Genelleştirilmiş </a:t>
            </a:r>
            <a:r>
              <a:rPr lang="tr-TR" dirty="0" err="1"/>
              <a:t>deterministik</a:t>
            </a:r>
            <a:r>
              <a:rPr lang="tr-TR" dirty="0"/>
              <a:t> olmayan sonlu otomatlar, basitçe </a:t>
            </a:r>
            <a:r>
              <a:rPr lang="tr-TR" dirty="0" err="1"/>
              <a:t>deterministik</a:t>
            </a:r>
            <a:r>
              <a:rPr lang="tr-TR" dirty="0"/>
              <a:t> olmayan sonlu otomatlardır; burada geçiş okları, yalnızca alfabenin veya </a:t>
            </a:r>
            <a:r>
              <a:rPr lang="el-GR" dirty="0"/>
              <a:t>ε'</a:t>
            </a:r>
            <a:r>
              <a:rPr lang="tr-TR" dirty="0" err="1"/>
              <a:t>nin</a:t>
            </a:r>
            <a:r>
              <a:rPr lang="tr-TR" dirty="0"/>
              <a:t> üyeleri yerine etiket olarak herhangi bir düzenli ifadeye sahip olabilir. GNFA, sıradan bir </a:t>
            </a:r>
            <a:r>
              <a:rPr lang="tr-TR" dirty="0" err="1"/>
              <a:t>NFA'da</a:t>
            </a:r>
            <a:r>
              <a:rPr lang="tr-TR" dirty="0"/>
              <a:t> olduğu gibi her seferinde yalnızca bir sembol olmak zorunda değil, girdiden sembol bloklarını okur. GNFA, girdiden bir sembol bloğu okuyarak iki durumu birbirine bağlayan bir geçiş oku boyunca hareket eder; bu semboller, o ok üzerindeki düzenli ifadeyle tanımlanan bir diziyi oluşturur. Bir GNFA belirleyici değildir ve bu nedenle aynı giriş dizesini işlemek için birkaç farklı yola sahip olabilir. Eğer işlenmesi </a:t>
            </a:r>
            <a:r>
              <a:rPr lang="tr-TR" dirty="0" err="1"/>
              <a:t>GNFA'nın</a:t>
            </a:r>
            <a:r>
              <a:rPr lang="tr-TR" dirty="0"/>
              <a:t> girdinin sonunda kabul durumunda olmasına neden olabiliyorsa, girdisini kabul eder. Aşağıdaki şekil bir GNFA örneğini göstermektedir.</a:t>
            </a:r>
          </a:p>
        </p:txBody>
      </p:sp>
    </p:spTree>
    <p:extLst>
      <p:ext uri="{BB962C8B-B14F-4D97-AF65-F5344CB8AC3E}">
        <p14:creationId xmlns:p14="http://schemas.microsoft.com/office/powerpoint/2010/main" val="208292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67BDAB06-2B70-4E1A-BB9E-139195801C8E}"/>
              </a:ext>
            </a:extLst>
          </p:cNvPr>
          <p:cNvPicPr>
            <a:picLocks noChangeAspect="1"/>
          </p:cNvPicPr>
          <p:nvPr/>
        </p:nvPicPr>
        <p:blipFill>
          <a:blip r:embed="rId2"/>
          <a:stretch>
            <a:fillRect/>
          </a:stretch>
        </p:blipFill>
        <p:spPr>
          <a:xfrm>
            <a:off x="2701339" y="190248"/>
            <a:ext cx="6524625" cy="4600575"/>
          </a:xfrm>
          <a:prstGeom prst="rect">
            <a:avLst/>
          </a:prstGeom>
        </p:spPr>
      </p:pic>
      <p:pic>
        <p:nvPicPr>
          <p:cNvPr id="5" name="Resim 4">
            <a:extLst>
              <a:ext uri="{FF2B5EF4-FFF2-40B4-BE49-F238E27FC236}">
                <a16:creationId xmlns:a16="http://schemas.microsoft.com/office/drawing/2014/main" id="{2693617C-CD81-4BE7-ABBF-CE925447842F}"/>
              </a:ext>
            </a:extLst>
          </p:cNvPr>
          <p:cNvPicPr>
            <a:picLocks noChangeAspect="1"/>
          </p:cNvPicPr>
          <p:nvPr/>
        </p:nvPicPr>
        <p:blipFill>
          <a:blip r:embed="rId3"/>
          <a:stretch>
            <a:fillRect/>
          </a:stretch>
        </p:blipFill>
        <p:spPr>
          <a:xfrm>
            <a:off x="3168063" y="5153526"/>
            <a:ext cx="5591175" cy="304800"/>
          </a:xfrm>
          <a:prstGeom prst="rect">
            <a:avLst/>
          </a:prstGeom>
        </p:spPr>
      </p:pic>
    </p:spTree>
    <p:extLst>
      <p:ext uri="{BB962C8B-B14F-4D97-AF65-F5344CB8AC3E}">
        <p14:creationId xmlns:p14="http://schemas.microsoft.com/office/powerpoint/2010/main" val="2425275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6A0D0795-AE8B-449A-BF2C-A71894973F18}"/>
              </a:ext>
            </a:extLst>
          </p:cNvPr>
          <p:cNvSpPr txBox="1"/>
          <p:nvPr/>
        </p:nvSpPr>
        <p:spPr>
          <a:xfrm>
            <a:off x="421105" y="668486"/>
            <a:ext cx="11598441" cy="1754326"/>
          </a:xfrm>
          <a:prstGeom prst="rect">
            <a:avLst/>
          </a:prstGeom>
          <a:noFill/>
        </p:spPr>
        <p:txBody>
          <a:bodyPr wrap="square">
            <a:spAutoFit/>
          </a:bodyPr>
          <a:lstStyle>
            <a:defPPr>
              <a:defRPr lang="tr-TR"/>
            </a:defPPr>
            <a:lvl1pPr>
              <a:defRPr sz="2800"/>
            </a:lvl1pPr>
          </a:lstStyle>
          <a:p>
            <a:r>
              <a:rPr lang="tr-TR" dirty="0"/>
              <a:t>Kolaylık sağlamak amacıyla, </a:t>
            </a:r>
            <a:r>
              <a:rPr lang="tr-TR" dirty="0" err="1"/>
              <a:t>GNFA'ların</a:t>
            </a:r>
            <a:r>
              <a:rPr lang="tr-TR" dirty="0"/>
              <a:t> her zaman aşağıdaki koşulları karşılayan özel bir forma sahip olmasını şart koşuyoruz</a:t>
            </a:r>
          </a:p>
        </p:txBody>
      </p:sp>
      <p:sp>
        <p:nvSpPr>
          <p:cNvPr id="5" name="Metin kutusu 4">
            <a:extLst>
              <a:ext uri="{FF2B5EF4-FFF2-40B4-BE49-F238E27FC236}">
                <a16:creationId xmlns:a16="http://schemas.microsoft.com/office/drawing/2014/main" id="{FE8F846A-C3D2-424E-B75C-8F4F148AE239}"/>
              </a:ext>
            </a:extLst>
          </p:cNvPr>
          <p:cNvSpPr txBox="1"/>
          <p:nvPr/>
        </p:nvSpPr>
        <p:spPr>
          <a:xfrm>
            <a:off x="240632" y="2195765"/>
            <a:ext cx="11598440" cy="954107"/>
          </a:xfrm>
          <a:prstGeom prst="rect">
            <a:avLst/>
          </a:prstGeom>
          <a:noFill/>
        </p:spPr>
        <p:txBody>
          <a:bodyPr wrap="square">
            <a:spAutoFit/>
          </a:bodyPr>
          <a:lstStyle/>
          <a:p>
            <a:r>
              <a:rPr lang="tr-TR" sz="2800" dirty="0"/>
              <a:t>.• Başlangıç durumunda diğer tüm durumlara giden geçiş okları vardır ancak başka herhangi bir durumdan gelen ok yoktur</a:t>
            </a:r>
          </a:p>
        </p:txBody>
      </p:sp>
      <p:sp>
        <p:nvSpPr>
          <p:cNvPr id="7" name="Metin kutusu 6">
            <a:extLst>
              <a:ext uri="{FF2B5EF4-FFF2-40B4-BE49-F238E27FC236}">
                <a16:creationId xmlns:a16="http://schemas.microsoft.com/office/drawing/2014/main" id="{59DF873A-25EE-46A7-B956-816D2D1B6197}"/>
              </a:ext>
            </a:extLst>
          </p:cNvPr>
          <p:cNvSpPr txBox="1"/>
          <p:nvPr/>
        </p:nvSpPr>
        <p:spPr>
          <a:xfrm>
            <a:off x="240632" y="3844499"/>
            <a:ext cx="11778914" cy="1384995"/>
          </a:xfrm>
          <a:prstGeom prst="rect">
            <a:avLst/>
          </a:prstGeom>
          <a:noFill/>
        </p:spPr>
        <p:txBody>
          <a:bodyPr wrap="square">
            <a:spAutoFit/>
          </a:bodyPr>
          <a:lstStyle/>
          <a:p>
            <a:r>
              <a:rPr lang="tr-TR" sz="2800" dirty="0"/>
              <a:t>.• Yalnızca tek bir kabul durumu vardır ve diğer tüm durumlardan oklar gelir, ancak başka herhangi bir duruma giden ok yoktur. Ayrıca kabul durumu başlangıç durumuyla aynı değildir</a:t>
            </a:r>
          </a:p>
        </p:txBody>
      </p:sp>
      <p:sp>
        <p:nvSpPr>
          <p:cNvPr id="9" name="Metin kutusu 8">
            <a:extLst>
              <a:ext uri="{FF2B5EF4-FFF2-40B4-BE49-F238E27FC236}">
                <a16:creationId xmlns:a16="http://schemas.microsoft.com/office/drawing/2014/main" id="{FEDE8D2B-D5D6-4302-BE08-70B2C0B43D95}"/>
              </a:ext>
            </a:extLst>
          </p:cNvPr>
          <p:cNvSpPr txBox="1"/>
          <p:nvPr/>
        </p:nvSpPr>
        <p:spPr>
          <a:xfrm>
            <a:off x="240632" y="5664641"/>
            <a:ext cx="11778914" cy="954107"/>
          </a:xfrm>
          <a:prstGeom prst="rect">
            <a:avLst/>
          </a:prstGeom>
          <a:noFill/>
        </p:spPr>
        <p:txBody>
          <a:bodyPr wrap="square">
            <a:spAutoFit/>
          </a:bodyPr>
          <a:lstStyle/>
          <a:p>
            <a:r>
              <a:rPr lang="tr-TR" sz="2800" dirty="0"/>
              <a:t>.• Başlangıç ve kabul durumları dışında, bir ok her durumdan diğer duruma ve her durumdan kendisine gider.</a:t>
            </a:r>
          </a:p>
        </p:txBody>
      </p:sp>
    </p:spTree>
    <p:extLst>
      <p:ext uri="{BB962C8B-B14F-4D97-AF65-F5344CB8AC3E}">
        <p14:creationId xmlns:p14="http://schemas.microsoft.com/office/powerpoint/2010/main" val="885889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6D8D4923-4038-4FDE-ADA4-AB0A947D39EC}"/>
              </a:ext>
            </a:extLst>
          </p:cNvPr>
          <p:cNvSpPr txBox="1"/>
          <p:nvPr/>
        </p:nvSpPr>
        <p:spPr>
          <a:xfrm>
            <a:off x="168442" y="896814"/>
            <a:ext cx="11634536" cy="1754326"/>
          </a:xfrm>
          <a:prstGeom prst="rect">
            <a:avLst/>
          </a:prstGeom>
          <a:noFill/>
        </p:spPr>
        <p:txBody>
          <a:bodyPr wrap="square">
            <a:spAutoFit/>
          </a:bodyPr>
          <a:lstStyle/>
          <a:p>
            <a:r>
              <a:rPr lang="tr-TR" dirty="0"/>
              <a:t>Bir </a:t>
            </a:r>
            <a:r>
              <a:rPr lang="tr-TR" dirty="0" err="1"/>
              <a:t>DFA'yı</a:t>
            </a:r>
            <a:r>
              <a:rPr lang="tr-TR" dirty="0"/>
              <a:t> özel formda kolayca </a:t>
            </a:r>
            <a:r>
              <a:rPr lang="tr-TR" dirty="0" err="1"/>
              <a:t>GNFA'ya</a:t>
            </a:r>
            <a:r>
              <a:rPr lang="tr-TR" dirty="0"/>
              <a:t> dönüştürebiliriz. Basitçe eski başlangıç durumuna </a:t>
            </a:r>
            <a:r>
              <a:rPr lang="el-GR" dirty="0"/>
              <a:t>ε </a:t>
            </a:r>
            <a:r>
              <a:rPr lang="tr-TR" dirty="0"/>
              <a:t>oklu yeni bir başlangıç durumu ve eski kabul durumlarından </a:t>
            </a:r>
            <a:r>
              <a:rPr lang="el-GR" dirty="0"/>
              <a:t>ε </a:t>
            </a:r>
            <a:r>
              <a:rPr lang="tr-TR" dirty="0"/>
              <a:t>oklu yeni bir kabul durumu ekliyoruz. Herhangi bir okun birden fazla etiketi varsa (veya aynı iki durum arasında aynı yönde giden birden fazla ok varsa), her birinin yerini, etiketi önceki etiketlerin birleşimi olan tek bir okla değiştiririz. Son olarak, üzerinde ok bulunmayan durumlar arasına ∅ etiketli oklar ekliyoruz. Bu son adım, tanınan dili değiştirmeyecektir çünkü ∅ ile etiketlenmiş bir geçiş hiçbir zaman kullanılamaz. Buradan itibaren tüm </a:t>
            </a:r>
            <a:r>
              <a:rPr lang="tr-TR" dirty="0" err="1"/>
              <a:t>GNFA'ların</a:t>
            </a:r>
            <a:r>
              <a:rPr lang="tr-TR" dirty="0"/>
              <a:t> özel formda olduğunu varsayıyoruz.</a:t>
            </a:r>
          </a:p>
        </p:txBody>
      </p:sp>
    </p:spTree>
    <p:extLst>
      <p:ext uri="{BB962C8B-B14F-4D97-AF65-F5344CB8AC3E}">
        <p14:creationId xmlns:p14="http://schemas.microsoft.com/office/powerpoint/2010/main" val="3364677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etin kutusu 4">
            <a:extLst>
              <a:ext uri="{FF2B5EF4-FFF2-40B4-BE49-F238E27FC236}">
                <a16:creationId xmlns:a16="http://schemas.microsoft.com/office/drawing/2014/main" id="{15761F85-3743-45F4-88B2-E23BCF300031}"/>
              </a:ext>
            </a:extLst>
          </p:cNvPr>
          <p:cNvSpPr txBox="1"/>
          <p:nvPr/>
        </p:nvSpPr>
        <p:spPr>
          <a:xfrm>
            <a:off x="288758" y="788529"/>
            <a:ext cx="11442032" cy="1754326"/>
          </a:xfrm>
          <a:prstGeom prst="rect">
            <a:avLst/>
          </a:prstGeom>
          <a:noFill/>
        </p:spPr>
        <p:txBody>
          <a:bodyPr wrap="square">
            <a:spAutoFit/>
          </a:bodyPr>
          <a:lstStyle/>
          <a:p>
            <a:r>
              <a:rPr lang="tr-TR" dirty="0"/>
              <a:t>Şimdi bir </a:t>
            </a:r>
            <a:r>
              <a:rPr lang="tr-TR" dirty="0" err="1"/>
              <a:t>GNFA'nın</a:t>
            </a:r>
            <a:r>
              <a:rPr lang="tr-TR" dirty="0"/>
              <a:t> normal ifadeye nasıl dönüştürüleceğini gösteriyoruz. </a:t>
            </a:r>
            <a:r>
              <a:rPr lang="tr-TR" dirty="0" err="1"/>
              <a:t>GNFA'nın</a:t>
            </a:r>
            <a:r>
              <a:rPr lang="tr-TR" dirty="0"/>
              <a:t> k durumu olduğunu varsayalım. O halde, bir </a:t>
            </a:r>
            <a:r>
              <a:rPr lang="tr-TR" dirty="0" err="1"/>
              <a:t>GNFA'nın</a:t>
            </a:r>
            <a:r>
              <a:rPr lang="tr-TR" dirty="0"/>
              <a:t> bir başlangıç ve kabul durumunun olması ve bunların birbirlerinden farklı olması gerektiğinden, k ≥ 2 olduğunu biliyoruz. Eğer k &gt; 2 ise, k − 1 durumlu eşdeğer bir GNFA oluştururuz. Bu adım, yeni </a:t>
            </a:r>
            <a:r>
              <a:rPr lang="tr-TR" dirty="0" err="1"/>
              <a:t>GNFA'da</a:t>
            </a:r>
            <a:r>
              <a:rPr lang="tr-TR" dirty="0"/>
              <a:t> iki duruma düşene kadar tekrarlanabilir. Eğer k = 2 ise, </a:t>
            </a:r>
            <a:r>
              <a:rPr lang="tr-TR" dirty="0" err="1"/>
              <a:t>GNFA'nın</a:t>
            </a:r>
            <a:r>
              <a:rPr lang="tr-TR" dirty="0"/>
              <a:t> başlangıç durumundan kabul durumuna giden tek bir oku vardır. Bu okun etiketi eşdeğer düzenli ifadedir. Örneğin üç durumlu bir </a:t>
            </a:r>
            <a:r>
              <a:rPr lang="tr-TR" dirty="0" err="1"/>
              <a:t>DFA'nın</a:t>
            </a:r>
            <a:r>
              <a:rPr lang="tr-TR" dirty="0"/>
              <a:t> eşdeğer bir düzenli ifadeye dönüştürülmesinin aşamaları aşağıdaki şekilde gösterilmiştir.</a:t>
            </a:r>
          </a:p>
        </p:txBody>
      </p:sp>
      <p:pic>
        <p:nvPicPr>
          <p:cNvPr id="7" name="Resim 6">
            <a:extLst>
              <a:ext uri="{FF2B5EF4-FFF2-40B4-BE49-F238E27FC236}">
                <a16:creationId xmlns:a16="http://schemas.microsoft.com/office/drawing/2014/main" id="{A33357E2-6AA4-44A6-9130-E23419D2CA3E}"/>
              </a:ext>
            </a:extLst>
          </p:cNvPr>
          <p:cNvPicPr>
            <a:picLocks noChangeAspect="1"/>
          </p:cNvPicPr>
          <p:nvPr/>
        </p:nvPicPr>
        <p:blipFill>
          <a:blip r:embed="rId2"/>
          <a:stretch>
            <a:fillRect/>
          </a:stretch>
        </p:blipFill>
        <p:spPr>
          <a:xfrm>
            <a:off x="3326800" y="2542855"/>
            <a:ext cx="5962650" cy="2952750"/>
          </a:xfrm>
          <a:prstGeom prst="rect">
            <a:avLst/>
          </a:prstGeom>
        </p:spPr>
      </p:pic>
      <p:sp>
        <p:nvSpPr>
          <p:cNvPr id="9" name="Metin kutusu 8">
            <a:extLst>
              <a:ext uri="{FF2B5EF4-FFF2-40B4-BE49-F238E27FC236}">
                <a16:creationId xmlns:a16="http://schemas.microsoft.com/office/drawing/2014/main" id="{6531C912-916F-49F0-A931-DCF692FF7E4C}"/>
              </a:ext>
            </a:extLst>
          </p:cNvPr>
          <p:cNvSpPr txBox="1"/>
          <p:nvPr/>
        </p:nvSpPr>
        <p:spPr>
          <a:xfrm>
            <a:off x="3509319" y="5700139"/>
            <a:ext cx="6096000" cy="369332"/>
          </a:xfrm>
          <a:prstGeom prst="rect">
            <a:avLst/>
          </a:prstGeom>
          <a:noFill/>
        </p:spPr>
        <p:txBody>
          <a:bodyPr wrap="square">
            <a:spAutoFit/>
          </a:bodyPr>
          <a:lstStyle/>
          <a:p>
            <a:r>
              <a:rPr lang="tr-TR" dirty="0"/>
              <a:t>Bir </a:t>
            </a:r>
            <a:r>
              <a:rPr lang="tr-TR" dirty="0" err="1"/>
              <a:t>DFA’yı</a:t>
            </a:r>
            <a:r>
              <a:rPr lang="tr-TR" dirty="0"/>
              <a:t> </a:t>
            </a:r>
            <a:r>
              <a:rPr lang="tr-TR" dirty="0" err="1"/>
              <a:t>regüler</a:t>
            </a:r>
            <a:r>
              <a:rPr lang="tr-TR" dirty="0"/>
              <a:t> ifadeye dönüştürmenin tipik aşamaları</a:t>
            </a:r>
          </a:p>
        </p:txBody>
      </p:sp>
    </p:spTree>
    <p:extLst>
      <p:ext uri="{BB962C8B-B14F-4D97-AF65-F5344CB8AC3E}">
        <p14:creationId xmlns:p14="http://schemas.microsoft.com/office/powerpoint/2010/main" val="2039782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D15DAC6B-A036-4DA6-820B-56EFEFD6BDBF}"/>
              </a:ext>
            </a:extLst>
          </p:cNvPr>
          <p:cNvSpPr txBox="1"/>
          <p:nvPr/>
        </p:nvSpPr>
        <p:spPr>
          <a:xfrm>
            <a:off x="1091513" y="594834"/>
            <a:ext cx="10008973" cy="1200329"/>
          </a:xfrm>
          <a:prstGeom prst="rect">
            <a:avLst/>
          </a:prstGeom>
          <a:noFill/>
        </p:spPr>
        <p:txBody>
          <a:bodyPr wrap="square">
            <a:spAutoFit/>
          </a:bodyPr>
          <a:lstStyle/>
          <a:p>
            <a:r>
              <a:rPr lang="tr-TR" dirty="0"/>
              <a:t>Önemli adım, k &gt; 2 olduğunda bir eksik duruma sahip eşdeğer bir GNFA oluşturmaktır. Bunu bir durum seçerek, onu makineden sökerek ve geri kalanını onararak aynı dilin hâlâ tanınmasını sağlayarak yaparız. Başlangıç veya kabul etme durumu olmaması koşuluyla herhangi bir durum bunu yapacaktır. k &gt; 2 olduğundan böyle bir durumun var olacağı garantidir. Kaldırılan duruma </a:t>
            </a:r>
            <a:r>
              <a:rPr lang="tr-TR" dirty="0" err="1"/>
              <a:t>qrip</a:t>
            </a:r>
            <a:r>
              <a:rPr lang="tr-TR" dirty="0"/>
              <a:t> diyelim.</a:t>
            </a:r>
          </a:p>
        </p:txBody>
      </p:sp>
      <p:sp>
        <p:nvSpPr>
          <p:cNvPr id="5" name="Metin kutusu 4">
            <a:extLst>
              <a:ext uri="{FF2B5EF4-FFF2-40B4-BE49-F238E27FC236}">
                <a16:creationId xmlns:a16="http://schemas.microsoft.com/office/drawing/2014/main" id="{AF4D68DD-8220-402C-BC24-4434F19E123A}"/>
              </a:ext>
            </a:extLst>
          </p:cNvPr>
          <p:cNvSpPr txBox="1"/>
          <p:nvPr/>
        </p:nvSpPr>
        <p:spPr>
          <a:xfrm>
            <a:off x="436606" y="2143549"/>
            <a:ext cx="11516497" cy="1200329"/>
          </a:xfrm>
          <a:prstGeom prst="rect">
            <a:avLst/>
          </a:prstGeom>
          <a:noFill/>
        </p:spPr>
        <p:txBody>
          <a:bodyPr wrap="square">
            <a:spAutoFit/>
          </a:bodyPr>
          <a:lstStyle/>
          <a:p>
            <a:r>
              <a:rPr lang="tr-TR" dirty="0" err="1"/>
              <a:t>Qrip'i</a:t>
            </a:r>
            <a:r>
              <a:rPr lang="tr-TR" dirty="0"/>
              <a:t> kaldırdıktan sonra, kalan okların her birini etiketleyen düzenli ifadeleri değiştirerek makineyi onarıyoruz. Yeni etiketler, kayıp hesaplamaları geri ekleyerek </a:t>
            </a:r>
            <a:r>
              <a:rPr lang="tr-TR" dirty="0" err="1"/>
              <a:t>qrip</a:t>
            </a:r>
            <a:r>
              <a:rPr lang="tr-TR" dirty="0"/>
              <a:t> eksikliğini telafi ediyor. </a:t>
            </a:r>
            <a:r>
              <a:rPr lang="tr-TR" dirty="0" err="1"/>
              <a:t>Qi</a:t>
            </a:r>
            <a:r>
              <a:rPr lang="tr-TR" dirty="0"/>
              <a:t> durumundan </a:t>
            </a:r>
            <a:r>
              <a:rPr lang="tr-TR" dirty="0" err="1"/>
              <a:t>qj</a:t>
            </a:r>
            <a:r>
              <a:rPr lang="tr-TR" dirty="0"/>
              <a:t> durumuna giden yeni etiket, makineyi doğrudan veya </a:t>
            </a:r>
            <a:r>
              <a:rPr lang="tr-TR" dirty="0" err="1"/>
              <a:t>qrip</a:t>
            </a:r>
            <a:r>
              <a:rPr lang="tr-TR" dirty="0"/>
              <a:t> aracılığıyla </a:t>
            </a:r>
            <a:r>
              <a:rPr lang="tr-TR" dirty="0" err="1"/>
              <a:t>qi'den</a:t>
            </a:r>
            <a:r>
              <a:rPr lang="tr-TR" dirty="0"/>
              <a:t> </a:t>
            </a:r>
            <a:r>
              <a:rPr lang="tr-TR" dirty="0" err="1"/>
              <a:t>qj'ye</a:t>
            </a:r>
            <a:r>
              <a:rPr lang="tr-TR" dirty="0"/>
              <a:t> götürecek tüm dizeleri tanımlayan düzenli bir ifadedir. Bu yaklaşımı Şekilde gösteriyoruz.</a:t>
            </a:r>
          </a:p>
        </p:txBody>
      </p:sp>
      <p:pic>
        <p:nvPicPr>
          <p:cNvPr id="7" name="Resim 6">
            <a:extLst>
              <a:ext uri="{FF2B5EF4-FFF2-40B4-BE49-F238E27FC236}">
                <a16:creationId xmlns:a16="http://schemas.microsoft.com/office/drawing/2014/main" id="{E82D981B-BEA0-4ADE-BFAD-39129AC6CD1D}"/>
              </a:ext>
            </a:extLst>
          </p:cNvPr>
          <p:cNvPicPr>
            <a:picLocks noChangeAspect="1"/>
          </p:cNvPicPr>
          <p:nvPr/>
        </p:nvPicPr>
        <p:blipFill>
          <a:blip r:embed="rId2"/>
          <a:stretch>
            <a:fillRect/>
          </a:stretch>
        </p:blipFill>
        <p:spPr>
          <a:xfrm>
            <a:off x="766119" y="3514123"/>
            <a:ext cx="2857500" cy="2838450"/>
          </a:xfrm>
          <a:prstGeom prst="rect">
            <a:avLst/>
          </a:prstGeom>
        </p:spPr>
      </p:pic>
      <p:pic>
        <p:nvPicPr>
          <p:cNvPr id="9" name="Resim 8">
            <a:extLst>
              <a:ext uri="{FF2B5EF4-FFF2-40B4-BE49-F238E27FC236}">
                <a16:creationId xmlns:a16="http://schemas.microsoft.com/office/drawing/2014/main" id="{FEE877F1-9844-46A6-AAB8-CCB2CA3223A5}"/>
              </a:ext>
            </a:extLst>
          </p:cNvPr>
          <p:cNvPicPr>
            <a:picLocks noChangeAspect="1"/>
          </p:cNvPicPr>
          <p:nvPr/>
        </p:nvPicPr>
        <p:blipFill>
          <a:blip r:embed="rId3"/>
          <a:stretch>
            <a:fillRect/>
          </a:stretch>
        </p:blipFill>
        <p:spPr>
          <a:xfrm>
            <a:off x="5422685" y="4480225"/>
            <a:ext cx="4905375" cy="962025"/>
          </a:xfrm>
          <a:prstGeom prst="rect">
            <a:avLst/>
          </a:prstGeom>
        </p:spPr>
      </p:pic>
      <p:sp>
        <p:nvSpPr>
          <p:cNvPr id="10" name="Ok: Sağ 9">
            <a:extLst>
              <a:ext uri="{FF2B5EF4-FFF2-40B4-BE49-F238E27FC236}">
                <a16:creationId xmlns:a16="http://schemas.microsoft.com/office/drawing/2014/main" id="{E175F9DA-BDD9-4F1C-95AF-A13199037DDD}"/>
              </a:ext>
            </a:extLst>
          </p:cNvPr>
          <p:cNvSpPr/>
          <p:nvPr/>
        </p:nvSpPr>
        <p:spPr>
          <a:xfrm>
            <a:off x="3896497" y="4827373"/>
            <a:ext cx="1408671" cy="3624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Sonra</a:t>
            </a:r>
          </a:p>
        </p:txBody>
      </p:sp>
      <p:sp>
        <p:nvSpPr>
          <p:cNvPr id="12" name="Metin kutusu 11">
            <a:extLst>
              <a:ext uri="{FF2B5EF4-FFF2-40B4-BE49-F238E27FC236}">
                <a16:creationId xmlns:a16="http://schemas.microsoft.com/office/drawing/2014/main" id="{B3484C2D-B1C5-428D-B484-F1F5AD19B306}"/>
              </a:ext>
            </a:extLst>
          </p:cNvPr>
          <p:cNvSpPr txBox="1"/>
          <p:nvPr/>
        </p:nvSpPr>
        <p:spPr>
          <a:xfrm>
            <a:off x="4232059" y="5684445"/>
            <a:ext cx="7721043" cy="646331"/>
          </a:xfrm>
          <a:prstGeom prst="rect">
            <a:avLst/>
          </a:prstGeom>
          <a:noFill/>
        </p:spPr>
        <p:txBody>
          <a:bodyPr wrap="square">
            <a:spAutoFit/>
          </a:bodyPr>
          <a:lstStyle/>
          <a:p>
            <a:r>
              <a:rPr lang="tr-TR" dirty="0"/>
              <a:t>Bu değişikliği, </a:t>
            </a:r>
            <a:r>
              <a:rPr lang="tr-TR" dirty="0" err="1"/>
              <a:t>qi</a:t>
            </a:r>
            <a:r>
              <a:rPr lang="tr-TR" dirty="0"/>
              <a:t> = </a:t>
            </a:r>
            <a:r>
              <a:rPr lang="tr-TR" dirty="0" err="1"/>
              <a:t>qj</a:t>
            </a:r>
            <a:r>
              <a:rPr lang="tr-TR" dirty="0"/>
              <a:t> durumu da dahil olmak üzere, herhangi bir </a:t>
            </a:r>
            <a:r>
              <a:rPr lang="tr-TR" dirty="0" err="1"/>
              <a:t>qi</a:t>
            </a:r>
            <a:r>
              <a:rPr lang="tr-TR" dirty="0"/>
              <a:t> durumundan herhangi bir </a:t>
            </a:r>
            <a:r>
              <a:rPr lang="tr-TR" dirty="0" err="1"/>
              <a:t>qj</a:t>
            </a:r>
            <a:r>
              <a:rPr lang="tr-TR" dirty="0"/>
              <a:t> durumuna giden her ok için yaparız. Yeni makine orijinal dili tanır.</a:t>
            </a:r>
          </a:p>
        </p:txBody>
      </p:sp>
    </p:spTree>
    <p:extLst>
      <p:ext uri="{BB962C8B-B14F-4D97-AF65-F5344CB8AC3E}">
        <p14:creationId xmlns:p14="http://schemas.microsoft.com/office/powerpoint/2010/main" val="1001516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1ADE5644-C340-4CE7-84FE-AAFE2C967E85}"/>
              </a:ext>
            </a:extLst>
          </p:cNvPr>
          <p:cNvSpPr txBox="1"/>
          <p:nvPr/>
        </p:nvSpPr>
        <p:spPr>
          <a:xfrm>
            <a:off x="701504" y="235976"/>
            <a:ext cx="11574162" cy="646331"/>
          </a:xfrm>
          <a:prstGeom prst="rect">
            <a:avLst/>
          </a:prstGeom>
          <a:noFill/>
        </p:spPr>
        <p:txBody>
          <a:bodyPr wrap="square">
            <a:spAutoFit/>
          </a:bodyPr>
          <a:lstStyle/>
          <a:p>
            <a:r>
              <a:rPr lang="tr-TR" dirty="0"/>
              <a:t>Şimdi bu fikri resmi olarak hayata geçirelim. İlk olarak, ispatı kolaylaştırmak için tanıtılan yeni otomat tipini resmi olarak tanımlıyoruz. Bir GNFA, X biçimindeki geçiş fonksiyonu haricinde, </a:t>
            </a:r>
            <a:r>
              <a:rPr lang="tr-TR" dirty="0" err="1"/>
              <a:t>deterministik</a:t>
            </a:r>
            <a:r>
              <a:rPr lang="tr-TR" dirty="0"/>
              <a:t> olmayan sonlu bir otomatla benzerdir.</a:t>
            </a:r>
          </a:p>
        </p:txBody>
      </p:sp>
      <p:pic>
        <p:nvPicPr>
          <p:cNvPr id="5" name="Resim 4">
            <a:extLst>
              <a:ext uri="{FF2B5EF4-FFF2-40B4-BE49-F238E27FC236}">
                <a16:creationId xmlns:a16="http://schemas.microsoft.com/office/drawing/2014/main" id="{342F28A5-0520-4EB3-A80D-7C9D0583B080}"/>
              </a:ext>
            </a:extLst>
          </p:cNvPr>
          <p:cNvPicPr>
            <a:picLocks noChangeAspect="1"/>
          </p:cNvPicPr>
          <p:nvPr/>
        </p:nvPicPr>
        <p:blipFill>
          <a:blip r:embed="rId2"/>
          <a:stretch>
            <a:fillRect/>
          </a:stretch>
        </p:blipFill>
        <p:spPr>
          <a:xfrm>
            <a:off x="879827" y="1268628"/>
            <a:ext cx="10432346" cy="1022779"/>
          </a:xfrm>
          <a:prstGeom prst="rect">
            <a:avLst/>
          </a:prstGeom>
        </p:spPr>
      </p:pic>
      <p:sp>
        <p:nvSpPr>
          <p:cNvPr id="7" name="Metin kutusu 6">
            <a:extLst>
              <a:ext uri="{FF2B5EF4-FFF2-40B4-BE49-F238E27FC236}">
                <a16:creationId xmlns:a16="http://schemas.microsoft.com/office/drawing/2014/main" id="{5250BE8F-B7EB-4704-85F9-B1095D3593A7}"/>
              </a:ext>
            </a:extLst>
          </p:cNvPr>
          <p:cNvSpPr txBox="1"/>
          <p:nvPr/>
        </p:nvSpPr>
        <p:spPr>
          <a:xfrm>
            <a:off x="1054444" y="2557502"/>
            <a:ext cx="10750378" cy="646331"/>
          </a:xfrm>
          <a:prstGeom prst="rect">
            <a:avLst/>
          </a:prstGeom>
          <a:noFill/>
        </p:spPr>
        <p:txBody>
          <a:bodyPr wrap="square">
            <a:spAutoFit/>
          </a:bodyPr>
          <a:lstStyle/>
          <a:p>
            <a:r>
              <a:rPr lang="tr-TR" dirty="0"/>
              <a:t>Bir ok her durumu diğer tüm durumlara bağlar, ancak KABUL DURUMUNDAN  gelen veya BAŞLANGIÇ DURUMUNA giden hiçbir ok yoktur.</a:t>
            </a:r>
          </a:p>
        </p:txBody>
      </p:sp>
      <p:pic>
        <p:nvPicPr>
          <p:cNvPr id="9" name="Resim 8">
            <a:extLst>
              <a:ext uri="{FF2B5EF4-FFF2-40B4-BE49-F238E27FC236}">
                <a16:creationId xmlns:a16="http://schemas.microsoft.com/office/drawing/2014/main" id="{3B09E5DB-3F53-4550-A2B0-29E8E76FCF2B}"/>
              </a:ext>
            </a:extLst>
          </p:cNvPr>
          <p:cNvPicPr>
            <a:picLocks noChangeAspect="1"/>
          </p:cNvPicPr>
          <p:nvPr/>
        </p:nvPicPr>
        <p:blipFill>
          <a:blip r:embed="rId3"/>
          <a:stretch>
            <a:fillRect/>
          </a:stretch>
        </p:blipFill>
        <p:spPr>
          <a:xfrm>
            <a:off x="2409825" y="3469928"/>
            <a:ext cx="7372350" cy="3057525"/>
          </a:xfrm>
          <a:prstGeom prst="rect">
            <a:avLst/>
          </a:prstGeom>
        </p:spPr>
      </p:pic>
    </p:spTree>
    <p:extLst>
      <p:ext uri="{BB962C8B-B14F-4D97-AF65-F5344CB8AC3E}">
        <p14:creationId xmlns:p14="http://schemas.microsoft.com/office/powerpoint/2010/main" val="759080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E1EC6E79-16D4-47B4-9F99-27AC7BE7AB99}"/>
              </a:ext>
            </a:extLst>
          </p:cNvPr>
          <p:cNvSpPr txBox="1"/>
          <p:nvPr/>
        </p:nvSpPr>
        <p:spPr>
          <a:xfrm>
            <a:off x="1878227" y="288491"/>
            <a:ext cx="8863913" cy="2862322"/>
          </a:xfrm>
          <a:prstGeom prst="rect">
            <a:avLst/>
          </a:prstGeom>
          <a:noFill/>
        </p:spPr>
        <p:txBody>
          <a:bodyPr wrap="square">
            <a:spAutoFit/>
          </a:bodyPr>
          <a:lstStyle/>
          <a:p>
            <a:r>
              <a:rPr lang="tr-TR" dirty="0"/>
              <a:t>Bir GNFA, eğer w = w1w2 ··· </a:t>
            </a:r>
            <a:r>
              <a:rPr lang="tr-TR" dirty="0" err="1"/>
              <a:t>wk</a:t>
            </a:r>
            <a:r>
              <a:rPr lang="tr-TR" dirty="0"/>
              <a:t> ise, </a:t>
            </a:r>
            <a:r>
              <a:rPr lang="el-GR" dirty="0"/>
              <a:t>Σ∗ </a:t>
            </a:r>
            <a:r>
              <a:rPr lang="tr-TR" dirty="0"/>
              <a:t>cinsinden bir w dizisini kabul eder, </a:t>
            </a:r>
          </a:p>
          <a:p>
            <a:r>
              <a:rPr lang="tr-TR" dirty="0"/>
              <a:t>burada her bir </a:t>
            </a:r>
            <a:r>
              <a:rPr lang="tr-TR" dirty="0" err="1"/>
              <a:t>wi</a:t>
            </a:r>
            <a:r>
              <a:rPr lang="tr-TR" dirty="0"/>
              <a:t> </a:t>
            </a:r>
            <a:r>
              <a:rPr lang="el-GR" dirty="0"/>
              <a:t>Σ∗'</a:t>
            </a:r>
            <a:r>
              <a:rPr lang="tr-TR" dirty="0" err="1"/>
              <a:t>dir</a:t>
            </a:r>
            <a:r>
              <a:rPr lang="tr-TR" dirty="0"/>
              <a:t> ve q0, q1,...,</a:t>
            </a:r>
            <a:r>
              <a:rPr lang="tr-TR" dirty="0" err="1"/>
              <a:t>qk</a:t>
            </a:r>
            <a:r>
              <a:rPr lang="tr-TR" dirty="0"/>
              <a:t> durumlarının bir dizisi mevcuttur;</a:t>
            </a:r>
          </a:p>
          <a:p>
            <a:endParaRPr lang="tr-TR" dirty="0"/>
          </a:p>
          <a:p>
            <a:pPr marL="342900" indent="-342900">
              <a:buAutoNum type="arabicPeriod"/>
            </a:pPr>
            <a:r>
              <a:rPr lang="tr-TR" dirty="0"/>
              <a:t>q0 = </a:t>
            </a:r>
            <a:r>
              <a:rPr lang="tr-TR" dirty="0" err="1"/>
              <a:t>qstart</a:t>
            </a:r>
            <a:r>
              <a:rPr lang="tr-TR" dirty="0"/>
              <a:t> başlangıç durumudur,</a:t>
            </a:r>
          </a:p>
          <a:p>
            <a:pPr marL="342900" indent="-342900">
              <a:buAutoNum type="arabicPeriod"/>
            </a:pPr>
            <a:endParaRPr lang="tr-TR" dirty="0"/>
          </a:p>
          <a:p>
            <a:endParaRPr lang="tr-TR" dirty="0"/>
          </a:p>
          <a:p>
            <a:r>
              <a:rPr lang="tr-TR" dirty="0"/>
              <a:t>2. </a:t>
            </a:r>
            <a:r>
              <a:rPr lang="tr-TR" dirty="0" err="1"/>
              <a:t>qk</a:t>
            </a:r>
            <a:r>
              <a:rPr lang="tr-TR" dirty="0"/>
              <a:t> = </a:t>
            </a:r>
            <a:r>
              <a:rPr lang="tr-TR" dirty="0" err="1"/>
              <a:t>qaccept</a:t>
            </a:r>
            <a:r>
              <a:rPr lang="tr-TR" dirty="0"/>
              <a:t>, kabul etme durumudur ve</a:t>
            </a:r>
          </a:p>
          <a:p>
            <a:pPr marL="342900" indent="-342900">
              <a:buAutoNum type="arabicPeriod"/>
            </a:pPr>
            <a:endParaRPr lang="tr-TR" dirty="0"/>
          </a:p>
          <a:p>
            <a:r>
              <a:rPr lang="tr-TR" dirty="0"/>
              <a:t>3. her i için </a:t>
            </a:r>
            <a:r>
              <a:rPr lang="tr-TR" dirty="0" err="1"/>
              <a:t>wi</a:t>
            </a:r>
            <a:r>
              <a:rPr lang="tr-TR" dirty="0"/>
              <a:t> ∈ L(</a:t>
            </a:r>
            <a:r>
              <a:rPr lang="tr-TR" dirty="0" err="1"/>
              <a:t>Ri</a:t>
            </a:r>
            <a:r>
              <a:rPr lang="tr-TR" dirty="0"/>
              <a:t>) var, burada </a:t>
            </a:r>
            <a:r>
              <a:rPr lang="tr-TR" dirty="0" err="1"/>
              <a:t>Ri</a:t>
            </a:r>
            <a:r>
              <a:rPr lang="tr-TR" dirty="0"/>
              <a:t> = </a:t>
            </a:r>
            <a:r>
              <a:rPr lang="el-GR" dirty="0"/>
              <a:t>δ(</a:t>
            </a:r>
            <a:r>
              <a:rPr lang="tr-TR" dirty="0"/>
              <a:t>qi−1, </a:t>
            </a:r>
            <a:r>
              <a:rPr lang="tr-TR" dirty="0" err="1"/>
              <a:t>qi</a:t>
            </a:r>
            <a:r>
              <a:rPr lang="tr-TR" dirty="0"/>
              <a:t>); diğer bir deyişle </a:t>
            </a:r>
            <a:r>
              <a:rPr lang="tr-TR" dirty="0" err="1"/>
              <a:t>Ri</a:t>
            </a:r>
            <a:r>
              <a:rPr lang="tr-TR" dirty="0"/>
              <a:t>, qi−1'den </a:t>
            </a:r>
            <a:r>
              <a:rPr lang="tr-TR" dirty="0" err="1"/>
              <a:t>qi'ye</a:t>
            </a:r>
            <a:r>
              <a:rPr lang="tr-TR" dirty="0"/>
              <a:t> giden okun üzerindeki ifadedir.</a:t>
            </a:r>
          </a:p>
        </p:txBody>
      </p:sp>
      <p:sp>
        <p:nvSpPr>
          <p:cNvPr id="5" name="Metin kutusu 4">
            <a:extLst>
              <a:ext uri="{FF2B5EF4-FFF2-40B4-BE49-F238E27FC236}">
                <a16:creationId xmlns:a16="http://schemas.microsoft.com/office/drawing/2014/main" id="{1A14FD87-F42E-43E3-A5AD-4E6C648332E2}"/>
              </a:ext>
            </a:extLst>
          </p:cNvPr>
          <p:cNvSpPr txBox="1"/>
          <p:nvPr/>
        </p:nvSpPr>
        <p:spPr>
          <a:xfrm>
            <a:off x="1260388" y="3505879"/>
            <a:ext cx="10280822" cy="923330"/>
          </a:xfrm>
          <a:prstGeom prst="rect">
            <a:avLst/>
          </a:prstGeom>
          <a:noFill/>
        </p:spPr>
        <p:txBody>
          <a:bodyPr wrap="square">
            <a:spAutoFit/>
          </a:bodyPr>
          <a:lstStyle/>
          <a:p>
            <a:r>
              <a:rPr lang="tr-TR" dirty="0"/>
              <a:t>M </a:t>
            </a:r>
            <a:r>
              <a:rPr lang="tr-TR" dirty="0" err="1"/>
              <a:t>makines</a:t>
            </a:r>
            <a:r>
              <a:rPr lang="tr-TR" dirty="0"/>
              <a:t>, A dili için bir DFA olsun. </a:t>
            </a:r>
            <a:r>
              <a:rPr lang="tr-TR" b="1" dirty="0">
                <a:solidFill>
                  <a:srgbClr val="FF0000"/>
                </a:solidFill>
              </a:rPr>
              <a:t>Yeni bir başlangıç durumu</a:t>
            </a:r>
            <a:r>
              <a:rPr lang="tr-TR" dirty="0"/>
              <a:t> ve </a:t>
            </a:r>
            <a:r>
              <a:rPr lang="tr-TR" b="1" dirty="0">
                <a:solidFill>
                  <a:srgbClr val="FF0000"/>
                </a:solidFill>
              </a:rPr>
              <a:t>yeni bir kabul durumu </a:t>
            </a:r>
            <a:r>
              <a:rPr lang="tr-TR" dirty="0"/>
              <a:t>ve gerektiği şekilde ek geçiş okları ekleyerek M'yi bir G isimli </a:t>
            </a:r>
            <a:r>
              <a:rPr lang="tr-TR" dirty="0" err="1"/>
              <a:t>GNFA’ya</a:t>
            </a:r>
            <a:r>
              <a:rPr lang="tr-TR" dirty="0"/>
              <a:t> dönüştürdük. Bir </a:t>
            </a:r>
            <a:r>
              <a:rPr lang="tr-TR" dirty="0" err="1"/>
              <a:t>GNFA’yı</a:t>
            </a:r>
            <a:r>
              <a:rPr lang="tr-TR" dirty="0"/>
              <a:t> giriş olarak alan ve eşdeğer bir </a:t>
            </a:r>
            <a:r>
              <a:rPr lang="tr-TR" dirty="0" err="1"/>
              <a:t>regüler</a:t>
            </a:r>
            <a:r>
              <a:rPr lang="tr-TR" dirty="0"/>
              <a:t> ifade döndüren CONVERT(G) prosedürü oluşturmak istiyoruz</a:t>
            </a:r>
          </a:p>
        </p:txBody>
      </p:sp>
      <p:sp>
        <p:nvSpPr>
          <p:cNvPr id="7" name="Metin kutusu 6">
            <a:extLst>
              <a:ext uri="{FF2B5EF4-FFF2-40B4-BE49-F238E27FC236}">
                <a16:creationId xmlns:a16="http://schemas.microsoft.com/office/drawing/2014/main" id="{CA61AF0C-0DC7-4974-AD37-725AB812DB1A}"/>
              </a:ext>
            </a:extLst>
          </p:cNvPr>
          <p:cNvSpPr txBox="1"/>
          <p:nvPr/>
        </p:nvSpPr>
        <p:spPr>
          <a:xfrm>
            <a:off x="1260388" y="4916611"/>
            <a:ext cx="10116066" cy="923330"/>
          </a:xfrm>
          <a:prstGeom prst="rect">
            <a:avLst/>
          </a:prstGeom>
          <a:noFill/>
        </p:spPr>
        <p:txBody>
          <a:bodyPr wrap="square">
            <a:spAutoFit/>
          </a:bodyPr>
          <a:lstStyle/>
          <a:p>
            <a:r>
              <a:rPr lang="tr-TR" dirty="0"/>
              <a:t>Bu prosedür özyinelemeyi kullanır, yani kendini çağırır. Prosedür kendisini yalnızca daha az duruma sahip bir </a:t>
            </a:r>
            <a:r>
              <a:rPr lang="tr-TR" dirty="0" err="1"/>
              <a:t>GNFA'yı</a:t>
            </a:r>
            <a:r>
              <a:rPr lang="tr-TR" dirty="0"/>
              <a:t> işlemek için çağırdığından sonsuz bir döngüden kaçınılır. </a:t>
            </a:r>
            <a:r>
              <a:rPr lang="tr-TR" dirty="0" err="1"/>
              <a:t>GNFA'nın</a:t>
            </a:r>
            <a:r>
              <a:rPr lang="tr-TR" dirty="0"/>
              <a:t> iki durumunun olduğu durum özyineleme olmadan ele alınır.</a:t>
            </a:r>
          </a:p>
        </p:txBody>
      </p:sp>
    </p:spTree>
    <p:extLst>
      <p:ext uri="{BB962C8B-B14F-4D97-AF65-F5344CB8AC3E}">
        <p14:creationId xmlns:p14="http://schemas.microsoft.com/office/powerpoint/2010/main" val="1678269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o 2">
            <a:extLst>
              <a:ext uri="{FF2B5EF4-FFF2-40B4-BE49-F238E27FC236}">
                <a16:creationId xmlns:a16="http://schemas.microsoft.com/office/drawing/2014/main" id="{FD262928-87AF-4FA2-BC33-F8E6257BE7E9}"/>
              </a:ext>
            </a:extLst>
          </p:cNvPr>
          <p:cNvGraphicFramePr>
            <a:graphicFrameLocks noGrp="1"/>
          </p:cNvGraphicFramePr>
          <p:nvPr>
            <p:extLst>
              <p:ext uri="{D42A27DB-BD31-4B8C-83A1-F6EECF244321}">
                <p14:modId xmlns:p14="http://schemas.microsoft.com/office/powerpoint/2010/main" val="58574613"/>
              </p:ext>
            </p:extLst>
          </p:nvPr>
        </p:nvGraphicFramePr>
        <p:xfrm>
          <a:off x="642550" y="719666"/>
          <a:ext cx="11055179" cy="5212080"/>
        </p:xfrm>
        <a:graphic>
          <a:graphicData uri="http://schemas.openxmlformats.org/drawingml/2006/table">
            <a:tbl>
              <a:tblPr firstRow="1" bandRow="1">
                <a:tableStyleId>{5C22544A-7EE6-4342-B048-85BDC9FD1C3A}</a:tableStyleId>
              </a:tblPr>
              <a:tblGrid>
                <a:gridCol w="11055179">
                  <a:extLst>
                    <a:ext uri="{9D8B030D-6E8A-4147-A177-3AD203B41FA5}">
                      <a16:colId xmlns:a16="http://schemas.microsoft.com/office/drawing/2014/main" val="18692978"/>
                    </a:ext>
                  </a:extLst>
                </a:gridCol>
              </a:tblGrid>
              <a:tr h="370840">
                <a:tc>
                  <a:txBody>
                    <a:bodyPr/>
                    <a:lstStyle/>
                    <a:p>
                      <a:r>
                        <a:rPr lang="tr-TR" sz="2400" dirty="0"/>
                        <a:t>CONVERT(G):</a:t>
                      </a:r>
                    </a:p>
                  </a:txBody>
                  <a:tcPr/>
                </a:tc>
                <a:extLst>
                  <a:ext uri="{0D108BD9-81ED-4DB2-BD59-A6C34878D82A}">
                    <a16:rowId xmlns:a16="http://schemas.microsoft.com/office/drawing/2014/main" val="2520773241"/>
                  </a:ext>
                </a:extLst>
              </a:tr>
              <a:tr h="370840">
                <a:tc>
                  <a:txBody>
                    <a:bodyPr/>
                    <a:lstStyle/>
                    <a:p>
                      <a:r>
                        <a:rPr lang="tr-TR" sz="2400" dirty="0"/>
                        <a:t>1. G'nin durum sayısı k olsun.</a:t>
                      </a:r>
                    </a:p>
                  </a:txBody>
                  <a:tcPr/>
                </a:tc>
                <a:extLst>
                  <a:ext uri="{0D108BD9-81ED-4DB2-BD59-A6C34878D82A}">
                    <a16:rowId xmlns:a16="http://schemas.microsoft.com/office/drawing/2014/main" val="2308259698"/>
                  </a:ext>
                </a:extLst>
              </a:tr>
              <a:tr h="370840">
                <a:tc>
                  <a:txBody>
                    <a:bodyPr/>
                    <a:lstStyle/>
                    <a:p>
                      <a:r>
                        <a:rPr lang="tr-TR" sz="2400" dirty="0"/>
                        <a:t>2. Eğer k = 2 ise, G bir başlangıç durumu, bir kabul durumu ve bunları birbirine bağlayan ve R düzenli ifadesiyle etiketlenmiş tek bir oktan oluşmalıdır. R ifadesini döndürün.</a:t>
                      </a:r>
                    </a:p>
                  </a:txBody>
                  <a:tcPr/>
                </a:tc>
                <a:extLst>
                  <a:ext uri="{0D108BD9-81ED-4DB2-BD59-A6C34878D82A}">
                    <a16:rowId xmlns:a16="http://schemas.microsoft.com/office/drawing/2014/main" val="3250118706"/>
                  </a:ext>
                </a:extLst>
              </a:tr>
              <a:tr h="370840">
                <a:tc>
                  <a:txBody>
                    <a:bodyPr/>
                    <a:lstStyle/>
                    <a:p>
                      <a:r>
                        <a:rPr lang="tr-TR" sz="2400" dirty="0"/>
                        <a:t>3. Eğer k &gt; 2 ise, </a:t>
                      </a:r>
                      <a:r>
                        <a:rPr lang="tr-TR" sz="2400" dirty="0" err="1"/>
                        <a:t>qstart</a:t>
                      </a:r>
                      <a:r>
                        <a:rPr lang="tr-TR" sz="2400" dirty="0"/>
                        <a:t> ve </a:t>
                      </a:r>
                      <a:r>
                        <a:rPr lang="tr-TR" sz="2400" dirty="0" err="1"/>
                        <a:t>qaccept'ten</a:t>
                      </a:r>
                      <a:r>
                        <a:rPr lang="tr-TR" sz="2400" dirty="0"/>
                        <a:t> farklı herhangi bir </a:t>
                      </a:r>
                      <a:r>
                        <a:rPr lang="tr-TR" sz="2400" dirty="0" err="1"/>
                        <a:t>qrip</a:t>
                      </a:r>
                      <a:r>
                        <a:rPr lang="tr-TR" sz="2400" dirty="0"/>
                        <a:t> ∈ Q durumunu seçeriz. G''</a:t>
                      </a:r>
                      <a:r>
                        <a:rPr lang="tr-TR" sz="2400" dirty="0" err="1"/>
                        <a:t>nin</a:t>
                      </a:r>
                      <a:r>
                        <a:rPr lang="tr-TR" sz="2400" dirty="0"/>
                        <a:t> GNFA olsun (Q′ , </a:t>
                      </a:r>
                      <a:r>
                        <a:rPr lang="el-GR" sz="2400" dirty="0"/>
                        <a:t>Σ, δ′ , </a:t>
                      </a:r>
                      <a:r>
                        <a:rPr lang="tr-TR" sz="2400" dirty="0" err="1"/>
                        <a:t>qstart</a:t>
                      </a:r>
                      <a:r>
                        <a:rPr lang="tr-TR" sz="2400" dirty="0"/>
                        <a:t>, </a:t>
                      </a:r>
                      <a:r>
                        <a:rPr lang="tr-TR" sz="2400" dirty="0" err="1"/>
                        <a:t>qaccept</a:t>
                      </a:r>
                      <a:r>
                        <a:rPr lang="tr-TR" sz="2400" dirty="0"/>
                        <a:t>),</a:t>
                      </a:r>
                    </a:p>
                    <a:p>
                      <a:endParaRPr lang="tr-TR" sz="2400" dirty="0"/>
                    </a:p>
                    <a:p>
                      <a:r>
                        <a:rPr lang="tr-TR" sz="2400" dirty="0"/>
                        <a:t>Q′ = Q − {</a:t>
                      </a:r>
                      <a:r>
                        <a:rPr lang="tr-TR" sz="2400" dirty="0" err="1"/>
                        <a:t>qrip</a:t>
                      </a:r>
                      <a:r>
                        <a:rPr lang="tr-TR" sz="2400" dirty="0"/>
                        <a:t>}, </a:t>
                      </a:r>
                    </a:p>
                    <a:p>
                      <a:r>
                        <a:rPr lang="tr-TR" sz="2400" dirty="0" err="1"/>
                        <a:t>Herhangibir</a:t>
                      </a:r>
                      <a:r>
                        <a:rPr lang="tr-TR" sz="2400" dirty="0"/>
                        <a:t> </a:t>
                      </a:r>
                      <a:r>
                        <a:rPr lang="tr-TR" sz="2400" dirty="0" err="1"/>
                        <a:t>qi</a:t>
                      </a:r>
                      <a:r>
                        <a:rPr lang="tr-TR" sz="2400" dirty="0"/>
                        <a:t> ∈ Q′ − {</a:t>
                      </a:r>
                      <a:r>
                        <a:rPr lang="tr-TR" sz="2400" dirty="0" err="1"/>
                        <a:t>qaccept</a:t>
                      </a:r>
                      <a:r>
                        <a:rPr lang="tr-TR" sz="2400" dirty="0"/>
                        <a:t>} ve </a:t>
                      </a:r>
                      <a:r>
                        <a:rPr lang="tr-TR" sz="2400" dirty="0" err="1"/>
                        <a:t>qj</a:t>
                      </a:r>
                      <a:r>
                        <a:rPr lang="tr-TR" sz="2400" dirty="0"/>
                        <a:t> ∈ Q′ − {</a:t>
                      </a:r>
                      <a:r>
                        <a:rPr lang="tr-TR" sz="2400" dirty="0" err="1"/>
                        <a:t>qstart</a:t>
                      </a:r>
                      <a:r>
                        <a:rPr lang="tr-TR" sz="2400" dirty="0"/>
                        <a:t>} için </a:t>
                      </a:r>
                    </a:p>
                    <a:p>
                      <a:endParaRPr lang="tr-TR" sz="2400" dirty="0"/>
                    </a:p>
                    <a:p>
                      <a:endParaRPr lang="tr-TR" sz="2400" dirty="0"/>
                    </a:p>
                    <a:p>
                      <a:endParaRPr lang="tr-TR" sz="2400" dirty="0"/>
                    </a:p>
                  </a:txBody>
                  <a:tcPr/>
                </a:tc>
                <a:extLst>
                  <a:ext uri="{0D108BD9-81ED-4DB2-BD59-A6C34878D82A}">
                    <a16:rowId xmlns:a16="http://schemas.microsoft.com/office/drawing/2014/main" val="2118486133"/>
                  </a:ext>
                </a:extLst>
              </a:tr>
              <a:tr h="370840">
                <a:tc>
                  <a:txBody>
                    <a:bodyPr/>
                    <a:lstStyle/>
                    <a:p>
                      <a:r>
                        <a:rPr lang="tr-TR" sz="2400" dirty="0"/>
                        <a:t>4. CONVERT(G′)'</a:t>
                      </a:r>
                      <a:r>
                        <a:rPr lang="tr-TR" sz="2400" dirty="0" err="1"/>
                        <a:t>yi</a:t>
                      </a:r>
                      <a:r>
                        <a:rPr lang="tr-TR" sz="2400" dirty="0"/>
                        <a:t> hesaplayın ve bu değeri döndürün.</a:t>
                      </a:r>
                    </a:p>
                  </a:txBody>
                  <a:tcPr/>
                </a:tc>
                <a:extLst>
                  <a:ext uri="{0D108BD9-81ED-4DB2-BD59-A6C34878D82A}">
                    <a16:rowId xmlns:a16="http://schemas.microsoft.com/office/drawing/2014/main" val="134598239"/>
                  </a:ext>
                </a:extLst>
              </a:tr>
            </a:tbl>
          </a:graphicData>
        </a:graphic>
      </p:graphicFrame>
      <p:pic>
        <p:nvPicPr>
          <p:cNvPr id="3" name="Resim 2">
            <a:extLst>
              <a:ext uri="{FF2B5EF4-FFF2-40B4-BE49-F238E27FC236}">
                <a16:creationId xmlns:a16="http://schemas.microsoft.com/office/drawing/2014/main" id="{E5A4F486-8EFF-47F9-8F14-D8CE0BA9CE3F}"/>
              </a:ext>
            </a:extLst>
          </p:cNvPr>
          <p:cNvPicPr>
            <a:picLocks noChangeAspect="1"/>
          </p:cNvPicPr>
          <p:nvPr/>
        </p:nvPicPr>
        <p:blipFill>
          <a:blip r:embed="rId2"/>
          <a:stretch>
            <a:fillRect/>
          </a:stretch>
        </p:blipFill>
        <p:spPr>
          <a:xfrm>
            <a:off x="1658251" y="4618981"/>
            <a:ext cx="4048125" cy="371475"/>
          </a:xfrm>
          <a:prstGeom prst="rect">
            <a:avLst/>
          </a:prstGeom>
        </p:spPr>
      </p:pic>
      <p:pic>
        <p:nvPicPr>
          <p:cNvPr id="4" name="Resim 3">
            <a:extLst>
              <a:ext uri="{FF2B5EF4-FFF2-40B4-BE49-F238E27FC236}">
                <a16:creationId xmlns:a16="http://schemas.microsoft.com/office/drawing/2014/main" id="{7D9A4383-ABDC-41FA-B4AD-B76F157FAC82}"/>
              </a:ext>
            </a:extLst>
          </p:cNvPr>
          <p:cNvPicPr>
            <a:picLocks noChangeAspect="1"/>
          </p:cNvPicPr>
          <p:nvPr/>
        </p:nvPicPr>
        <p:blipFill>
          <a:blip r:embed="rId3"/>
          <a:stretch>
            <a:fillRect/>
          </a:stretch>
        </p:blipFill>
        <p:spPr>
          <a:xfrm>
            <a:off x="7935485" y="3429000"/>
            <a:ext cx="2486528" cy="1777699"/>
          </a:xfrm>
          <a:prstGeom prst="rect">
            <a:avLst/>
          </a:prstGeom>
        </p:spPr>
      </p:pic>
    </p:spTree>
    <p:extLst>
      <p:ext uri="{BB962C8B-B14F-4D97-AF65-F5344CB8AC3E}">
        <p14:creationId xmlns:p14="http://schemas.microsoft.com/office/powerpoint/2010/main" val="3903279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EF78309F-2CFC-44DC-B363-D3550415977D}"/>
              </a:ext>
            </a:extLst>
          </p:cNvPr>
          <p:cNvSpPr txBox="1"/>
          <p:nvPr/>
        </p:nvSpPr>
        <p:spPr>
          <a:xfrm>
            <a:off x="733169" y="725096"/>
            <a:ext cx="10816280" cy="923330"/>
          </a:xfrm>
          <a:prstGeom prst="rect">
            <a:avLst/>
          </a:prstGeom>
          <a:noFill/>
        </p:spPr>
        <p:txBody>
          <a:bodyPr wrap="square">
            <a:spAutoFit/>
          </a:bodyPr>
          <a:lstStyle/>
          <a:p>
            <a:r>
              <a:rPr lang="tr-TR" dirty="0"/>
              <a:t>Temel: İddianın k = 2 durum için doğru olduğunu kanıtlayın. Eğer G'nin yalnızca iki durumu varsa, başlangıç durumundan kabul durumuna giden yalnızca tek bir oka sahip olabilir. Bu oktaki düzenli ifade etiketi, G'nin kabul durumuna geçmesine izin veren tüm dizeleri açıklar. Dolayısıyla bu ifade G'ye eşdeğerdir.</a:t>
            </a:r>
          </a:p>
        </p:txBody>
      </p:sp>
      <p:sp>
        <p:nvSpPr>
          <p:cNvPr id="5" name="Metin kutusu 4">
            <a:extLst>
              <a:ext uri="{FF2B5EF4-FFF2-40B4-BE49-F238E27FC236}">
                <a16:creationId xmlns:a16="http://schemas.microsoft.com/office/drawing/2014/main" id="{256A68EB-9872-449E-86BC-A5B17033B647}"/>
              </a:ext>
            </a:extLst>
          </p:cNvPr>
          <p:cNvSpPr txBox="1"/>
          <p:nvPr/>
        </p:nvSpPr>
        <p:spPr>
          <a:xfrm>
            <a:off x="733169" y="2051388"/>
            <a:ext cx="10700950" cy="923330"/>
          </a:xfrm>
          <a:prstGeom prst="rect">
            <a:avLst/>
          </a:prstGeom>
          <a:noFill/>
        </p:spPr>
        <p:txBody>
          <a:bodyPr wrap="square">
            <a:spAutoFit/>
          </a:bodyPr>
          <a:lstStyle/>
          <a:p>
            <a:r>
              <a:rPr lang="tr-TR" dirty="0"/>
              <a:t>Tümevarım adımı: İddianın k - 1 durum için doğru olduğunu varsayalım ve bunu iddianın k durum için doğru olduğunu kanıtlamak için varsayım olarak kullanın. Öncelikle G ve G′'</a:t>
            </a:r>
            <a:r>
              <a:rPr lang="tr-TR" dirty="0" err="1"/>
              <a:t>nin</a:t>
            </a:r>
            <a:r>
              <a:rPr lang="tr-TR" dirty="0"/>
              <a:t> aynı dili tanıdığını gösteriyoruz. G'nin w girdisini kabul ettiğini varsayalım. Daha sonra hesaplamanın kabul eden bir dalında G bir dizi durum girer:</a:t>
            </a:r>
          </a:p>
        </p:txBody>
      </p:sp>
      <p:pic>
        <p:nvPicPr>
          <p:cNvPr id="7" name="Resim 6">
            <a:extLst>
              <a:ext uri="{FF2B5EF4-FFF2-40B4-BE49-F238E27FC236}">
                <a16:creationId xmlns:a16="http://schemas.microsoft.com/office/drawing/2014/main" id="{7839BD07-3CD6-4B54-8602-BED59CC8D726}"/>
              </a:ext>
            </a:extLst>
          </p:cNvPr>
          <p:cNvPicPr>
            <a:picLocks noChangeAspect="1"/>
          </p:cNvPicPr>
          <p:nvPr/>
        </p:nvPicPr>
        <p:blipFill>
          <a:blip r:embed="rId2"/>
          <a:stretch>
            <a:fillRect/>
          </a:stretch>
        </p:blipFill>
        <p:spPr>
          <a:xfrm>
            <a:off x="3399138" y="3377680"/>
            <a:ext cx="4704846" cy="452389"/>
          </a:xfrm>
          <a:prstGeom prst="rect">
            <a:avLst/>
          </a:prstGeom>
        </p:spPr>
      </p:pic>
      <p:sp>
        <p:nvSpPr>
          <p:cNvPr id="9" name="Metin kutusu 8">
            <a:extLst>
              <a:ext uri="{FF2B5EF4-FFF2-40B4-BE49-F238E27FC236}">
                <a16:creationId xmlns:a16="http://schemas.microsoft.com/office/drawing/2014/main" id="{394E2C52-BC33-48E7-ABC9-14C7E8D04CE1}"/>
              </a:ext>
            </a:extLst>
          </p:cNvPr>
          <p:cNvSpPr txBox="1"/>
          <p:nvPr/>
        </p:nvSpPr>
        <p:spPr>
          <a:xfrm>
            <a:off x="568411" y="4017143"/>
            <a:ext cx="11112843" cy="646331"/>
          </a:xfrm>
          <a:prstGeom prst="rect">
            <a:avLst/>
          </a:prstGeom>
          <a:noFill/>
        </p:spPr>
        <p:txBody>
          <a:bodyPr wrap="square">
            <a:spAutoFit/>
          </a:bodyPr>
          <a:lstStyle/>
          <a:p>
            <a:r>
              <a:rPr lang="tr-TR" dirty="0"/>
              <a:t>Eğer bunlardan hiçbiri kaldırılan durum </a:t>
            </a:r>
            <a:r>
              <a:rPr lang="tr-TR" dirty="0" err="1"/>
              <a:t>qrip</a:t>
            </a:r>
            <a:r>
              <a:rPr lang="tr-TR" dirty="0"/>
              <a:t> değilse, açıkça G′ de </a:t>
            </a:r>
            <a:r>
              <a:rPr lang="tr-TR" dirty="0" err="1"/>
              <a:t>w'yi</a:t>
            </a:r>
            <a:r>
              <a:rPr lang="tr-TR" dirty="0"/>
              <a:t> kabul eder. Bunun nedeni, G' oklarını etiketleyen yeni düzenli ifadelerin her birinin, bir birliğin parçası olarak eski düzenli ifadeyi içermesidir.</a:t>
            </a:r>
          </a:p>
        </p:txBody>
      </p:sp>
      <p:sp>
        <p:nvSpPr>
          <p:cNvPr id="11" name="Metin kutusu 10">
            <a:extLst>
              <a:ext uri="{FF2B5EF4-FFF2-40B4-BE49-F238E27FC236}">
                <a16:creationId xmlns:a16="http://schemas.microsoft.com/office/drawing/2014/main" id="{F2D9E6B6-0208-4A0E-914D-73DD4FED4630}"/>
              </a:ext>
            </a:extLst>
          </p:cNvPr>
          <p:cNvSpPr txBox="1"/>
          <p:nvPr/>
        </p:nvSpPr>
        <p:spPr>
          <a:xfrm>
            <a:off x="675503" y="5021992"/>
            <a:ext cx="11211697" cy="923330"/>
          </a:xfrm>
          <a:prstGeom prst="rect">
            <a:avLst/>
          </a:prstGeom>
          <a:noFill/>
        </p:spPr>
        <p:txBody>
          <a:bodyPr wrap="square">
            <a:spAutoFit/>
          </a:bodyPr>
          <a:lstStyle/>
          <a:p>
            <a:r>
              <a:rPr lang="tr-TR" dirty="0"/>
              <a:t>Eğer </a:t>
            </a:r>
            <a:r>
              <a:rPr lang="tr-TR" dirty="0" err="1"/>
              <a:t>qrip</a:t>
            </a:r>
            <a:r>
              <a:rPr lang="tr-TR" dirty="0"/>
              <a:t> ortaya çıkarsa, ardışık </a:t>
            </a:r>
            <a:r>
              <a:rPr lang="tr-TR" dirty="0" err="1"/>
              <a:t>qrip</a:t>
            </a:r>
            <a:r>
              <a:rPr lang="tr-TR" dirty="0"/>
              <a:t> durumlarının her bir çalışmasının kaldırılması, G' için kabul edilebilir bir hesaplama oluşturur. Bir koşuyu paranteze alan </a:t>
            </a:r>
            <a:r>
              <a:rPr lang="tr-TR" dirty="0" err="1"/>
              <a:t>qi</a:t>
            </a:r>
            <a:r>
              <a:rPr lang="tr-TR" dirty="0"/>
              <a:t> ve </a:t>
            </a:r>
            <a:r>
              <a:rPr lang="tr-TR" dirty="0" err="1"/>
              <a:t>qj</a:t>
            </a:r>
            <a:r>
              <a:rPr lang="tr-TR" dirty="0"/>
              <a:t> durumları, aralarındaki ok üzerinde, G'deki </a:t>
            </a:r>
            <a:r>
              <a:rPr lang="tr-TR" dirty="0" err="1"/>
              <a:t>qrip</a:t>
            </a:r>
            <a:r>
              <a:rPr lang="tr-TR" dirty="0"/>
              <a:t> aracılığıyla </a:t>
            </a:r>
            <a:r>
              <a:rPr lang="tr-TR" dirty="0" err="1"/>
              <a:t>qi'yi</a:t>
            </a:r>
            <a:r>
              <a:rPr lang="tr-TR" dirty="0"/>
              <a:t> </a:t>
            </a:r>
            <a:r>
              <a:rPr lang="tr-TR" dirty="0" err="1"/>
              <a:t>qj'ye</a:t>
            </a:r>
            <a:r>
              <a:rPr lang="tr-TR" dirty="0"/>
              <a:t> götüren tüm dizileri tanımlayan yeni bir düzenli ifadeye sahiptir. Dolayısıyla G′, </a:t>
            </a:r>
            <a:r>
              <a:rPr lang="tr-TR" dirty="0" err="1"/>
              <a:t>w'yi</a:t>
            </a:r>
            <a:r>
              <a:rPr lang="tr-TR" dirty="0"/>
              <a:t> kabul eder.</a:t>
            </a:r>
          </a:p>
        </p:txBody>
      </p:sp>
    </p:spTree>
    <p:extLst>
      <p:ext uri="{BB962C8B-B14F-4D97-AF65-F5344CB8AC3E}">
        <p14:creationId xmlns:p14="http://schemas.microsoft.com/office/powerpoint/2010/main" val="3843690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etin kutusu 4">
            <a:extLst>
              <a:ext uri="{FF2B5EF4-FFF2-40B4-BE49-F238E27FC236}">
                <a16:creationId xmlns:a16="http://schemas.microsoft.com/office/drawing/2014/main" id="{ED595ADB-6B0B-462D-9C0C-8AF54BAF37EC}"/>
              </a:ext>
            </a:extLst>
          </p:cNvPr>
          <p:cNvSpPr txBox="1"/>
          <p:nvPr/>
        </p:nvSpPr>
        <p:spPr>
          <a:xfrm>
            <a:off x="341870" y="649411"/>
            <a:ext cx="11508260" cy="923330"/>
          </a:xfrm>
          <a:prstGeom prst="rect">
            <a:avLst/>
          </a:prstGeom>
          <a:noFill/>
        </p:spPr>
        <p:txBody>
          <a:bodyPr wrap="square">
            <a:spAutoFit/>
          </a:bodyPr>
          <a:lstStyle/>
          <a:p>
            <a:r>
              <a:rPr lang="tr-TR" dirty="0"/>
              <a:t>Tersine, G'nin w girdisini kabul ettiğini varsayalım. G'deki </a:t>
            </a:r>
            <a:r>
              <a:rPr lang="tr-TR" dirty="0" err="1"/>
              <a:t>qi</a:t>
            </a:r>
            <a:r>
              <a:rPr lang="tr-TR" dirty="0"/>
              <a:t> ve </a:t>
            </a:r>
            <a:r>
              <a:rPr lang="tr-TR" dirty="0" err="1"/>
              <a:t>qj</a:t>
            </a:r>
            <a:r>
              <a:rPr lang="tr-TR" dirty="0"/>
              <a:t> durumları arasındaki her ok, </a:t>
            </a:r>
            <a:r>
              <a:rPr lang="tr-TR" dirty="0" err="1"/>
              <a:t>qi'yi</a:t>
            </a:r>
            <a:r>
              <a:rPr lang="tr-TR" dirty="0"/>
              <a:t> doğrudan veya </a:t>
            </a:r>
            <a:r>
              <a:rPr lang="tr-TR" dirty="0" err="1"/>
              <a:t>qrip</a:t>
            </a:r>
            <a:r>
              <a:rPr lang="tr-TR" dirty="0"/>
              <a:t> yoluyla G'deki </a:t>
            </a:r>
            <a:r>
              <a:rPr lang="tr-TR" dirty="0" err="1"/>
              <a:t>qj'ye</a:t>
            </a:r>
            <a:r>
              <a:rPr lang="tr-TR" dirty="0"/>
              <a:t> götüren dizilerin koleksiyonunu tanımladığından, G'nin </a:t>
            </a:r>
            <a:r>
              <a:rPr lang="tr-TR" dirty="0" err="1"/>
              <a:t>w'yi</a:t>
            </a:r>
            <a:r>
              <a:rPr lang="tr-TR" dirty="0"/>
              <a:t> de kabul etmesi gerekir. Dolayısıyla G ve G' eşdeğerdir.</a:t>
            </a:r>
          </a:p>
        </p:txBody>
      </p:sp>
      <p:sp>
        <p:nvSpPr>
          <p:cNvPr id="7" name="Metin kutusu 6">
            <a:extLst>
              <a:ext uri="{FF2B5EF4-FFF2-40B4-BE49-F238E27FC236}">
                <a16:creationId xmlns:a16="http://schemas.microsoft.com/office/drawing/2014/main" id="{C960CD40-30BB-4AF0-AC7D-ECAC4526B516}"/>
              </a:ext>
            </a:extLst>
          </p:cNvPr>
          <p:cNvSpPr txBox="1"/>
          <p:nvPr/>
        </p:nvSpPr>
        <p:spPr>
          <a:xfrm>
            <a:off x="376881" y="2107509"/>
            <a:ext cx="11438238" cy="923330"/>
          </a:xfrm>
          <a:prstGeom prst="rect">
            <a:avLst/>
          </a:prstGeom>
          <a:noFill/>
        </p:spPr>
        <p:txBody>
          <a:bodyPr wrap="square">
            <a:spAutoFit/>
          </a:bodyPr>
          <a:lstStyle/>
          <a:p>
            <a:r>
              <a:rPr lang="tr-TR" dirty="0"/>
              <a:t>Tümevarım hipotezi, algoritma kendisini G' girişinde yinelemeli olarak çağırdığında sonucun G'ye eşdeğer bir düzenli ifade olduğunu, çünkü G'nin k - 1 durumuna sahip olduğunu belirtir. Dolayısıyla bu düzenli ifade de G'ye eşdeğerdir ve algoritmanın doğruluğu kanıtlanmıştır.</a:t>
            </a:r>
          </a:p>
        </p:txBody>
      </p:sp>
    </p:spTree>
    <p:extLst>
      <p:ext uri="{BB962C8B-B14F-4D97-AF65-F5344CB8AC3E}">
        <p14:creationId xmlns:p14="http://schemas.microsoft.com/office/powerpoint/2010/main" val="218172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etin kutusu 12">
            <a:extLst>
              <a:ext uri="{FF2B5EF4-FFF2-40B4-BE49-F238E27FC236}">
                <a16:creationId xmlns:a16="http://schemas.microsoft.com/office/drawing/2014/main" id="{4DB309A6-73CE-4974-AABE-D4D17377053B}"/>
              </a:ext>
            </a:extLst>
          </p:cNvPr>
          <p:cNvSpPr txBox="1"/>
          <p:nvPr/>
        </p:nvSpPr>
        <p:spPr>
          <a:xfrm>
            <a:off x="569777" y="295161"/>
            <a:ext cx="5147282" cy="1200329"/>
          </a:xfrm>
          <a:prstGeom prst="rect">
            <a:avLst/>
          </a:prstGeom>
          <a:noFill/>
        </p:spPr>
        <p:txBody>
          <a:bodyPr wrap="square">
            <a:spAutoFit/>
          </a:bodyPr>
          <a:lstStyle/>
          <a:p>
            <a:r>
              <a:rPr lang="tr-TR" dirty="0" err="1"/>
              <a:t>qstart</a:t>
            </a:r>
            <a:r>
              <a:rPr lang="tr-TR" dirty="0"/>
              <a:t> ve </a:t>
            </a:r>
            <a:r>
              <a:rPr lang="tr-TR" dirty="0" err="1"/>
              <a:t>qaccept</a:t>
            </a:r>
            <a:r>
              <a:rPr lang="tr-TR" dirty="0"/>
              <a:t> yerine s ve a adı verilen yeni bir başlangıç durumu ve yeni bir kabul durumu ekleyerek dört durumlu bir GNFA oluşturuyoruz, böylece bunları uygun şekilde çizebiliyoruz.</a:t>
            </a:r>
          </a:p>
        </p:txBody>
      </p:sp>
      <p:pic>
        <p:nvPicPr>
          <p:cNvPr id="15" name="Resim 14">
            <a:extLst>
              <a:ext uri="{FF2B5EF4-FFF2-40B4-BE49-F238E27FC236}">
                <a16:creationId xmlns:a16="http://schemas.microsoft.com/office/drawing/2014/main" id="{F199476F-DC0A-4A6A-90A3-BB8C8BF6C9F3}"/>
              </a:ext>
            </a:extLst>
          </p:cNvPr>
          <p:cNvPicPr>
            <a:picLocks noChangeAspect="1"/>
          </p:cNvPicPr>
          <p:nvPr/>
        </p:nvPicPr>
        <p:blipFill>
          <a:blip r:embed="rId2"/>
          <a:stretch>
            <a:fillRect/>
          </a:stretch>
        </p:blipFill>
        <p:spPr>
          <a:xfrm>
            <a:off x="2233612" y="1761554"/>
            <a:ext cx="1019175" cy="2828925"/>
          </a:xfrm>
          <a:prstGeom prst="rect">
            <a:avLst/>
          </a:prstGeom>
        </p:spPr>
      </p:pic>
      <p:pic>
        <p:nvPicPr>
          <p:cNvPr id="17" name="Resim 16">
            <a:extLst>
              <a:ext uri="{FF2B5EF4-FFF2-40B4-BE49-F238E27FC236}">
                <a16:creationId xmlns:a16="http://schemas.microsoft.com/office/drawing/2014/main" id="{5AE1D0B1-FB2E-4964-B37F-6F4813E0BA1C}"/>
              </a:ext>
            </a:extLst>
          </p:cNvPr>
          <p:cNvPicPr>
            <a:picLocks noChangeAspect="1"/>
          </p:cNvPicPr>
          <p:nvPr/>
        </p:nvPicPr>
        <p:blipFill>
          <a:blip r:embed="rId3"/>
          <a:stretch>
            <a:fillRect/>
          </a:stretch>
        </p:blipFill>
        <p:spPr>
          <a:xfrm>
            <a:off x="3202296" y="1790129"/>
            <a:ext cx="2105025" cy="2800350"/>
          </a:xfrm>
          <a:prstGeom prst="rect">
            <a:avLst/>
          </a:prstGeom>
        </p:spPr>
      </p:pic>
      <p:pic>
        <p:nvPicPr>
          <p:cNvPr id="19" name="Resim 18">
            <a:extLst>
              <a:ext uri="{FF2B5EF4-FFF2-40B4-BE49-F238E27FC236}">
                <a16:creationId xmlns:a16="http://schemas.microsoft.com/office/drawing/2014/main" id="{3A3FD20B-5791-478C-8C43-D55821035F36}"/>
              </a:ext>
            </a:extLst>
          </p:cNvPr>
          <p:cNvPicPr>
            <a:picLocks noChangeAspect="1"/>
          </p:cNvPicPr>
          <p:nvPr/>
        </p:nvPicPr>
        <p:blipFill>
          <a:blip r:embed="rId4"/>
          <a:stretch>
            <a:fillRect/>
          </a:stretch>
        </p:blipFill>
        <p:spPr>
          <a:xfrm>
            <a:off x="179078" y="2217090"/>
            <a:ext cx="1257300" cy="2181225"/>
          </a:xfrm>
          <a:prstGeom prst="rect">
            <a:avLst/>
          </a:prstGeom>
        </p:spPr>
      </p:pic>
      <p:pic>
        <p:nvPicPr>
          <p:cNvPr id="25" name="Resim 24">
            <a:extLst>
              <a:ext uri="{FF2B5EF4-FFF2-40B4-BE49-F238E27FC236}">
                <a16:creationId xmlns:a16="http://schemas.microsoft.com/office/drawing/2014/main" id="{453208F4-E962-4072-B5BE-FD56FA831F0C}"/>
              </a:ext>
            </a:extLst>
          </p:cNvPr>
          <p:cNvPicPr>
            <a:picLocks noChangeAspect="1"/>
          </p:cNvPicPr>
          <p:nvPr/>
        </p:nvPicPr>
        <p:blipFill>
          <a:blip r:embed="rId5"/>
          <a:stretch>
            <a:fillRect/>
          </a:stretch>
        </p:blipFill>
        <p:spPr>
          <a:xfrm>
            <a:off x="6405417" y="1918716"/>
            <a:ext cx="2428875" cy="2514600"/>
          </a:xfrm>
          <a:prstGeom prst="rect">
            <a:avLst/>
          </a:prstGeom>
        </p:spPr>
      </p:pic>
      <p:pic>
        <p:nvPicPr>
          <p:cNvPr id="27" name="Resim 26">
            <a:extLst>
              <a:ext uri="{FF2B5EF4-FFF2-40B4-BE49-F238E27FC236}">
                <a16:creationId xmlns:a16="http://schemas.microsoft.com/office/drawing/2014/main" id="{8F1FA885-7224-4E04-8F97-66414DC23C9E}"/>
              </a:ext>
            </a:extLst>
          </p:cNvPr>
          <p:cNvPicPr>
            <a:picLocks noChangeAspect="1"/>
          </p:cNvPicPr>
          <p:nvPr/>
        </p:nvPicPr>
        <p:blipFill>
          <a:blip r:embed="rId6"/>
          <a:stretch>
            <a:fillRect/>
          </a:stretch>
        </p:blipFill>
        <p:spPr>
          <a:xfrm>
            <a:off x="9958388" y="2030312"/>
            <a:ext cx="1238250" cy="2143125"/>
          </a:xfrm>
          <a:prstGeom prst="rect">
            <a:avLst/>
          </a:prstGeom>
        </p:spPr>
      </p:pic>
      <p:sp>
        <p:nvSpPr>
          <p:cNvPr id="29" name="Metin kutusu 28">
            <a:extLst>
              <a:ext uri="{FF2B5EF4-FFF2-40B4-BE49-F238E27FC236}">
                <a16:creationId xmlns:a16="http://schemas.microsoft.com/office/drawing/2014/main" id="{7DEABFC0-1C6C-4DC1-AAA4-EEBE78133C27}"/>
              </a:ext>
            </a:extLst>
          </p:cNvPr>
          <p:cNvSpPr txBox="1"/>
          <p:nvPr/>
        </p:nvSpPr>
        <p:spPr>
          <a:xfrm>
            <a:off x="5920432" y="-1013"/>
            <a:ext cx="5276206" cy="2031325"/>
          </a:xfrm>
          <a:prstGeom prst="rect">
            <a:avLst/>
          </a:prstGeom>
          <a:noFill/>
        </p:spPr>
        <p:txBody>
          <a:bodyPr wrap="square">
            <a:spAutoFit/>
          </a:bodyPr>
          <a:lstStyle/>
          <a:p>
            <a:r>
              <a:rPr lang="tr-TR" dirty="0"/>
              <a:t>Şeklin karmaşıklığını önlemek için ∅ etiketli oklar mevcut olsa bile çizmiyoruz. </a:t>
            </a:r>
            <a:r>
              <a:rPr lang="tr-TR" dirty="0" err="1"/>
              <a:t>DFA'nın</a:t>
            </a:r>
            <a:r>
              <a:rPr lang="tr-TR" dirty="0"/>
              <a:t> 2. durumundaki öz döngüdeki a, b etiketini, </a:t>
            </a:r>
            <a:r>
              <a:rPr lang="tr-TR" dirty="0" err="1"/>
              <a:t>GNFA'nın</a:t>
            </a:r>
            <a:r>
              <a:rPr lang="tr-TR" dirty="0"/>
              <a:t> karşılık gelen noktasındaki </a:t>
            </a:r>
            <a:r>
              <a:rPr lang="tr-TR" dirty="0" err="1"/>
              <a:t>a∪b</a:t>
            </a:r>
            <a:r>
              <a:rPr lang="tr-TR" dirty="0"/>
              <a:t> etiketiyle değiştirdiğimizi unutmayın. Bunu yapıyoruz çünkü </a:t>
            </a:r>
            <a:r>
              <a:rPr lang="tr-TR" dirty="0" err="1"/>
              <a:t>DFA'nın</a:t>
            </a:r>
            <a:r>
              <a:rPr lang="tr-TR" dirty="0"/>
              <a:t> etiketi biri a için, diğeri b için olmak üzere iki geçişi temsil ederken, </a:t>
            </a:r>
            <a:r>
              <a:rPr lang="tr-TR" dirty="0" err="1"/>
              <a:t>GNFA'nın</a:t>
            </a:r>
            <a:r>
              <a:rPr lang="tr-TR" dirty="0"/>
              <a:t> 2'den kendisine giden yalnızca tek bir geçişi olabilir.</a:t>
            </a:r>
          </a:p>
        </p:txBody>
      </p:sp>
      <p:sp>
        <p:nvSpPr>
          <p:cNvPr id="31" name="Metin kutusu 30">
            <a:extLst>
              <a:ext uri="{FF2B5EF4-FFF2-40B4-BE49-F238E27FC236}">
                <a16:creationId xmlns:a16="http://schemas.microsoft.com/office/drawing/2014/main" id="{4A77A8BD-2540-474C-B6BC-E442390EEDEC}"/>
              </a:ext>
            </a:extLst>
          </p:cNvPr>
          <p:cNvSpPr txBox="1"/>
          <p:nvPr/>
        </p:nvSpPr>
        <p:spPr>
          <a:xfrm>
            <a:off x="675502" y="4736697"/>
            <a:ext cx="11186983" cy="2031325"/>
          </a:xfrm>
          <a:prstGeom prst="rect">
            <a:avLst/>
          </a:prstGeom>
          <a:noFill/>
        </p:spPr>
        <p:txBody>
          <a:bodyPr wrap="square">
            <a:spAutoFit/>
          </a:bodyPr>
          <a:lstStyle/>
          <a:p>
            <a:r>
              <a:rPr lang="tr-TR" dirty="0"/>
              <a:t>Şekil 1.67(c)'de durum 2'yi kaldırıyoruz ve kalan ok etiketlerini güncelliyoruz. Bu durumda değişen tek etiket 1'den a'ya olan etikettir. (b) şıkkında ∅ vardı ama (c) şıkkında b(a ∪ b)∗. Bu sonucu CONVERT prosedürünün 3. adımını takip ederek elde ederiz. </a:t>
            </a:r>
            <a:r>
              <a:rPr lang="tr-TR" dirty="0" err="1"/>
              <a:t>qi</a:t>
            </a:r>
            <a:r>
              <a:rPr lang="tr-TR" dirty="0"/>
              <a:t> durumu 1. durumdur, </a:t>
            </a:r>
            <a:r>
              <a:rPr lang="tr-TR" dirty="0" err="1"/>
              <a:t>qj</a:t>
            </a:r>
            <a:r>
              <a:rPr lang="tr-TR" dirty="0"/>
              <a:t> durumu a'dır ve </a:t>
            </a:r>
            <a:r>
              <a:rPr lang="tr-TR" dirty="0" err="1"/>
              <a:t>qrip</a:t>
            </a:r>
            <a:r>
              <a:rPr lang="tr-TR" dirty="0"/>
              <a:t> 2'dir, dolayısıyla R1 = b, R2 = a ∪ b, R3 = </a:t>
            </a:r>
            <a:r>
              <a:rPr lang="el-GR" dirty="0"/>
              <a:t>ε </a:t>
            </a:r>
            <a:r>
              <a:rPr lang="tr-TR" dirty="0"/>
              <a:t>ve R4 = ∅. Bu nedenle, 1'den a'ya giden okun üzerindeki yeni etiket (b)(a ∪ b)∗(</a:t>
            </a:r>
            <a:r>
              <a:rPr lang="el-GR" dirty="0"/>
              <a:t>ε) ∪ ∅'</a:t>
            </a:r>
            <a:r>
              <a:rPr lang="tr-TR" dirty="0"/>
              <a:t>dur. Bu düzenli ifadeyi b(a ∪ b)∗ şeklinde sadeleştiriyoruz. Şekil 1.67(d)'de, (c) kısmından durum 1'i çıkarıyoruz ve aynı prosedürü izliyoruz. Yalnızca başlangıç ve kabul durumları kaldığı için bunları birleştiren ok üzerindeki etiket, orijinal </a:t>
            </a:r>
            <a:r>
              <a:rPr lang="tr-TR" dirty="0" err="1"/>
              <a:t>DFA'ya</a:t>
            </a:r>
            <a:r>
              <a:rPr lang="tr-TR" dirty="0"/>
              <a:t> eşdeğer olan normal ifadedir.</a:t>
            </a:r>
          </a:p>
        </p:txBody>
      </p:sp>
    </p:spTree>
    <p:extLst>
      <p:ext uri="{BB962C8B-B14F-4D97-AF65-F5344CB8AC3E}">
        <p14:creationId xmlns:p14="http://schemas.microsoft.com/office/powerpoint/2010/main" val="3392363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831D57F5-A3AD-41F8-98E6-388703DA8051}"/>
              </a:ext>
            </a:extLst>
          </p:cNvPr>
          <p:cNvSpPr txBox="1"/>
          <p:nvPr/>
        </p:nvSpPr>
        <p:spPr>
          <a:xfrm>
            <a:off x="3184097" y="26393"/>
            <a:ext cx="4143632" cy="369332"/>
          </a:xfrm>
          <a:prstGeom prst="rect">
            <a:avLst/>
          </a:prstGeom>
          <a:noFill/>
        </p:spPr>
        <p:txBody>
          <a:bodyPr wrap="square">
            <a:spAutoFit/>
          </a:bodyPr>
          <a:lstStyle/>
          <a:p>
            <a:r>
              <a:rPr lang="tr-TR" dirty="0"/>
              <a:t>Örnek 2: </a:t>
            </a:r>
            <a:r>
              <a:rPr lang="tr-TR" dirty="0" err="1"/>
              <a:t>Üçdurumlu</a:t>
            </a:r>
            <a:r>
              <a:rPr lang="tr-TR" dirty="0"/>
              <a:t> bir DFA ile başlıyoruz. </a:t>
            </a:r>
          </a:p>
        </p:txBody>
      </p:sp>
      <p:pic>
        <p:nvPicPr>
          <p:cNvPr id="5" name="Resim 4">
            <a:extLst>
              <a:ext uri="{FF2B5EF4-FFF2-40B4-BE49-F238E27FC236}">
                <a16:creationId xmlns:a16="http://schemas.microsoft.com/office/drawing/2014/main" id="{812D8F32-B216-485C-9313-588D322CD2CD}"/>
              </a:ext>
            </a:extLst>
          </p:cNvPr>
          <p:cNvPicPr>
            <a:picLocks noChangeAspect="1"/>
          </p:cNvPicPr>
          <p:nvPr/>
        </p:nvPicPr>
        <p:blipFill>
          <a:blip r:embed="rId2"/>
          <a:stretch>
            <a:fillRect/>
          </a:stretch>
        </p:blipFill>
        <p:spPr>
          <a:xfrm>
            <a:off x="-9266" y="412570"/>
            <a:ext cx="2381250" cy="2314575"/>
          </a:xfrm>
          <a:prstGeom prst="rect">
            <a:avLst/>
          </a:prstGeom>
        </p:spPr>
      </p:pic>
      <p:sp>
        <p:nvSpPr>
          <p:cNvPr id="6" name="Ok: Sağ 5">
            <a:extLst>
              <a:ext uri="{FF2B5EF4-FFF2-40B4-BE49-F238E27FC236}">
                <a16:creationId xmlns:a16="http://schemas.microsoft.com/office/drawing/2014/main" id="{F41EA390-C81E-4702-B232-79E283642779}"/>
              </a:ext>
            </a:extLst>
          </p:cNvPr>
          <p:cNvSpPr/>
          <p:nvPr/>
        </p:nvSpPr>
        <p:spPr>
          <a:xfrm rot="5400000">
            <a:off x="954628" y="3329369"/>
            <a:ext cx="568140"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8" name="Resim 7">
            <a:extLst>
              <a:ext uri="{FF2B5EF4-FFF2-40B4-BE49-F238E27FC236}">
                <a16:creationId xmlns:a16="http://schemas.microsoft.com/office/drawing/2014/main" id="{05BA7D81-2FB1-4A91-A03C-8E9508CACBA7}"/>
              </a:ext>
            </a:extLst>
          </p:cNvPr>
          <p:cNvPicPr>
            <a:picLocks noChangeAspect="1"/>
          </p:cNvPicPr>
          <p:nvPr/>
        </p:nvPicPr>
        <p:blipFill>
          <a:blip r:embed="rId3"/>
          <a:stretch>
            <a:fillRect/>
          </a:stretch>
        </p:blipFill>
        <p:spPr>
          <a:xfrm>
            <a:off x="105223" y="5041348"/>
            <a:ext cx="1133475" cy="1143000"/>
          </a:xfrm>
          <a:prstGeom prst="rect">
            <a:avLst/>
          </a:prstGeom>
        </p:spPr>
      </p:pic>
      <p:pic>
        <p:nvPicPr>
          <p:cNvPr id="10" name="Resim 9">
            <a:extLst>
              <a:ext uri="{FF2B5EF4-FFF2-40B4-BE49-F238E27FC236}">
                <a16:creationId xmlns:a16="http://schemas.microsoft.com/office/drawing/2014/main" id="{00480DD5-5BDE-4474-A767-86255C17A267}"/>
              </a:ext>
            </a:extLst>
          </p:cNvPr>
          <p:cNvPicPr>
            <a:picLocks noChangeAspect="1"/>
          </p:cNvPicPr>
          <p:nvPr/>
        </p:nvPicPr>
        <p:blipFill>
          <a:blip r:embed="rId4"/>
          <a:stretch>
            <a:fillRect/>
          </a:stretch>
        </p:blipFill>
        <p:spPr>
          <a:xfrm>
            <a:off x="1238698" y="4294196"/>
            <a:ext cx="2038350" cy="2305050"/>
          </a:xfrm>
          <a:prstGeom prst="rect">
            <a:avLst/>
          </a:prstGeom>
        </p:spPr>
      </p:pic>
      <p:pic>
        <p:nvPicPr>
          <p:cNvPr id="14" name="Resim 13">
            <a:extLst>
              <a:ext uri="{FF2B5EF4-FFF2-40B4-BE49-F238E27FC236}">
                <a16:creationId xmlns:a16="http://schemas.microsoft.com/office/drawing/2014/main" id="{5EA04712-4466-4086-832F-EAAA195C7E46}"/>
              </a:ext>
            </a:extLst>
          </p:cNvPr>
          <p:cNvPicPr>
            <a:picLocks noChangeAspect="1"/>
          </p:cNvPicPr>
          <p:nvPr/>
        </p:nvPicPr>
        <p:blipFill>
          <a:blip r:embed="rId5"/>
          <a:stretch>
            <a:fillRect/>
          </a:stretch>
        </p:blipFill>
        <p:spPr>
          <a:xfrm>
            <a:off x="3750209" y="5140289"/>
            <a:ext cx="619125" cy="657225"/>
          </a:xfrm>
          <a:prstGeom prst="rect">
            <a:avLst/>
          </a:prstGeom>
        </p:spPr>
      </p:pic>
      <p:cxnSp>
        <p:nvCxnSpPr>
          <p:cNvPr id="16" name="Düz Ok Bağlayıcısı 15">
            <a:extLst>
              <a:ext uri="{FF2B5EF4-FFF2-40B4-BE49-F238E27FC236}">
                <a16:creationId xmlns:a16="http://schemas.microsoft.com/office/drawing/2014/main" id="{38F97418-630C-4C5B-8FCE-6623A7EED324}"/>
              </a:ext>
            </a:extLst>
          </p:cNvPr>
          <p:cNvCxnSpPr/>
          <p:nvPr/>
        </p:nvCxnSpPr>
        <p:spPr>
          <a:xfrm>
            <a:off x="3277048" y="5041348"/>
            <a:ext cx="535973" cy="2303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Düz Ok Bağlayıcısı 17">
            <a:extLst>
              <a:ext uri="{FF2B5EF4-FFF2-40B4-BE49-F238E27FC236}">
                <a16:creationId xmlns:a16="http://schemas.microsoft.com/office/drawing/2014/main" id="{8B5F9B22-A0AF-4DB2-89A0-366EC6E60852}"/>
              </a:ext>
            </a:extLst>
          </p:cNvPr>
          <p:cNvCxnSpPr/>
          <p:nvPr/>
        </p:nvCxnSpPr>
        <p:spPr>
          <a:xfrm flipV="1">
            <a:off x="2577345" y="5612848"/>
            <a:ext cx="1172864" cy="68854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0" name="Resim 19">
            <a:extLst>
              <a:ext uri="{FF2B5EF4-FFF2-40B4-BE49-F238E27FC236}">
                <a16:creationId xmlns:a16="http://schemas.microsoft.com/office/drawing/2014/main" id="{AF054BC3-12D6-439A-A973-11C3B102B1A8}"/>
              </a:ext>
            </a:extLst>
          </p:cNvPr>
          <p:cNvPicPr>
            <a:picLocks noChangeAspect="1"/>
          </p:cNvPicPr>
          <p:nvPr/>
        </p:nvPicPr>
        <p:blipFill>
          <a:blip r:embed="rId6"/>
          <a:stretch>
            <a:fillRect/>
          </a:stretch>
        </p:blipFill>
        <p:spPr>
          <a:xfrm>
            <a:off x="5423623" y="3513444"/>
            <a:ext cx="3429000" cy="3286125"/>
          </a:xfrm>
          <a:prstGeom prst="rect">
            <a:avLst/>
          </a:prstGeom>
        </p:spPr>
      </p:pic>
      <p:sp>
        <p:nvSpPr>
          <p:cNvPr id="22" name="Ok: Sol 21">
            <a:extLst>
              <a:ext uri="{FF2B5EF4-FFF2-40B4-BE49-F238E27FC236}">
                <a16:creationId xmlns:a16="http://schemas.microsoft.com/office/drawing/2014/main" id="{46948810-E8C1-4633-994A-6CF51596815D}"/>
              </a:ext>
            </a:extLst>
          </p:cNvPr>
          <p:cNvSpPr/>
          <p:nvPr/>
        </p:nvSpPr>
        <p:spPr>
          <a:xfrm flipH="1">
            <a:off x="4608477" y="5358064"/>
            <a:ext cx="447340" cy="25478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4" name="Resim 23">
            <a:extLst>
              <a:ext uri="{FF2B5EF4-FFF2-40B4-BE49-F238E27FC236}">
                <a16:creationId xmlns:a16="http://schemas.microsoft.com/office/drawing/2014/main" id="{2E2B9497-E973-4B49-85AB-743E4F1EB634}"/>
              </a:ext>
            </a:extLst>
          </p:cNvPr>
          <p:cNvPicPr>
            <a:picLocks noChangeAspect="1"/>
          </p:cNvPicPr>
          <p:nvPr/>
        </p:nvPicPr>
        <p:blipFill>
          <a:blip r:embed="rId7"/>
          <a:stretch>
            <a:fillRect/>
          </a:stretch>
        </p:blipFill>
        <p:spPr>
          <a:xfrm>
            <a:off x="8599242" y="1791516"/>
            <a:ext cx="3524765" cy="1953088"/>
          </a:xfrm>
          <a:prstGeom prst="rect">
            <a:avLst/>
          </a:prstGeom>
        </p:spPr>
      </p:pic>
      <p:sp>
        <p:nvSpPr>
          <p:cNvPr id="25" name="Ok: Yukarı Bükülü 24">
            <a:extLst>
              <a:ext uri="{FF2B5EF4-FFF2-40B4-BE49-F238E27FC236}">
                <a16:creationId xmlns:a16="http://schemas.microsoft.com/office/drawing/2014/main" id="{55EA1E94-AB64-4EED-9186-D58878E87E79}"/>
              </a:ext>
            </a:extLst>
          </p:cNvPr>
          <p:cNvSpPr/>
          <p:nvPr/>
        </p:nvSpPr>
        <p:spPr>
          <a:xfrm>
            <a:off x="9022992" y="4294196"/>
            <a:ext cx="1524277" cy="755584"/>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6" name="Ok: Sol 25">
            <a:extLst>
              <a:ext uri="{FF2B5EF4-FFF2-40B4-BE49-F238E27FC236}">
                <a16:creationId xmlns:a16="http://schemas.microsoft.com/office/drawing/2014/main" id="{835A3F2E-8BC6-4BBF-A6C8-3F58FD6485F6}"/>
              </a:ext>
            </a:extLst>
          </p:cNvPr>
          <p:cNvSpPr/>
          <p:nvPr/>
        </p:nvSpPr>
        <p:spPr>
          <a:xfrm rot="13037994" flipH="1">
            <a:off x="8270240" y="2133599"/>
            <a:ext cx="841934" cy="179059"/>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8" name="Resim 27">
            <a:extLst>
              <a:ext uri="{FF2B5EF4-FFF2-40B4-BE49-F238E27FC236}">
                <a16:creationId xmlns:a16="http://schemas.microsoft.com/office/drawing/2014/main" id="{8F084957-E84E-4434-A5A3-4F5B68A8AE42}"/>
              </a:ext>
            </a:extLst>
          </p:cNvPr>
          <p:cNvPicPr>
            <a:picLocks noChangeAspect="1"/>
          </p:cNvPicPr>
          <p:nvPr/>
        </p:nvPicPr>
        <p:blipFill>
          <a:blip r:embed="rId8"/>
          <a:stretch>
            <a:fillRect/>
          </a:stretch>
        </p:blipFill>
        <p:spPr>
          <a:xfrm>
            <a:off x="3385779" y="337764"/>
            <a:ext cx="7249242" cy="1095517"/>
          </a:xfrm>
          <a:prstGeom prst="rect">
            <a:avLst/>
          </a:prstGeom>
        </p:spPr>
      </p:pic>
    </p:spTree>
    <p:extLst>
      <p:ext uri="{BB962C8B-B14F-4D97-AF65-F5344CB8AC3E}">
        <p14:creationId xmlns:p14="http://schemas.microsoft.com/office/powerpoint/2010/main" val="3138166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2" grpId="0" animBg="1"/>
      <p:bldP spid="25" grpId="0" animBg="1"/>
      <p:bldP spid="2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5917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6661200"/>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TotalTime>
  <Words>1532</Words>
  <Application>Microsoft Office PowerPoint</Application>
  <PresentationFormat>Geniş ekran</PresentationFormat>
  <Paragraphs>45</Paragraphs>
  <Slides>15</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15</vt:i4>
      </vt:variant>
    </vt:vector>
  </HeadingPairs>
  <TitlesOfParts>
    <vt:vector size="19" baseType="lpstr">
      <vt:lpstr>Arial</vt:lpstr>
      <vt:lpstr>Calibri</vt:lpstr>
      <vt:lpstr>Calibri Light</vt:lpstr>
      <vt:lpstr>Office Teması</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Sau</dc:creator>
  <cp:lastModifiedBy>Sau</cp:lastModifiedBy>
  <cp:revision>17</cp:revision>
  <dcterms:created xsi:type="dcterms:W3CDTF">2023-10-28T14:26:24Z</dcterms:created>
  <dcterms:modified xsi:type="dcterms:W3CDTF">2023-10-28T17:14:23Z</dcterms:modified>
</cp:coreProperties>
</file>