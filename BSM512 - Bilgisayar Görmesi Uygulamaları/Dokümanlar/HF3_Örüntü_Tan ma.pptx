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76" r:id="rId3"/>
    <p:sldId id="277" r:id="rId4"/>
    <p:sldId id="280" r:id="rId5"/>
    <p:sldId id="281" r:id="rId6"/>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928" autoAdjust="0"/>
  </p:normalViewPr>
  <p:slideViewPr>
    <p:cSldViewPr>
      <p:cViewPr varScale="1">
        <p:scale>
          <a:sx n="83" d="100"/>
          <a:sy n="83" d="100"/>
        </p:scale>
        <p:origin x="145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CE2FB0-37A6-4BC6-8F28-8A2085A7A1DB}" type="datetimeFigureOut">
              <a:rPr lang="tr-TR" smtClean="0"/>
              <a:pPr/>
              <a:t>28.02.2025</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EA1258-29E4-4837-9348-0464F2D68BF3}"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71127ED3-14AE-40A1-8199-2252858AB5F9}" type="slidenum">
              <a:rPr lang="tr-TR" smtClean="0"/>
              <a:pPr/>
              <a:t>8</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3">
        <a:schemeClr val="bg1"/>
      </p:bgRef>
    </p:bg>
    <p:spTree>
      <p:nvGrpSpPr>
        <p:cNvPr id="1" name=""/>
        <p:cNvGrpSpPr/>
        <p:nvPr/>
      </p:nvGrpSpPr>
      <p:grpSpPr>
        <a:xfrm>
          <a:off x="0" y="0"/>
          <a:ext cx="0" cy="0"/>
          <a:chOff x="0" y="0"/>
          <a:chExt cx="0" cy="0"/>
        </a:xfrm>
      </p:grpSpPr>
      <p:sp>
        <p:nvSpPr>
          <p:cNvPr id="12" name="11 Dikdörtgen"/>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Yuvarlatılmış Dikdörtgen"/>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Alt Başlık"/>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smtClean="0"/>
              <a:t>Asıl alt başlık stilini düzenlemek için tıklatın</a:t>
            </a:r>
            <a:endParaRPr kumimoji="0" lang="en-US"/>
          </a:p>
        </p:txBody>
      </p:sp>
      <p:sp>
        <p:nvSpPr>
          <p:cNvPr id="28" name="27 Veri Yer Tutucusu"/>
          <p:cNvSpPr>
            <a:spLocks noGrp="1"/>
          </p:cNvSpPr>
          <p:nvPr>
            <p:ph type="dt" sz="half" idx="10"/>
          </p:nvPr>
        </p:nvSpPr>
        <p:spPr/>
        <p:txBody>
          <a:bodyPr/>
          <a:lstStyle/>
          <a:p>
            <a:fld id="{3DC68F96-B969-4787-9EDF-514A66264FB6}" type="datetime1">
              <a:rPr lang="tr-TR" smtClean="0"/>
              <a:pPr/>
              <a:t>28.02.2025</a:t>
            </a:fld>
            <a:endParaRPr lang="tr-TR"/>
          </a:p>
        </p:txBody>
      </p:sp>
      <p:sp>
        <p:nvSpPr>
          <p:cNvPr id="17" name="16 Altbilgi Yer Tutucusu"/>
          <p:cNvSpPr>
            <a:spLocks noGrp="1"/>
          </p:cNvSpPr>
          <p:nvPr>
            <p:ph type="ftr" sz="quarter" idx="11"/>
          </p:nvPr>
        </p:nvSpPr>
        <p:spPr/>
        <p:txBody>
          <a:bodyPr/>
          <a:lstStyle/>
          <a:p>
            <a:endParaRPr lang="tr-TR"/>
          </a:p>
        </p:txBody>
      </p:sp>
      <p:sp>
        <p:nvSpPr>
          <p:cNvPr id="29" name="28 Slayt Numarası Yer Tutucusu"/>
          <p:cNvSpPr>
            <a:spLocks noGrp="1"/>
          </p:cNvSpPr>
          <p:nvPr>
            <p:ph type="sldNum" sz="quarter" idx="12"/>
          </p:nvPr>
        </p:nvSpPr>
        <p:spPr/>
        <p:txBody>
          <a:bodyPr lIns="0" tIns="0" rIns="0" bIns="0">
            <a:noAutofit/>
          </a:bodyPr>
          <a:lstStyle>
            <a:lvl1pPr>
              <a:defRPr sz="1400">
                <a:solidFill>
                  <a:srgbClr val="FFFFFF"/>
                </a:solidFill>
              </a:defRPr>
            </a:lvl1pPr>
          </a:lstStyle>
          <a:p>
            <a:fld id="{D3F2149C-45F2-4E51-8413-2DAB02A1D379}" type="slidenum">
              <a:rPr lang="tr-TR" smtClean="0"/>
              <a:pPr/>
              <a:t>‹#›</a:t>
            </a:fld>
            <a:endParaRPr lang="tr-TR"/>
          </a:p>
        </p:txBody>
      </p:sp>
      <p:sp>
        <p:nvSpPr>
          <p:cNvPr id="7" name="6 Dikdörtgen"/>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Dikdörtgen"/>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ikdörtgen"/>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Başlık"/>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tr-TR" smtClean="0"/>
              <a:t>Asıl başlık stili için tıklatın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4" name="3 Veri Yer Tutucusu"/>
          <p:cNvSpPr>
            <a:spLocks noGrp="1"/>
          </p:cNvSpPr>
          <p:nvPr>
            <p:ph type="dt" sz="half" idx="10"/>
          </p:nvPr>
        </p:nvSpPr>
        <p:spPr/>
        <p:txBody>
          <a:bodyPr/>
          <a:lstStyle/>
          <a:p>
            <a:fld id="{CD8FBD6D-9009-4B8D-B1C1-F8CAA5569023}" type="datetime1">
              <a:rPr lang="tr-TR" smtClean="0"/>
              <a:pPr/>
              <a:t>28.02.2025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
        <p:nvSpPr>
          <p:cNvPr id="8" name="7 İçerik Yer Tutucusu"/>
          <p:cNvSpPr>
            <a:spLocks noGrp="1"/>
          </p:cNvSpPr>
          <p:nvPr>
            <p:ph sz="quarter" idx="1"/>
          </p:nvPr>
        </p:nvSpPr>
        <p:spPr>
          <a:xfrm>
            <a:off x="914400" y="1447800"/>
            <a:ext cx="7772400" cy="45720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3">
        <a:schemeClr val="bg1"/>
      </p:bgRef>
    </p:bg>
    <p:spTree>
      <p:nvGrpSpPr>
        <p:cNvPr id="1" name=""/>
        <p:cNvGrpSpPr/>
        <p:nvPr/>
      </p:nvGrpSpPr>
      <p:grpSpPr>
        <a:xfrm>
          <a:off x="0" y="0"/>
          <a:ext cx="0" cy="0"/>
          <a:chOff x="0" y="0"/>
          <a:chExt cx="0" cy="0"/>
        </a:xfrm>
      </p:grpSpPr>
      <p:sp>
        <p:nvSpPr>
          <p:cNvPr id="11" name="10 Dikdörtgen"/>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Yuvarlatılmış Dikdörtgen"/>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Başlık"/>
          <p:cNvSpPr>
            <a:spLocks noGrp="1"/>
          </p:cNvSpPr>
          <p:nvPr>
            <p:ph type="title"/>
          </p:nvPr>
        </p:nvSpPr>
        <p:spPr>
          <a:xfrm>
            <a:off x="722313" y="952500"/>
            <a:ext cx="7772400" cy="1362075"/>
          </a:xfrm>
        </p:spPr>
        <p:txBody>
          <a:bodyPr anchor="b" anchorCtr="0"/>
          <a:lstStyle>
            <a:lvl1pPr algn="l">
              <a:buNone/>
              <a:defRPr sz="4000" b="0" cap="none"/>
            </a:lvl1pPr>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smtClean="0"/>
              <a:t>Asıl metin stillerini düzenlemek için tıklatın</a:t>
            </a:r>
          </a:p>
        </p:txBody>
      </p:sp>
      <p:sp>
        <p:nvSpPr>
          <p:cNvPr id="4" name="3 Veri Yer Tutucusu"/>
          <p:cNvSpPr>
            <a:spLocks noGrp="1"/>
          </p:cNvSpPr>
          <p:nvPr>
            <p:ph type="dt" sz="half" idx="10"/>
          </p:nvPr>
        </p:nvSpPr>
        <p:spPr/>
        <p:txBody>
          <a:bodyPr/>
          <a:lstStyle/>
          <a:p>
            <a:fld id="{F3164E7F-A71F-4D47-8456-66975A64B102}" type="datetime1">
              <a:rPr lang="tr-TR" smtClean="0"/>
              <a:pPr/>
              <a:t>28.02.2025</a:t>
            </a:fld>
            <a:endParaRPr lang="tr-TR"/>
          </a:p>
        </p:txBody>
      </p:sp>
      <p:sp>
        <p:nvSpPr>
          <p:cNvPr id="5" name="4 Altbilgi Yer Tutucusu"/>
          <p:cNvSpPr>
            <a:spLocks noGrp="1"/>
          </p:cNvSpPr>
          <p:nvPr>
            <p:ph type="ftr" sz="quarter" idx="11"/>
          </p:nvPr>
        </p:nvSpPr>
        <p:spPr>
          <a:xfrm>
            <a:off x="800100" y="6172200"/>
            <a:ext cx="4000500" cy="457200"/>
          </a:xfrm>
        </p:spPr>
        <p:txBody>
          <a:bodyPr/>
          <a:lstStyle/>
          <a:p>
            <a:endParaRPr lang="tr-TR"/>
          </a:p>
        </p:txBody>
      </p:sp>
      <p:sp>
        <p:nvSpPr>
          <p:cNvPr id="7" name="6 Dikdörtgen"/>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Dikdörtgen"/>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Dikdörtgen"/>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Slayt Numarası Yer Tutucusu"/>
          <p:cNvSpPr>
            <a:spLocks noGrp="1"/>
          </p:cNvSpPr>
          <p:nvPr>
            <p:ph type="sldNum" sz="quarter" idx="12"/>
          </p:nvPr>
        </p:nvSpPr>
        <p:spPr>
          <a:xfrm>
            <a:off x="146304" y="6208776"/>
            <a:ext cx="457200" cy="457200"/>
          </a:xfrm>
        </p:spPr>
        <p:txBody>
          <a:bodyPr/>
          <a:lstStyle/>
          <a:p>
            <a:fld id="{D3F2149C-45F2-4E51-8413-2DAB02A1D379}"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5" name="4 Veri Yer Tutucusu"/>
          <p:cNvSpPr>
            <a:spLocks noGrp="1"/>
          </p:cNvSpPr>
          <p:nvPr>
            <p:ph type="dt" sz="half" idx="10"/>
          </p:nvPr>
        </p:nvSpPr>
        <p:spPr/>
        <p:txBody>
          <a:bodyPr/>
          <a:lstStyle/>
          <a:p>
            <a:fld id="{CCADEA29-5331-4139-9BDE-FC1BAD500AF5}" type="datetime1">
              <a:rPr lang="tr-TR" smtClean="0"/>
              <a:pPr/>
              <a:t>28.02.2025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
        <p:nvSpPr>
          <p:cNvPr id="9" name="8 İçerik Yer Tutucusu"/>
          <p:cNvSpPr>
            <a:spLocks noGrp="1"/>
          </p:cNvSpPr>
          <p:nvPr>
            <p:ph sz="quarter" idx="1"/>
          </p:nvPr>
        </p:nvSpPr>
        <p:spPr>
          <a:xfrm>
            <a:off x="914400" y="1447800"/>
            <a:ext cx="3749040" cy="45720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11" name="10 İçerik Yer Tutucusu"/>
          <p:cNvSpPr>
            <a:spLocks noGrp="1"/>
          </p:cNvSpPr>
          <p:nvPr>
            <p:ph sz="quarter" idx="2"/>
          </p:nvPr>
        </p:nvSpPr>
        <p:spPr>
          <a:xfrm>
            <a:off x="4933950" y="1447800"/>
            <a:ext cx="3749040" cy="45720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914400" y="273050"/>
            <a:ext cx="7772400" cy="1143000"/>
          </a:xfrm>
        </p:spPr>
        <p:txBody>
          <a:bodyPr anchor="b" anchorCtr="0"/>
          <a:lstStyle>
            <a:lvl1pPr>
              <a:defRPr/>
            </a:lvl1pPr>
          </a:lstStyle>
          <a:p>
            <a:r>
              <a:rPr kumimoji="0" lang="tr-TR" smtClean="0"/>
              <a:t>Asıl başlık stili için tıklatın</a:t>
            </a:r>
            <a:endParaRPr kumimoji="0" lang="en-US"/>
          </a:p>
        </p:txBody>
      </p:sp>
      <p:sp>
        <p:nvSpPr>
          <p:cNvPr id="3" name="2 Metin Yer Tutucusu"/>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p>
        </p:txBody>
      </p:sp>
      <p:sp>
        <p:nvSpPr>
          <p:cNvPr id="4" name="3 Metin Yer Tutucusu"/>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tr-TR" smtClean="0"/>
              <a:t>Asıl metin stillerini düzenlemek için tıklatın</a:t>
            </a:r>
          </a:p>
        </p:txBody>
      </p:sp>
      <p:sp>
        <p:nvSpPr>
          <p:cNvPr id="7" name="6 Veri Yer Tutucusu"/>
          <p:cNvSpPr>
            <a:spLocks noGrp="1"/>
          </p:cNvSpPr>
          <p:nvPr>
            <p:ph type="dt" sz="half" idx="10"/>
          </p:nvPr>
        </p:nvSpPr>
        <p:spPr/>
        <p:txBody>
          <a:bodyPr/>
          <a:lstStyle/>
          <a:p>
            <a:fld id="{CE777790-F3A2-40E0-B39E-F7349624BFF0}" type="datetime1">
              <a:rPr lang="tr-TR" smtClean="0"/>
              <a:pPr/>
              <a:t>28.02.2025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
        <p:nvSpPr>
          <p:cNvPr id="11" name="10 İçerik Yer Tutucusu"/>
          <p:cNvSpPr>
            <a:spLocks noGrp="1"/>
          </p:cNvSpPr>
          <p:nvPr>
            <p:ph sz="half" idx="2"/>
          </p:nvPr>
        </p:nvSpPr>
        <p:spPr>
          <a:xfrm>
            <a:off x="914400" y="2247900"/>
            <a:ext cx="3733800" cy="38862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13" name="12 İçerik Yer Tutucusu"/>
          <p:cNvSpPr>
            <a:spLocks noGrp="1"/>
          </p:cNvSpPr>
          <p:nvPr>
            <p:ph sz="half" idx="4"/>
          </p:nvPr>
        </p:nvSpPr>
        <p:spPr>
          <a:xfrm>
            <a:off x="4953000" y="2247900"/>
            <a:ext cx="3733800" cy="38862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3" name="2 Veri Yer Tutucusu"/>
          <p:cNvSpPr>
            <a:spLocks noGrp="1"/>
          </p:cNvSpPr>
          <p:nvPr>
            <p:ph type="dt" sz="half" idx="10"/>
          </p:nvPr>
        </p:nvSpPr>
        <p:spPr/>
        <p:txBody>
          <a:bodyPr/>
          <a:lstStyle/>
          <a:p>
            <a:fld id="{8D89BEAB-8771-4A70-BF93-0241FBA0707E}" type="datetime1">
              <a:rPr lang="tr-TR" smtClean="0"/>
              <a:pPr/>
              <a:t>28.02.2025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9D17E9D2-6F88-4675-A9FC-140D1199DD0F}" type="datetime1">
              <a:rPr lang="tr-TR" smtClean="0"/>
              <a:pPr/>
              <a:t>28.02.2025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8" name="7 Dikdörtgen"/>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Yuvarlatılmış Dikdörtgen"/>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Başlık"/>
          <p:cNvSpPr>
            <a:spLocks noGrp="1"/>
          </p:cNvSpPr>
          <p:nvPr>
            <p:ph type="title"/>
          </p:nvPr>
        </p:nvSpPr>
        <p:spPr>
          <a:xfrm>
            <a:off x="914400" y="273050"/>
            <a:ext cx="7772400" cy="1143000"/>
          </a:xfrm>
        </p:spPr>
        <p:txBody>
          <a:bodyPr anchor="b" anchorCtr="0"/>
          <a:lstStyle>
            <a:lvl1pPr algn="l">
              <a:buNone/>
              <a:defRPr sz="4000" b="0"/>
            </a:lvl1pPr>
          </a:lstStyle>
          <a:p>
            <a:r>
              <a:rPr kumimoji="0" lang="tr-TR" smtClean="0"/>
              <a:t>Asıl başlık stili için tıklatın</a:t>
            </a:r>
            <a:endParaRPr kumimoji="0" lang="en-US"/>
          </a:p>
        </p:txBody>
      </p:sp>
      <p:sp>
        <p:nvSpPr>
          <p:cNvPr id="3" name="2 Metin Yer Tutucusu"/>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tr-TR" smtClean="0"/>
              <a:t>Asıl metin stillerini düzenlemek için tıklatın</a:t>
            </a:r>
          </a:p>
        </p:txBody>
      </p:sp>
      <p:sp>
        <p:nvSpPr>
          <p:cNvPr id="5" name="4 Veri Yer Tutucusu"/>
          <p:cNvSpPr>
            <a:spLocks noGrp="1"/>
          </p:cNvSpPr>
          <p:nvPr>
            <p:ph type="dt" sz="half" idx="10"/>
          </p:nvPr>
        </p:nvSpPr>
        <p:spPr/>
        <p:txBody>
          <a:bodyPr/>
          <a:lstStyle/>
          <a:p>
            <a:fld id="{A31C2BE2-EE0B-45FF-B54E-94F8D7161365}" type="datetime1">
              <a:rPr lang="tr-TR" smtClean="0"/>
              <a:pPr/>
              <a:t>28.02.2025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
        <p:nvSpPr>
          <p:cNvPr id="11" name="10 İçerik Yer Tutucusu"/>
          <p:cNvSpPr>
            <a:spLocks noGrp="1"/>
          </p:cNvSpPr>
          <p:nvPr>
            <p:ph sz="quarter" idx="1"/>
          </p:nvPr>
        </p:nvSpPr>
        <p:spPr>
          <a:xfrm>
            <a:off x="2971800" y="1600200"/>
            <a:ext cx="5715000" cy="4495800"/>
          </a:xfrm>
        </p:spPr>
        <p:txBody>
          <a:bodyPr vert="horz"/>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914400" y="4900550"/>
            <a:ext cx="7315200" cy="522288"/>
          </a:xfrm>
        </p:spPr>
        <p:txBody>
          <a:bodyPr anchor="ctr">
            <a:noAutofit/>
          </a:bodyPr>
          <a:lstStyle>
            <a:lvl1pPr algn="l">
              <a:buNone/>
              <a:defRPr sz="2800" b="0"/>
            </a:lvl1pPr>
          </a:lstStyle>
          <a:p>
            <a:r>
              <a:rPr kumimoji="0" lang="tr-TR" smtClean="0"/>
              <a:t>Asıl başlık stili için tıklatın</a:t>
            </a:r>
            <a:endParaRPr kumimoji="0" lang="en-US"/>
          </a:p>
        </p:txBody>
      </p:sp>
      <p:sp>
        <p:nvSpPr>
          <p:cNvPr id="4" name="3 Metin Yer Tutucusu"/>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tr-TR" smtClean="0"/>
              <a:t>Asıl metin stillerini düzenlemek için tıklatın</a:t>
            </a:r>
          </a:p>
        </p:txBody>
      </p:sp>
      <p:sp>
        <p:nvSpPr>
          <p:cNvPr id="5" name="4 Veri Yer Tutucusu"/>
          <p:cNvSpPr>
            <a:spLocks noGrp="1"/>
          </p:cNvSpPr>
          <p:nvPr>
            <p:ph type="dt" sz="half" idx="10"/>
          </p:nvPr>
        </p:nvSpPr>
        <p:spPr/>
        <p:txBody>
          <a:bodyPr/>
          <a:lstStyle/>
          <a:p>
            <a:fld id="{43BAD783-AB7D-4AD0-A448-B104A6EB9CAB}" type="datetime1">
              <a:rPr lang="tr-TR" smtClean="0"/>
              <a:pPr/>
              <a:t>28.02.2025</a:t>
            </a:fld>
            <a:endParaRPr lang="tr-TR"/>
          </a:p>
        </p:txBody>
      </p:sp>
      <p:sp>
        <p:nvSpPr>
          <p:cNvPr id="6" name="5 Altbilgi Yer Tutucusu"/>
          <p:cNvSpPr>
            <a:spLocks noGrp="1"/>
          </p:cNvSpPr>
          <p:nvPr>
            <p:ph type="ftr" sz="quarter" idx="11"/>
          </p:nvPr>
        </p:nvSpPr>
        <p:spPr>
          <a:xfrm>
            <a:off x="914400" y="6172200"/>
            <a:ext cx="3886200" cy="457200"/>
          </a:xfrm>
        </p:spPr>
        <p:txBody>
          <a:bodyPr/>
          <a:lstStyle/>
          <a:p>
            <a:endParaRPr lang="tr-TR"/>
          </a:p>
        </p:txBody>
      </p:sp>
      <p:sp>
        <p:nvSpPr>
          <p:cNvPr id="7" name="6 Slayt Numarası Yer Tutucusu"/>
          <p:cNvSpPr>
            <a:spLocks noGrp="1"/>
          </p:cNvSpPr>
          <p:nvPr>
            <p:ph type="sldNum" sz="quarter" idx="12"/>
          </p:nvPr>
        </p:nvSpPr>
        <p:spPr>
          <a:xfrm>
            <a:off x="146304" y="6208776"/>
            <a:ext cx="457200" cy="457200"/>
          </a:xfrm>
        </p:spPr>
        <p:txBody>
          <a:bodyPr/>
          <a:lstStyle/>
          <a:p>
            <a:fld id="{D3F2149C-45F2-4E51-8413-2DAB02A1D379}" type="slidenum">
              <a:rPr lang="tr-TR" smtClean="0"/>
              <a:pPr/>
              <a:t>‹#›</a:t>
            </a:fld>
            <a:endParaRPr lang="tr-TR"/>
          </a:p>
        </p:txBody>
      </p:sp>
      <p:sp>
        <p:nvSpPr>
          <p:cNvPr id="11" name="10 Dikdörtgen"/>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ikdörtgen"/>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Resim Yer Tutucusu"/>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tr-TR" smtClean="0"/>
              <a:t>Resim eklemek için simgeyi tıklatın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54B76CE0-6774-4B69-8E4A-5A4F54A62E5E}" type="datetime1">
              <a:rPr lang="tr-TR" smtClean="0"/>
              <a:pPr/>
              <a:t>28.02.2025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41"/>
            <a:ext cx="2011680" cy="5851525"/>
          </a:xfrm>
        </p:spPr>
        <p:txBody>
          <a:bodyPr vert="eaVert"/>
          <a:lstStyle/>
          <a:p>
            <a:r>
              <a:rPr kumimoji="0" lang="tr-TR" smtClean="0"/>
              <a:t>Asıl başlık stili için tıklatın</a:t>
            </a:r>
            <a:endParaRPr kumimoji="0" lang="en-US"/>
          </a:p>
        </p:txBody>
      </p:sp>
      <p:sp>
        <p:nvSpPr>
          <p:cNvPr id="3" name="2 Dikey Metin Yer Tutucusu"/>
          <p:cNvSpPr>
            <a:spLocks noGrp="1"/>
          </p:cNvSpPr>
          <p:nvPr>
            <p:ph type="body" orient="vert" idx="1"/>
          </p:nvPr>
        </p:nvSpPr>
        <p:spPr>
          <a:xfrm>
            <a:off x="914400" y="274640"/>
            <a:ext cx="5562600" cy="5851525"/>
          </a:xfrm>
        </p:spPr>
        <p:txBody>
          <a:bodyPr vert="eaVer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3 Veri Yer Tutucusu"/>
          <p:cNvSpPr>
            <a:spLocks noGrp="1"/>
          </p:cNvSpPr>
          <p:nvPr>
            <p:ph type="dt" sz="half" idx="10"/>
          </p:nvPr>
        </p:nvSpPr>
        <p:spPr/>
        <p:txBody>
          <a:bodyPr/>
          <a:lstStyle/>
          <a:p>
            <a:fld id="{AA3EA770-C00B-4777-A341-A7566533CF23}" type="datetime1">
              <a:rPr lang="tr-TR" smtClean="0"/>
              <a:pPr/>
              <a:t>28.02.2025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3F2149C-45F2-4E51-8413-2DAB02A1D379}" type="slidenum">
              <a:rPr lang="tr-TR" smtClean="0"/>
              <a:pPr/>
              <a:t>‹#›</a:t>
            </a:fld>
            <a:endParaRPr lang="tr-T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İçerik">
    <p:spTree>
      <p:nvGrpSpPr>
        <p:cNvPr id="1" name=""/>
        <p:cNvGrpSpPr/>
        <p:nvPr/>
      </p:nvGrpSpPr>
      <p:grpSpPr>
        <a:xfrm>
          <a:off x="0" y="0"/>
          <a:ext cx="0" cy="0"/>
          <a:chOff x="0" y="0"/>
          <a:chExt cx="0" cy="0"/>
        </a:xfrm>
      </p:grpSpPr>
      <p:sp>
        <p:nvSpPr>
          <p:cNvPr id="2" name="1 İçerik Yer Tutucusu"/>
          <p:cNvSpPr>
            <a:spLocks noGrp="1"/>
          </p:cNvSpPr>
          <p:nvPr>
            <p:ph/>
          </p:nvPr>
        </p:nvSpPr>
        <p:spPr>
          <a:xfrm>
            <a:off x="457200" y="274638"/>
            <a:ext cx="8229600" cy="5851525"/>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3" name="Rectangle 4"/>
          <p:cNvSpPr>
            <a:spLocks noGrp="1" noChangeArrowheads="1"/>
          </p:cNvSpPr>
          <p:nvPr>
            <p:ph type="dt" sz="half" idx="10"/>
          </p:nvPr>
        </p:nvSpPr>
        <p:spPr>
          <a:ln/>
        </p:spPr>
        <p:txBody>
          <a:bodyPr/>
          <a:lstStyle>
            <a:lvl1pPr>
              <a:defRPr/>
            </a:lvl1pPr>
          </a:lstStyle>
          <a:p>
            <a:pPr>
              <a:defRPr/>
            </a:pPr>
            <a:endParaRPr lang="tr-TR"/>
          </a:p>
        </p:txBody>
      </p:sp>
      <p:sp>
        <p:nvSpPr>
          <p:cNvPr id="4" name="Rectangle 5"/>
          <p:cNvSpPr>
            <a:spLocks noGrp="1" noChangeArrowheads="1"/>
          </p:cNvSpPr>
          <p:nvPr>
            <p:ph type="ftr" sz="quarter" idx="11"/>
          </p:nvPr>
        </p:nvSpPr>
        <p:spPr>
          <a:ln/>
        </p:spPr>
        <p:txBody>
          <a:bodyPr/>
          <a:lstStyle>
            <a:lvl1pPr>
              <a:defRPr/>
            </a:lvl1pPr>
          </a:lstStyle>
          <a:p>
            <a:pPr>
              <a:defRPr/>
            </a:pPr>
            <a:endParaRPr lang="tr-TR"/>
          </a:p>
        </p:txBody>
      </p:sp>
      <p:sp>
        <p:nvSpPr>
          <p:cNvPr id="5" name="Rectangle 6"/>
          <p:cNvSpPr>
            <a:spLocks noGrp="1" noChangeArrowheads="1"/>
          </p:cNvSpPr>
          <p:nvPr>
            <p:ph type="sldNum" sz="quarter" idx="12"/>
          </p:nvPr>
        </p:nvSpPr>
        <p:spPr>
          <a:ln/>
        </p:spPr>
        <p:txBody>
          <a:bodyPr/>
          <a:lstStyle>
            <a:lvl1pPr>
              <a:defRPr/>
            </a:lvl1pPr>
          </a:lstStyle>
          <a:p>
            <a:pPr>
              <a:defRPr/>
            </a:pPr>
            <a:fld id="{F4BA7FDF-96E8-42B4-ACF3-BBD69EA2CA8B}" type="slidenum">
              <a:rPr lang="tr-TR"/>
              <a:pPr>
                <a:defRPr/>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Dikdörtgen"/>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Yuvarlatılmış Dikdörtgen"/>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Başlık Yer Tutucusu"/>
          <p:cNvSpPr>
            <a:spLocks noGrp="1"/>
          </p:cNvSpPr>
          <p:nvPr>
            <p:ph type="title"/>
          </p:nvPr>
        </p:nvSpPr>
        <p:spPr>
          <a:xfrm>
            <a:off x="914400" y="274638"/>
            <a:ext cx="7772400" cy="1143000"/>
          </a:xfrm>
          <a:prstGeom prst="rect">
            <a:avLst/>
          </a:prstGeom>
        </p:spPr>
        <p:txBody>
          <a:bodyPr bIns="91440" anchor="b" anchorCtr="0">
            <a:normAutofit/>
          </a:bodyPr>
          <a:lstStyle/>
          <a:p>
            <a:r>
              <a:rPr kumimoji="0" lang="tr-TR" smtClean="0"/>
              <a:t>Asıl başlık stili için tıklatın</a:t>
            </a:r>
            <a:endParaRPr kumimoji="0" lang="en-US"/>
          </a:p>
        </p:txBody>
      </p:sp>
      <p:sp>
        <p:nvSpPr>
          <p:cNvPr id="13" name="12 Metin Yer Tutucusu"/>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tr-TR" smtClean="0"/>
              <a:t>Asıl metin stillerini düzenlemek için tıklatın</a:t>
            </a:r>
          </a:p>
          <a:p>
            <a:pPr lvl="1" eaLnBrk="1" latinLnBrk="0" hangingPunct="1"/>
            <a:r>
              <a:rPr kumimoji="0" lang="tr-TR" smtClean="0"/>
              <a:t>İkinci düzey</a:t>
            </a:r>
          </a:p>
          <a:p>
            <a:pPr lvl="2" eaLnBrk="1" latinLnBrk="0" hangingPunct="1"/>
            <a:r>
              <a:rPr kumimoji="0" lang="tr-TR" smtClean="0"/>
              <a:t>Üçüncü düzey</a:t>
            </a:r>
          </a:p>
          <a:p>
            <a:pPr lvl="3" eaLnBrk="1" latinLnBrk="0" hangingPunct="1"/>
            <a:r>
              <a:rPr kumimoji="0" lang="tr-TR" smtClean="0"/>
              <a:t>Dördüncü düzey</a:t>
            </a:r>
          </a:p>
          <a:p>
            <a:pPr lvl="4" eaLnBrk="1" latinLnBrk="0" hangingPunct="1"/>
            <a:r>
              <a:rPr kumimoji="0" lang="tr-TR" smtClean="0"/>
              <a:t>Beşinci düzey</a:t>
            </a:r>
            <a:endParaRPr kumimoji="0" lang="en-US"/>
          </a:p>
        </p:txBody>
      </p:sp>
      <p:sp>
        <p:nvSpPr>
          <p:cNvPr id="14" name="13 Veri Yer Tutucusu"/>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F62B318-6748-4702-9B0B-B2368C2609A9}" type="datetime1">
              <a:rPr lang="tr-TR" smtClean="0"/>
              <a:pPr/>
              <a:t>28.02.2025</a:t>
            </a:fld>
            <a:endParaRPr lang="tr-TR"/>
          </a:p>
        </p:txBody>
      </p:sp>
      <p:sp>
        <p:nvSpPr>
          <p:cNvPr id="3" name="2 Altbilgi Yer Tutucusu"/>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tr-TR"/>
          </a:p>
        </p:txBody>
      </p:sp>
      <p:sp>
        <p:nvSpPr>
          <p:cNvPr id="23" name="22 Slayt Numarası Yer Tutucusu"/>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3F2149C-45F2-4E51-8413-2DAB02A1D379}"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4.wmf"/><Relationship Id="rId5" Type="http://schemas.openxmlformats.org/officeDocument/2006/relationships/oleObject" Target="../embeddings/oleObject2.bin"/><Relationship Id="rId4"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1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Slayt Numarası Yer Tutucusu"/>
          <p:cNvSpPr>
            <a:spLocks noGrp="1"/>
          </p:cNvSpPr>
          <p:nvPr>
            <p:ph type="sldNum" sz="quarter" idx="12"/>
          </p:nvPr>
        </p:nvSpPr>
        <p:spPr/>
        <p:txBody>
          <a:bodyPr/>
          <a:lstStyle/>
          <a:p>
            <a:fld id="{D3F2149C-45F2-4E51-8413-2DAB02A1D379}" type="slidenum">
              <a:rPr lang="tr-TR" smtClean="0"/>
              <a:pPr/>
              <a:t>1</a:t>
            </a:fld>
            <a:endParaRPr lang="tr-TR"/>
          </a:p>
        </p:txBody>
      </p:sp>
      <p:sp>
        <p:nvSpPr>
          <p:cNvPr id="6" name="2 Alt Başlık"/>
          <p:cNvSpPr txBox="1">
            <a:spLocks/>
          </p:cNvSpPr>
          <p:nvPr/>
        </p:nvSpPr>
        <p:spPr>
          <a:xfrm>
            <a:off x="1447800" y="3614750"/>
            <a:ext cx="6400800" cy="1600200"/>
          </a:xfrm>
          <a:prstGeom prst="rect">
            <a:avLst/>
          </a:prstGeom>
        </p:spPr>
        <p:txBody>
          <a:bodyPr>
            <a:normAutofit/>
          </a:bodyPr>
          <a:lstStyle/>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tr-TR" sz="2600" b="0" i="0" u="none" strike="noStrike" kern="1200" cap="none" spc="0" normalizeH="0" baseline="0" noProof="0" dirty="0" smtClean="0">
                <a:ln>
                  <a:noFill/>
                </a:ln>
                <a:solidFill>
                  <a:schemeClr val="tx2"/>
                </a:solidFill>
                <a:effectLst/>
                <a:uLnTx/>
                <a:uFillTx/>
                <a:latin typeface="+mn-lt"/>
                <a:ea typeface="+mn-ea"/>
                <a:cs typeface="+mn-cs"/>
              </a:rPr>
              <a:t>Hafta 3:  Yapısal Yöntemler</a:t>
            </a:r>
          </a:p>
          <a:p>
            <a:pPr marL="0" marR="0" lvl="0" indent="0" algn="ctr" defTabSz="914400" rtl="0" eaLnBrk="1" fontAlgn="auto" latinLnBrk="0" hangingPunct="1">
              <a:lnSpc>
                <a:spcPct val="100000"/>
              </a:lnSpc>
              <a:spcBef>
                <a:spcPts val="580"/>
              </a:spcBef>
              <a:spcAft>
                <a:spcPts val="0"/>
              </a:spcAft>
              <a:buClr>
                <a:schemeClr val="accent1"/>
              </a:buClr>
              <a:buSzPct val="85000"/>
              <a:buFont typeface="Wingdings 2"/>
              <a:buNone/>
              <a:tabLst/>
              <a:defRPr/>
            </a:pPr>
            <a:r>
              <a:rPr kumimoji="0" lang="tr-TR" sz="2600" b="0" i="0" u="none" strike="noStrike" kern="1200" cap="none" spc="0" normalizeH="0" baseline="0" noProof="0" dirty="0" smtClean="0">
                <a:ln>
                  <a:noFill/>
                </a:ln>
                <a:solidFill>
                  <a:schemeClr val="tx2"/>
                </a:solidFill>
                <a:effectLst/>
                <a:uLnTx/>
                <a:uFillTx/>
                <a:latin typeface="+mn-lt"/>
                <a:ea typeface="+mn-ea"/>
                <a:cs typeface="+mn-cs"/>
              </a:rPr>
              <a:t>Dr. </a:t>
            </a:r>
            <a:r>
              <a:rPr kumimoji="0" lang="tr-TR" sz="2600" b="0" i="0" u="none" strike="noStrike" kern="1200" cap="none" spc="0" normalizeH="0" baseline="0" noProof="0" dirty="0" err="1" smtClean="0">
                <a:ln>
                  <a:noFill/>
                </a:ln>
                <a:solidFill>
                  <a:schemeClr val="tx2"/>
                </a:solidFill>
                <a:effectLst/>
                <a:uLnTx/>
                <a:uFillTx/>
                <a:latin typeface="+mn-lt"/>
                <a:ea typeface="+mn-ea"/>
                <a:cs typeface="+mn-cs"/>
              </a:rPr>
              <a:t>Öğr</a:t>
            </a:r>
            <a:r>
              <a:rPr kumimoji="0" lang="tr-TR" sz="2600" b="0" i="0" u="none" strike="noStrike" kern="1200" cap="none" spc="0" normalizeH="0" baseline="0" noProof="0" dirty="0" smtClean="0">
                <a:ln>
                  <a:noFill/>
                </a:ln>
                <a:solidFill>
                  <a:schemeClr val="tx2"/>
                </a:solidFill>
                <a:effectLst/>
                <a:uLnTx/>
                <a:uFillTx/>
                <a:latin typeface="+mn-lt"/>
                <a:ea typeface="+mn-ea"/>
                <a:cs typeface="+mn-cs"/>
              </a:rPr>
              <a:t>. Üyesi Serap </a:t>
            </a:r>
            <a:r>
              <a:rPr kumimoji="0" lang="tr-TR" sz="2600" b="0" i="0" u="none" strike="noStrike" kern="1200" cap="none" spc="0" normalizeH="0" baseline="0" noProof="0" dirty="0" smtClean="0">
                <a:ln>
                  <a:noFill/>
                </a:ln>
                <a:solidFill>
                  <a:schemeClr val="tx2"/>
                </a:solidFill>
                <a:effectLst/>
                <a:uLnTx/>
                <a:uFillTx/>
                <a:latin typeface="+mn-lt"/>
                <a:ea typeface="+mn-ea"/>
                <a:cs typeface="+mn-cs"/>
              </a:rPr>
              <a:t>ÇAKAR KAMAN </a:t>
            </a:r>
            <a:endParaRPr kumimoji="0" lang="tr-TR" sz="2600" b="0" i="0" u="none" strike="noStrike" kern="1200" cap="none" spc="0" normalizeH="0" baseline="0" noProof="0" dirty="0">
              <a:ln>
                <a:noFill/>
              </a:ln>
              <a:solidFill>
                <a:schemeClr val="tx2"/>
              </a:solidFill>
              <a:effectLst/>
              <a:uLnTx/>
              <a:uFillTx/>
              <a:latin typeface="+mn-lt"/>
              <a:ea typeface="+mn-ea"/>
              <a:cs typeface="+mn-cs"/>
            </a:endParaRPr>
          </a:p>
        </p:txBody>
      </p:sp>
      <p:sp>
        <p:nvSpPr>
          <p:cNvPr id="7" name="6 Başlık"/>
          <p:cNvSpPr>
            <a:spLocks noGrp="1"/>
          </p:cNvSpPr>
          <p:nvPr>
            <p:ph type="ctrTitle"/>
          </p:nvPr>
        </p:nvSpPr>
        <p:spPr>
          <a:xfrm>
            <a:off x="357158" y="1500174"/>
            <a:ext cx="8229600" cy="1470025"/>
          </a:xfrm>
        </p:spPr>
        <p:txBody>
          <a:bodyPr/>
          <a:lstStyle/>
          <a:p>
            <a:pPr lvl="0"/>
            <a:r>
              <a:rPr lang="tr-TR" dirty="0" smtClean="0"/>
              <a:t>Örüntü Tanıma </a:t>
            </a:r>
            <a:endParaRPr lang="tr-T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Örüntü </a:t>
            </a:r>
            <a:r>
              <a:rPr lang="tr-TR" dirty="0" err="1" smtClean="0"/>
              <a:t>Tanima</a:t>
            </a:r>
            <a:r>
              <a:rPr lang="tr-TR" dirty="0" smtClean="0"/>
              <a:t> Sistemlerinin Sınıflandırılması</a:t>
            </a:r>
            <a:endParaRPr lang="tr-TR" dirty="0"/>
          </a:p>
        </p:txBody>
      </p:sp>
      <p:sp>
        <p:nvSpPr>
          <p:cNvPr id="4" name="3 Slayt Numarası Yer Tutucusu"/>
          <p:cNvSpPr>
            <a:spLocks noGrp="1"/>
          </p:cNvSpPr>
          <p:nvPr>
            <p:ph type="sldNum" sz="quarter" idx="12"/>
          </p:nvPr>
        </p:nvSpPr>
        <p:spPr/>
        <p:txBody>
          <a:bodyPr/>
          <a:lstStyle/>
          <a:p>
            <a:fld id="{D3F2149C-45F2-4E51-8413-2DAB02A1D379}" type="slidenum">
              <a:rPr lang="tr-TR" smtClean="0"/>
              <a:pPr/>
              <a:t>2</a:t>
            </a:fld>
            <a:endParaRPr lang="tr-TR"/>
          </a:p>
        </p:txBody>
      </p:sp>
      <p:sp>
        <p:nvSpPr>
          <p:cNvPr id="3" name="2 İçerik Yer Tutucusu"/>
          <p:cNvSpPr>
            <a:spLocks noGrp="1"/>
          </p:cNvSpPr>
          <p:nvPr>
            <p:ph sz="quarter" idx="1"/>
          </p:nvPr>
        </p:nvSpPr>
        <p:spPr>
          <a:xfrm>
            <a:off x="457200" y="1600200"/>
            <a:ext cx="7901014" cy="4873752"/>
          </a:xfrm>
        </p:spPr>
        <p:txBody>
          <a:bodyPr>
            <a:normAutofit/>
          </a:bodyPr>
          <a:lstStyle/>
          <a:p>
            <a:pPr>
              <a:buNone/>
            </a:pPr>
            <a:r>
              <a:rPr lang="tr-TR" b="1" dirty="0" smtClean="0"/>
              <a:t>	1. İstatistiksel örüntü tanıma : </a:t>
            </a:r>
            <a:r>
              <a:rPr lang="tr-TR" dirty="0" smtClean="0"/>
              <a:t>İstatistiksel örüntü tanıma yönteminde, sınıflama algoritmaları istatistiksel analiz üzerine kurulmuştur. İstatistiksel örüntü tanıma </a:t>
            </a:r>
            <a:r>
              <a:rPr lang="tr-TR" b="1" dirty="0" err="1" smtClean="0"/>
              <a:t>Bayes</a:t>
            </a:r>
            <a:r>
              <a:rPr lang="tr-TR" b="1" dirty="0" smtClean="0"/>
              <a:t> Karar Teorisi </a:t>
            </a:r>
            <a:r>
              <a:rPr lang="tr-TR" dirty="0" smtClean="0"/>
              <a:t>üzerine kurulmuş olup, uzun bir geçmişe sahiptirler.</a:t>
            </a:r>
            <a:endParaRPr lang="tr-TR"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Örüntü </a:t>
            </a:r>
            <a:r>
              <a:rPr lang="tr-TR" dirty="0" err="1" smtClean="0"/>
              <a:t>Tanima</a:t>
            </a:r>
            <a:r>
              <a:rPr lang="tr-TR" dirty="0" smtClean="0"/>
              <a:t> Sistemlerinin Sınıflandırılması</a:t>
            </a:r>
            <a:endParaRPr lang="tr-TR" dirty="0"/>
          </a:p>
        </p:txBody>
      </p:sp>
      <p:sp>
        <p:nvSpPr>
          <p:cNvPr id="4" name="3 Slayt Numarası Yer Tutucusu"/>
          <p:cNvSpPr>
            <a:spLocks noGrp="1"/>
          </p:cNvSpPr>
          <p:nvPr>
            <p:ph type="sldNum" sz="quarter" idx="12"/>
          </p:nvPr>
        </p:nvSpPr>
        <p:spPr/>
        <p:txBody>
          <a:bodyPr/>
          <a:lstStyle/>
          <a:p>
            <a:fld id="{D3F2149C-45F2-4E51-8413-2DAB02A1D379}" type="slidenum">
              <a:rPr lang="tr-TR" smtClean="0"/>
              <a:pPr/>
              <a:t>3</a:t>
            </a:fld>
            <a:endParaRPr lang="tr-TR"/>
          </a:p>
        </p:txBody>
      </p:sp>
      <p:sp>
        <p:nvSpPr>
          <p:cNvPr id="3" name="2 İçerik Yer Tutucusu"/>
          <p:cNvSpPr>
            <a:spLocks noGrp="1"/>
          </p:cNvSpPr>
          <p:nvPr>
            <p:ph sz="quarter" idx="1"/>
          </p:nvPr>
        </p:nvSpPr>
        <p:spPr/>
        <p:txBody>
          <a:bodyPr>
            <a:normAutofit/>
          </a:bodyPr>
          <a:lstStyle/>
          <a:p>
            <a:pPr>
              <a:buNone/>
            </a:pPr>
            <a:r>
              <a:rPr lang="tr-TR" b="1" dirty="0" smtClean="0"/>
              <a:t>	2.Yapısal örüntü tanıma : </a:t>
            </a:r>
            <a:r>
              <a:rPr lang="tr-TR" dirty="0" smtClean="0"/>
              <a:t>Yapısal (geometriksel, kural dizilim) örüntü tanıma yaklaşımında, verilen bir örüntü, şekilsel yapıdan temel karakteristik tanımlanmaya indirgenir.</a:t>
            </a:r>
            <a:r>
              <a:rPr lang="tr-TR" b="1" dirty="0" smtClean="0"/>
              <a:t> </a:t>
            </a:r>
            <a:r>
              <a:rPr lang="tr-TR" dirty="0" smtClean="0"/>
              <a:t>Bu yöntemde, çevre uzunluğu, alan, ağırlık merkezi, eylemsizlik momenti ve </a:t>
            </a:r>
            <a:r>
              <a:rPr lang="tr-TR" dirty="0" err="1" smtClean="0"/>
              <a:t>Fourier</a:t>
            </a:r>
            <a:r>
              <a:rPr lang="tr-TR" dirty="0" smtClean="0"/>
              <a:t> tanımlayıcıları gibi genel özellikler kullanılır. </a:t>
            </a:r>
            <a:r>
              <a:rPr lang="tr-TR" b="1" dirty="0" err="1" smtClean="0"/>
              <a:t>Otoregresif</a:t>
            </a:r>
            <a:r>
              <a:rPr lang="tr-TR" b="1" dirty="0" smtClean="0"/>
              <a:t> model, </a:t>
            </a:r>
            <a:r>
              <a:rPr lang="tr-TR" b="1" dirty="0" err="1" smtClean="0"/>
              <a:t>poligonal</a:t>
            </a:r>
            <a:r>
              <a:rPr lang="tr-TR" b="1" dirty="0" smtClean="0"/>
              <a:t> yaklaşım ve zincir kodları</a:t>
            </a:r>
            <a:r>
              <a:rPr lang="tr-TR" dirty="0" smtClean="0"/>
              <a:t> yapısal örüntü tanıma yöntemine örnek olarak verilebilir.</a:t>
            </a:r>
          </a:p>
          <a:p>
            <a:pPr>
              <a:buNone/>
            </a:pPr>
            <a:endParaRPr lang="tr-T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dirty="0" smtClean="0"/>
              <a:t>Örüntü </a:t>
            </a:r>
            <a:r>
              <a:rPr lang="tr-TR" dirty="0" err="1" smtClean="0"/>
              <a:t>Tanima</a:t>
            </a:r>
            <a:r>
              <a:rPr lang="tr-TR" dirty="0" smtClean="0"/>
              <a:t> Sistemlerinin Sınıflandırılması</a:t>
            </a:r>
            <a:endParaRPr lang="tr-TR" dirty="0"/>
          </a:p>
        </p:txBody>
      </p:sp>
      <p:sp>
        <p:nvSpPr>
          <p:cNvPr id="4" name="3 Slayt Numarası Yer Tutucusu"/>
          <p:cNvSpPr>
            <a:spLocks noGrp="1"/>
          </p:cNvSpPr>
          <p:nvPr>
            <p:ph type="sldNum" sz="quarter" idx="12"/>
          </p:nvPr>
        </p:nvSpPr>
        <p:spPr/>
        <p:txBody>
          <a:bodyPr/>
          <a:lstStyle/>
          <a:p>
            <a:fld id="{D3F2149C-45F2-4E51-8413-2DAB02A1D379}" type="slidenum">
              <a:rPr lang="tr-TR" smtClean="0"/>
              <a:pPr/>
              <a:t>4</a:t>
            </a:fld>
            <a:endParaRPr lang="tr-TR"/>
          </a:p>
        </p:txBody>
      </p:sp>
      <p:sp>
        <p:nvSpPr>
          <p:cNvPr id="3" name="2 İçerik Yer Tutucusu"/>
          <p:cNvSpPr>
            <a:spLocks noGrp="1"/>
          </p:cNvSpPr>
          <p:nvPr>
            <p:ph sz="quarter" idx="1"/>
          </p:nvPr>
        </p:nvSpPr>
        <p:spPr/>
        <p:txBody>
          <a:bodyPr/>
          <a:lstStyle/>
          <a:p>
            <a:pPr>
              <a:buNone/>
            </a:pPr>
            <a:r>
              <a:rPr lang="tr-TR" b="1" dirty="0" smtClean="0"/>
              <a:t>	3. Akıllı örüntü tanıma : </a:t>
            </a:r>
            <a:r>
              <a:rPr lang="tr-TR" dirty="0" smtClean="0"/>
              <a:t>Örüntü tanıma sistemi, daha önceden öğrendiklerini tutabilecek bir hafızaya sahip, çıkarım, genelleme ve belirli bir hata toleransı ile karar verebilme yeteneklerini içermekte ise bu sistem akıllı örüntü tanıma sistemi olarak değerlendirilir.</a:t>
            </a:r>
            <a:r>
              <a:rPr lang="tr-TR" b="1" dirty="0" smtClean="0"/>
              <a:t> Yapay Sinir Ağları ve Bulanık</a:t>
            </a:r>
            <a:r>
              <a:rPr lang="tr-TR" dirty="0" smtClean="0"/>
              <a:t> sınıflandırıcılar akıllı örüntü tanıma yöntemine örnek olarak verilebilir.</a:t>
            </a:r>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Öznitelik vektörleri</a:t>
            </a:r>
            <a:endParaRPr lang="tr-TR" dirty="0"/>
          </a:p>
        </p:txBody>
      </p:sp>
      <p:sp>
        <p:nvSpPr>
          <p:cNvPr id="3" name="2 İçerik Yer Tutucusu"/>
          <p:cNvSpPr>
            <a:spLocks noGrp="1"/>
          </p:cNvSpPr>
          <p:nvPr>
            <p:ph sz="quarter" idx="1"/>
          </p:nvPr>
        </p:nvSpPr>
        <p:spPr/>
        <p:txBody>
          <a:bodyPr/>
          <a:lstStyle/>
          <a:p>
            <a:pPr>
              <a:buNone/>
            </a:pPr>
            <a:r>
              <a:rPr lang="tr-TR" dirty="0" smtClean="0"/>
              <a:t>	Endüstriyel nesne örüntüsü tanıma çalışmalarında tanınması istenen nesne, sınırları ile tanımlanır. Çoğu örüntü tanıma çalışmalarında, nesnenin sınırları üzerinde yapılan bazı nitelendirmeler sonucunda </a:t>
            </a:r>
            <a:r>
              <a:rPr lang="tr-TR" b="1" dirty="0" smtClean="0"/>
              <a:t>öznitelik vektörleri </a:t>
            </a:r>
            <a:r>
              <a:rPr lang="tr-TR" dirty="0" smtClean="0"/>
              <a:t>elde edilir. Öznitelik vektörünün oluşturulmasında sadece nesnenin sınırlarının kullanılması, nitelendirilecek bilginin azalmasından dolayı oldukça önemlidir. Bunun için nesnenin sınırlarını nitelemede pek çok teknik geliştirilmiştir.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5</a:t>
            </a:fld>
            <a:endParaRPr lang="tr-T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Öznitelik vektörleri</a:t>
            </a:r>
            <a:endParaRPr lang="tr-TR" dirty="0"/>
          </a:p>
        </p:txBody>
      </p:sp>
      <p:sp>
        <p:nvSpPr>
          <p:cNvPr id="3" name="2 İçerik Yer Tutucusu"/>
          <p:cNvSpPr>
            <a:spLocks noGrp="1"/>
          </p:cNvSpPr>
          <p:nvPr>
            <p:ph sz="quarter" idx="1"/>
          </p:nvPr>
        </p:nvSpPr>
        <p:spPr/>
        <p:txBody>
          <a:bodyPr>
            <a:normAutofit/>
          </a:bodyPr>
          <a:lstStyle/>
          <a:p>
            <a:pPr>
              <a:buNone/>
            </a:pPr>
            <a:r>
              <a:rPr lang="tr-TR" dirty="0" smtClean="0"/>
              <a:t>	Çoğu tanıma tekniği, ya genel öznitelikleri ya da yerel öznitelikleri kullanır. Başlıca genel öznitelik yöntemleri; </a:t>
            </a:r>
            <a:r>
              <a:rPr lang="tr-TR" b="1" dirty="0" err="1" smtClean="0"/>
              <a:t>fourier</a:t>
            </a:r>
            <a:r>
              <a:rPr lang="tr-TR" b="1" dirty="0" smtClean="0"/>
              <a:t> tanımlayıcısı, </a:t>
            </a:r>
            <a:r>
              <a:rPr lang="tr-TR" b="1" dirty="0" err="1" smtClean="0"/>
              <a:t>otoregresif</a:t>
            </a:r>
            <a:r>
              <a:rPr lang="tr-TR" b="1" dirty="0" smtClean="0"/>
              <a:t> model, görüntüyü iki boyutlu simgeleme, </a:t>
            </a:r>
            <a:r>
              <a:rPr lang="tr-TR" b="1" dirty="0" err="1" smtClean="0"/>
              <a:t>zernike</a:t>
            </a:r>
            <a:r>
              <a:rPr lang="tr-TR" b="1" dirty="0" smtClean="0"/>
              <a:t> momentleri ve yapısal örüntü tanıma </a:t>
            </a:r>
            <a:r>
              <a:rPr lang="tr-TR" dirty="0" smtClean="0"/>
              <a:t>uygulamalarıdır. Yerel öznitelik yöntemlerine ise, </a:t>
            </a:r>
            <a:r>
              <a:rPr lang="tr-TR" b="1" dirty="0" smtClean="0"/>
              <a:t>zincir kodları ve </a:t>
            </a:r>
            <a:r>
              <a:rPr lang="tr-TR" b="1" dirty="0" err="1" smtClean="0"/>
              <a:t>poligonal</a:t>
            </a:r>
            <a:r>
              <a:rPr lang="tr-TR" b="1" dirty="0" smtClean="0"/>
              <a:t> yaklaşım</a:t>
            </a:r>
            <a:r>
              <a:rPr lang="tr-TR" dirty="0" smtClean="0"/>
              <a:t> yöntemlerini örnek olarak verebiliriz. Nesne örüntüsüne ait yerel özellikleri işleyen yöntemlerde kritik noktalar veya delik ve köşe bilgileri türünden özellikler kullanılmaktadır. Şimdi bu özellik elde etme metotlarından bazılarını inceleyelim.</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6</a:t>
            </a:fld>
            <a:endParaRPr lang="tr-T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Otoregresif</a:t>
            </a:r>
            <a:r>
              <a:rPr lang="tr-TR" dirty="0" smtClean="0"/>
              <a:t> model</a:t>
            </a:r>
            <a:endParaRPr lang="tr-TR" dirty="0"/>
          </a:p>
        </p:txBody>
      </p:sp>
      <p:sp>
        <p:nvSpPr>
          <p:cNvPr id="3" name="2 İçerik Yer Tutucusu"/>
          <p:cNvSpPr>
            <a:spLocks noGrp="1"/>
          </p:cNvSpPr>
          <p:nvPr>
            <p:ph sz="quarter" idx="1"/>
          </p:nvPr>
        </p:nvSpPr>
        <p:spPr>
          <a:xfrm>
            <a:off x="428596" y="1643050"/>
            <a:ext cx="7467600" cy="4873752"/>
          </a:xfrm>
        </p:spPr>
        <p:txBody>
          <a:bodyPr/>
          <a:lstStyle/>
          <a:p>
            <a:pPr>
              <a:buNone/>
            </a:pPr>
            <a:r>
              <a:rPr lang="tr-TR" dirty="0" smtClean="0"/>
              <a:t>	Bu modelin esası, nesnenin sınırının bir boyutlu simgelenmesinde merkezsel uzaklığın kullanımına dayanır. Algoritmanın ilk aşamasında merkez noktası hesaplanır. Daha sonraki aşamada nesnenin kenarını oluşturan her bir noktanın merkeze göre </a:t>
            </a:r>
            <a:r>
              <a:rPr lang="tr-TR" dirty="0" err="1" smtClean="0"/>
              <a:t>öklit</a:t>
            </a:r>
            <a:r>
              <a:rPr lang="tr-TR" dirty="0" smtClean="0"/>
              <a:t> uzaklığı bulunur. Bu işlemler için aşağıdaki formüllerden faydalanılır. Eğer f(x,y) nesneye ait ise 1 değerini, değilse 0 değerini alır. Böylece açıya bağlı olan değişimler bulunmuş olur. Şekil 1’de değişim görülmektedir. Elde edilen değerler vektör formunda yazılarak öznitelik vektörü elde edilir.</a:t>
            </a:r>
            <a:endParaRPr lang="tr-TR" dirty="0"/>
          </a:p>
        </p:txBody>
      </p:sp>
      <p:sp>
        <p:nvSpPr>
          <p:cNvPr id="6"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7</a:t>
            </a:fld>
            <a:endParaRPr lang="tr-T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Otoregresif</a:t>
            </a:r>
            <a:r>
              <a:rPr lang="tr-TR" dirty="0" smtClean="0"/>
              <a:t> model</a:t>
            </a:r>
            <a:endParaRPr lang="tr-TR" dirty="0"/>
          </a:p>
        </p:txBody>
      </p:sp>
      <p:pic>
        <p:nvPicPr>
          <p:cNvPr id="2050" name="Picture 2"/>
          <p:cNvPicPr>
            <a:picLocks noGrp="1" noChangeAspect="1" noChangeArrowheads="1"/>
          </p:cNvPicPr>
          <p:nvPr>
            <p:ph sz="quarter" idx="1"/>
          </p:nvPr>
        </p:nvPicPr>
        <p:blipFill>
          <a:blip r:embed="rId3" cstate="print"/>
          <a:srcRect/>
          <a:stretch>
            <a:fillRect/>
          </a:stretch>
        </p:blipFill>
        <p:spPr bwMode="auto">
          <a:xfrm>
            <a:off x="1214414" y="2357430"/>
            <a:ext cx="3242363" cy="1500198"/>
          </a:xfrm>
          <a:prstGeom prst="rect">
            <a:avLst/>
          </a:prstGeom>
          <a:noFill/>
          <a:ln w="9525">
            <a:noFill/>
            <a:miter lim="800000"/>
            <a:headEnd/>
            <a:tailEnd/>
          </a:ln>
          <a:effectLst/>
        </p:spPr>
      </p:pic>
      <p:pic>
        <p:nvPicPr>
          <p:cNvPr id="2051" name="Picture 3"/>
          <p:cNvPicPr>
            <a:picLocks noChangeAspect="1" noChangeArrowheads="1"/>
          </p:cNvPicPr>
          <p:nvPr/>
        </p:nvPicPr>
        <p:blipFill>
          <a:blip r:embed="rId4" cstate="print"/>
          <a:srcRect/>
          <a:stretch>
            <a:fillRect/>
          </a:stretch>
        </p:blipFill>
        <p:spPr bwMode="auto">
          <a:xfrm>
            <a:off x="4857752" y="2428868"/>
            <a:ext cx="2957980" cy="1428760"/>
          </a:xfrm>
          <a:prstGeom prst="rect">
            <a:avLst/>
          </a:prstGeom>
          <a:noFill/>
          <a:ln w="9525">
            <a:noFill/>
            <a:miter lim="800000"/>
            <a:headEnd/>
            <a:tailEnd/>
          </a:ln>
          <a:effectLst/>
        </p:spPr>
      </p:pic>
      <p:pic>
        <p:nvPicPr>
          <p:cNvPr id="2052" name="Picture 4"/>
          <p:cNvPicPr>
            <a:picLocks noChangeAspect="1" noChangeArrowheads="1"/>
          </p:cNvPicPr>
          <p:nvPr/>
        </p:nvPicPr>
        <p:blipFill>
          <a:blip r:embed="rId5" cstate="print"/>
          <a:srcRect/>
          <a:stretch>
            <a:fillRect/>
          </a:stretch>
        </p:blipFill>
        <p:spPr bwMode="auto">
          <a:xfrm>
            <a:off x="2214546" y="4286256"/>
            <a:ext cx="4528659" cy="1428760"/>
          </a:xfrm>
          <a:prstGeom prst="rect">
            <a:avLst/>
          </a:prstGeom>
          <a:noFill/>
          <a:ln w="9525">
            <a:noFill/>
            <a:miter lim="800000"/>
            <a:headEnd/>
            <a:tailEnd/>
          </a:ln>
          <a:effectLst/>
        </p:spPr>
      </p:pic>
      <p:sp>
        <p:nvSpPr>
          <p:cNvPr id="8"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8</a:t>
            </a:fld>
            <a:endParaRPr lang="tr-T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Otoregresif</a:t>
            </a:r>
            <a:r>
              <a:rPr lang="tr-TR" dirty="0" smtClean="0"/>
              <a:t> model</a:t>
            </a:r>
            <a:endParaRPr lang="tr-TR" dirty="0"/>
          </a:p>
        </p:txBody>
      </p:sp>
      <p:pic>
        <p:nvPicPr>
          <p:cNvPr id="3074" name="Picture 2"/>
          <p:cNvPicPr>
            <a:picLocks noGrp="1" noChangeAspect="1" noChangeArrowheads="1"/>
          </p:cNvPicPr>
          <p:nvPr>
            <p:ph sz="quarter" idx="1"/>
          </p:nvPr>
        </p:nvPicPr>
        <p:blipFill>
          <a:blip r:embed="rId2" cstate="print"/>
          <a:srcRect/>
          <a:stretch>
            <a:fillRect/>
          </a:stretch>
        </p:blipFill>
        <p:spPr bwMode="auto">
          <a:xfrm>
            <a:off x="1785918" y="1500174"/>
            <a:ext cx="4824430" cy="4208545"/>
          </a:xfrm>
          <a:prstGeom prst="rect">
            <a:avLst/>
          </a:prstGeom>
          <a:noFill/>
          <a:ln w="9525">
            <a:noFill/>
            <a:miter lim="800000"/>
            <a:headEnd/>
            <a:tailEnd/>
          </a:ln>
          <a:effectLst/>
        </p:spPr>
      </p:pic>
      <p:sp>
        <p:nvSpPr>
          <p:cNvPr id="5" name="4 Dikdörtgen"/>
          <p:cNvSpPr/>
          <p:nvPr/>
        </p:nvSpPr>
        <p:spPr>
          <a:xfrm>
            <a:off x="928662" y="5783065"/>
            <a:ext cx="7643866" cy="646331"/>
          </a:xfrm>
          <a:prstGeom prst="rect">
            <a:avLst/>
          </a:prstGeom>
        </p:spPr>
        <p:txBody>
          <a:bodyPr wrap="square">
            <a:spAutoFit/>
          </a:bodyPr>
          <a:lstStyle/>
          <a:p>
            <a:r>
              <a:rPr lang="tr-TR" b="1" dirty="0"/>
              <a:t>Şekil </a:t>
            </a:r>
            <a:r>
              <a:rPr lang="tr-TR" b="1" dirty="0" smtClean="0"/>
              <a:t>1. </a:t>
            </a:r>
            <a:r>
              <a:rPr lang="tr-TR" b="1" dirty="0"/>
              <a:t>Görünen nesne örüntüsünün merkezine göre kenar uzunluklarının değişimi.</a:t>
            </a:r>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9</a:t>
            </a:fld>
            <a:endParaRPr lang="tr-T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sp>
        <p:nvSpPr>
          <p:cNvPr id="3" name="2 İçerik Yer Tutucusu"/>
          <p:cNvSpPr>
            <a:spLocks noGrp="1"/>
          </p:cNvSpPr>
          <p:nvPr>
            <p:ph sz="quarter" idx="1"/>
          </p:nvPr>
        </p:nvSpPr>
        <p:spPr/>
        <p:txBody>
          <a:bodyPr/>
          <a:lstStyle/>
          <a:p>
            <a:pPr>
              <a:buNone/>
            </a:pPr>
            <a:r>
              <a:rPr lang="tr-TR" dirty="0" smtClean="0"/>
              <a:t>	</a:t>
            </a:r>
            <a:r>
              <a:rPr lang="tr-TR" dirty="0" err="1" smtClean="0"/>
              <a:t>Poligonal</a:t>
            </a:r>
            <a:r>
              <a:rPr lang="tr-TR" dirty="0" smtClean="0"/>
              <a:t> yaklaşımın temelinde, nesneye ait kritik noktaların hesaplanması yatmaktadır. Kritik noktaların tespitini sağlayan algoritmanın tanımı kısaca şu şekilde verilmektedir: Nesnenin en sol üst sınır pikseli ile en sağ alt sınır pikseli başlangıç kritik noktaları olarak alınır. Bu iki nokta arasında düz bir çizgi çizilir. Daha sonra bu düz çizgiye dik doğrular saptanır. Bu doğruların kenar piksellerini kestiği noktalar belirlenir.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10</a:t>
            </a:fld>
            <a:endParaRPr lang="tr-T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sp>
        <p:nvSpPr>
          <p:cNvPr id="3" name="2 İçerik Yer Tutucusu"/>
          <p:cNvSpPr>
            <a:spLocks noGrp="1"/>
          </p:cNvSpPr>
          <p:nvPr>
            <p:ph sz="quarter" idx="1"/>
          </p:nvPr>
        </p:nvSpPr>
        <p:spPr/>
        <p:txBody>
          <a:bodyPr/>
          <a:lstStyle/>
          <a:p>
            <a:pPr>
              <a:buNone/>
            </a:pPr>
            <a:r>
              <a:rPr lang="tr-TR" dirty="0" smtClean="0"/>
              <a:t>	</a:t>
            </a:r>
            <a:r>
              <a:rPr lang="pl-PL" dirty="0" smtClean="0"/>
              <a:t>Düz çizgi ile bu noktalar</a:t>
            </a:r>
            <a:r>
              <a:rPr lang="tr-TR" dirty="0" smtClean="0"/>
              <a:t> arasındaki dik doğru parçalarının uzunluğu hesaplanır. Belirli bir </a:t>
            </a:r>
            <a:r>
              <a:rPr lang="tr-TR" dirty="0" err="1" smtClean="0"/>
              <a:t>eşikleme</a:t>
            </a:r>
            <a:r>
              <a:rPr lang="tr-TR" dirty="0" smtClean="0"/>
              <a:t> değerinin üstündeki noktalar kritik noktalar olarak tespit edilir. Bu noktaların tek boyutlu simgelenmesi ile elde edilen özelliklerden öznitelik vektörü oluşturulur. Şekil 2’de örnek olarak alınan nesne kenarı üzerinde kritik noktaların bulunuşu gösterilmektedir.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11</a:t>
            </a:fld>
            <a:endParaRPr lang="tr-T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pic>
        <p:nvPicPr>
          <p:cNvPr id="4098" name="Picture 2"/>
          <p:cNvPicPr>
            <a:picLocks noGrp="1" noChangeAspect="1" noChangeArrowheads="1"/>
          </p:cNvPicPr>
          <p:nvPr>
            <p:ph sz="quarter" idx="1"/>
          </p:nvPr>
        </p:nvPicPr>
        <p:blipFill>
          <a:blip r:embed="rId2" cstate="print"/>
          <a:srcRect/>
          <a:stretch>
            <a:fillRect/>
          </a:stretch>
        </p:blipFill>
        <p:spPr bwMode="auto">
          <a:xfrm>
            <a:off x="604862" y="1714488"/>
            <a:ext cx="7467600" cy="4108093"/>
          </a:xfrm>
          <a:prstGeom prst="rect">
            <a:avLst/>
          </a:prstGeom>
          <a:noFill/>
          <a:ln w="9525">
            <a:noFill/>
            <a:miter lim="800000"/>
            <a:headEnd/>
            <a:tailEnd/>
          </a:ln>
          <a:effectLst/>
        </p:spPr>
      </p:pic>
      <p:sp>
        <p:nvSpPr>
          <p:cNvPr id="6" name="5 Dikdörtgen"/>
          <p:cNvSpPr/>
          <p:nvPr/>
        </p:nvSpPr>
        <p:spPr>
          <a:xfrm>
            <a:off x="428596" y="5857892"/>
            <a:ext cx="7715304" cy="369332"/>
          </a:xfrm>
          <a:prstGeom prst="rect">
            <a:avLst/>
          </a:prstGeom>
        </p:spPr>
        <p:txBody>
          <a:bodyPr wrap="square">
            <a:spAutoFit/>
          </a:bodyPr>
          <a:lstStyle/>
          <a:p>
            <a:r>
              <a:rPr lang="tr-TR" b="1" dirty="0"/>
              <a:t>Şekil </a:t>
            </a:r>
            <a:r>
              <a:rPr lang="tr-TR" b="1" dirty="0" smtClean="0"/>
              <a:t>2. </a:t>
            </a:r>
            <a:r>
              <a:rPr lang="tr-TR" b="1" dirty="0" err="1"/>
              <a:t>Poligonal</a:t>
            </a:r>
            <a:r>
              <a:rPr lang="tr-TR" b="1" dirty="0"/>
              <a:t> yaklaşım ile nesnenin kritik noktalarının bulunması.</a:t>
            </a:r>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12</a:t>
            </a:fld>
            <a:endParaRPr lang="tr-T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sp>
        <p:nvSpPr>
          <p:cNvPr id="3" name="2 İçerik Yer Tutucusu"/>
          <p:cNvSpPr>
            <a:spLocks noGrp="1"/>
          </p:cNvSpPr>
          <p:nvPr>
            <p:ph sz="quarter" idx="1"/>
          </p:nvPr>
        </p:nvSpPr>
        <p:spPr/>
        <p:txBody>
          <a:bodyPr>
            <a:normAutofit lnSpcReduction="10000"/>
          </a:bodyPr>
          <a:lstStyle/>
          <a:p>
            <a:pPr>
              <a:buNone/>
            </a:pPr>
            <a:r>
              <a:rPr lang="tr-TR" dirty="0" smtClean="0"/>
              <a:t>	Yukarıdaki şekilde, verilen nesne kenarına </a:t>
            </a:r>
            <a:r>
              <a:rPr lang="tr-TR" dirty="0" err="1" smtClean="0"/>
              <a:t>poligonal</a:t>
            </a:r>
            <a:r>
              <a:rPr lang="tr-TR" dirty="0" smtClean="0"/>
              <a:t> yaklaşım uygulanarak nesnenin kritik noktaları tespit edilmiştir. Bu yaklaşım şu şekilde uygulanmaktadır; </a:t>
            </a:r>
          </a:p>
          <a:p>
            <a:r>
              <a:rPr lang="tr-TR" dirty="0" smtClean="0"/>
              <a:t>Nesne üzerinde iki nokta seçilir.</a:t>
            </a:r>
          </a:p>
          <a:p>
            <a:r>
              <a:rPr lang="tr-TR" dirty="0" smtClean="0"/>
              <a:t>Bu iki nokta arasında bir doğru çizilerek, nesne kenarının üzerindeki noktaların bu doğruya olan </a:t>
            </a:r>
            <a:r>
              <a:rPr lang="tr-TR" dirty="0" err="1" smtClean="0"/>
              <a:t>izdüşüm</a:t>
            </a:r>
            <a:r>
              <a:rPr lang="tr-TR" dirty="0" smtClean="0"/>
              <a:t> uzaklıkları hesaplanır.</a:t>
            </a:r>
          </a:p>
          <a:p>
            <a:r>
              <a:rPr lang="tr-TR" dirty="0" smtClean="0"/>
              <a:t>Bu </a:t>
            </a:r>
            <a:r>
              <a:rPr lang="tr-TR" dirty="0" err="1" smtClean="0"/>
              <a:t>izdüşüm</a:t>
            </a:r>
            <a:r>
              <a:rPr lang="tr-TR" dirty="0" smtClean="0"/>
              <a:t> uzaklıklarından maksimum olanı seçilir. Bulunan bu maksimum uzaklık verilen eşik uzaklık değerinin üstünde ise nesnenin bu noktası kritik nokta (nesne köşesi) olarak alınır.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13</a:t>
            </a:fld>
            <a:endParaRPr lang="tr-T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sp>
        <p:nvSpPr>
          <p:cNvPr id="3" name="2 İçerik Yer Tutucusu"/>
          <p:cNvSpPr>
            <a:spLocks noGrp="1"/>
          </p:cNvSpPr>
          <p:nvPr>
            <p:ph sz="quarter" idx="1"/>
          </p:nvPr>
        </p:nvSpPr>
        <p:spPr/>
        <p:txBody>
          <a:bodyPr/>
          <a:lstStyle/>
          <a:p>
            <a:r>
              <a:rPr lang="tr-TR" dirty="0" smtClean="0"/>
              <a:t>Başlangıç noktasından başlanarak nesne köşeleri sırayla ardışık olarak birbirine doğru ile bağlanır.</a:t>
            </a:r>
          </a:p>
          <a:p>
            <a:r>
              <a:rPr lang="tr-TR" dirty="0" smtClean="0"/>
              <a:t>Nesne kenarlarının bu yeni çizilen doğrular üzerindeki izdüşümlerine olan uzaklıkları tekrar hesaplanır ve 3, 4, 5. adımlar, verilen eşik değerinden küçük veya eşit olana kadar tekrarlanır.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14</a:t>
            </a:fld>
            <a:endParaRPr lang="tr-T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err="1" smtClean="0"/>
              <a:t>Poligonal</a:t>
            </a:r>
            <a:r>
              <a:rPr lang="tr-TR" dirty="0" smtClean="0"/>
              <a:t> </a:t>
            </a:r>
            <a:r>
              <a:rPr lang="tr-TR" dirty="0" err="1" smtClean="0"/>
              <a:t>yaklaşim</a:t>
            </a:r>
            <a:endParaRPr lang="tr-TR" dirty="0"/>
          </a:p>
        </p:txBody>
      </p:sp>
      <p:sp>
        <p:nvSpPr>
          <p:cNvPr id="3" name="2 İçerik Yer Tutucusu"/>
          <p:cNvSpPr>
            <a:spLocks noGrp="1"/>
          </p:cNvSpPr>
          <p:nvPr>
            <p:ph sz="quarter" idx="1"/>
          </p:nvPr>
        </p:nvSpPr>
        <p:spPr/>
        <p:txBody>
          <a:bodyPr/>
          <a:lstStyle/>
          <a:p>
            <a:pPr>
              <a:buNone/>
            </a:pPr>
            <a:r>
              <a:rPr lang="tr-TR" dirty="0" smtClean="0"/>
              <a:t>	Bu işlemler sonucunda nesne sınır çizgisine yakın küçük doğru parçalarından oluşan yeni bir nesne kenarı elde edilir. Bu küçük doğrular kritik noktaların birleştirilmesi ile elde edilir. Kritik noktalardan oluşan nesneye ait özellikler bir vektör halinde yazılarak nesnenin öznitelik vektörü elde edilir.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15</a:t>
            </a:fld>
            <a:endParaRPr lang="tr-T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p:txBody>
          <a:bodyPr/>
          <a:lstStyle/>
          <a:p>
            <a:pPr>
              <a:buNone/>
            </a:pPr>
            <a:r>
              <a:rPr lang="tr-TR" dirty="0" smtClean="0"/>
              <a:t>	Sayısal görüntü, kenar çıkarma işleminden geçirildikten sonra, nesnenin sadece dış çizgileri kalır. Bundan sonraki adımda nesnenin kenar bilgilerinin kodlanması gerekir. Kodlama işlemi için zincir kodları kullanılabilir. İki tip zincir kodlama şekli mevcuttur; dörtlü ve sekizli zincir kod.</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16</a:t>
            </a:fld>
            <a:endParaRPr lang="tr-T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pic>
        <p:nvPicPr>
          <p:cNvPr id="5122" name="Picture 2"/>
          <p:cNvPicPr>
            <a:picLocks noGrp="1" noChangeAspect="1" noChangeArrowheads="1"/>
          </p:cNvPicPr>
          <p:nvPr>
            <p:ph sz="quarter" idx="1"/>
          </p:nvPr>
        </p:nvPicPr>
        <p:blipFill>
          <a:blip r:embed="rId2" cstate="print"/>
          <a:srcRect/>
          <a:stretch>
            <a:fillRect/>
          </a:stretch>
        </p:blipFill>
        <p:spPr bwMode="auto">
          <a:xfrm>
            <a:off x="1185883" y="1928802"/>
            <a:ext cx="6315075" cy="3562350"/>
          </a:xfrm>
          <a:prstGeom prst="rect">
            <a:avLst/>
          </a:prstGeom>
          <a:noFill/>
          <a:ln w="9525">
            <a:noFill/>
            <a:miter lim="800000"/>
            <a:headEnd/>
            <a:tailEnd/>
          </a:ln>
          <a:effectLst/>
        </p:spPr>
      </p:pic>
      <p:sp>
        <p:nvSpPr>
          <p:cNvPr id="6" name="5 Dikdörtgen"/>
          <p:cNvSpPr/>
          <p:nvPr/>
        </p:nvSpPr>
        <p:spPr>
          <a:xfrm>
            <a:off x="928662" y="5715016"/>
            <a:ext cx="6643734" cy="646331"/>
          </a:xfrm>
          <a:prstGeom prst="rect">
            <a:avLst/>
          </a:prstGeom>
        </p:spPr>
        <p:txBody>
          <a:bodyPr wrap="square">
            <a:spAutoFit/>
          </a:bodyPr>
          <a:lstStyle/>
          <a:p>
            <a:r>
              <a:rPr lang="tr-TR" b="1" dirty="0"/>
              <a:t>Şekil </a:t>
            </a:r>
            <a:r>
              <a:rPr lang="tr-TR" b="1" dirty="0" smtClean="0"/>
              <a:t>3. </a:t>
            </a:r>
            <a:r>
              <a:rPr lang="tr-TR" b="1" dirty="0"/>
              <a:t>a) Dörtlü, b) Sekizli zincir kod.</a:t>
            </a:r>
          </a:p>
          <a:p>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17</a:t>
            </a:fld>
            <a:endParaRPr lang="tr-T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a:xfrm>
            <a:off x="457200" y="1600200"/>
            <a:ext cx="7467600" cy="1114420"/>
          </a:xfrm>
        </p:spPr>
        <p:txBody>
          <a:bodyPr/>
          <a:lstStyle/>
          <a:p>
            <a:pPr>
              <a:buNone/>
            </a:pPr>
            <a:r>
              <a:rPr lang="tr-TR" dirty="0" smtClean="0"/>
              <a:t>	Şekil 4’de basit bir nesne ve bu nesneye ait dörtlü zincir kod gösterimi verilmiştir.</a:t>
            </a:r>
            <a:endParaRPr lang="tr-TR" dirty="0"/>
          </a:p>
        </p:txBody>
      </p:sp>
      <p:pic>
        <p:nvPicPr>
          <p:cNvPr id="6146" name="Picture 2"/>
          <p:cNvPicPr>
            <a:picLocks noChangeAspect="1" noChangeArrowheads="1"/>
          </p:cNvPicPr>
          <p:nvPr/>
        </p:nvPicPr>
        <p:blipFill>
          <a:blip r:embed="rId2" cstate="print"/>
          <a:srcRect/>
          <a:stretch>
            <a:fillRect/>
          </a:stretch>
        </p:blipFill>
        <p:spPr bwMode="auto">
          <a:xfrm>
            <a:off x="500034" y="2500306"/>
            <a:ext cx="7562850" cy="3152775"/>
          </a:xfrm>
          <a:prstGeom prst="rect">
            <a:avLst/>
          </a:prstGeom>
          <a:noFill/>
          <a:ln w="9525">
            <a:noFill/>
            <a:miter lim="800000"/>
            <a:headEnd/>
            <a:tailEnd/>
          </a:ln>
          <a:effectLst/>
        </p:spPr>
      </p:pic>
      <p:sp>
        <p:nvSpPr>
          <p:cNvPr id="6" name="5 Dikdörtgen"/>
          <p:cNvSpPr/>
          <p:nvPr/>
        </p:nvSpPr>
        <p:spPr>
          <a:xfrm>
            <a:off x="428596" y="5786454"/>
            <a:ext cx="7786742" cy="369332"/>
          </a:xfrm>
          <a:prstGeom prst="rect">
            <a:avLst/>
          </a:prstGeom>
        </p:spPr>
        <p:txBody>
          <a:bodyPr wrap="square">
            <a:spAutoFit/>
          </a:bodyPr>
          <a:lstStyle/>
          <a:p>
            <a:r>
              <a:rPr lang="tr-TR" b="1" dirty="0"/>
              <a:t>Şekil </a:t>
            </a:r>
            <a:r>
              <a:rPr lang="tr-TR" b="1" dirty="0" smtClean="0"/>
              <a:t>4. </a:t>
            </a:r>
            <a:r>
              <a:rPr lang="tr-TR" b="1" dirty="0"/>
              <a:t>Verilen sayısal görüntünün sınırlarının dörtlü zincir kod gösterimi.</a:t>
            </a:r>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18</a:t>
            </a:fld>
            <a:endParaRPr lang="tr-T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p:txBody>
          <a:bodyPr/>
          <a:lstStyle/>
          <a:p>
            <a:pPr>
              <a:buNone/>
            </a:pPr>
            <a:r>
              <a:rPr lang="tr-TR" dirty="0" smtClean="0"/>
              <a:t>	Buna göre verilen nesnenin öznitelik vektörü şu şekilde oluşur.</a:t>
            </a:r>
          </a:p>
          <a:p>
            <a:pPr>
              <a:buNone/>
            </a:pPr>
            <a:endParaRPr lang="tr-TR" dirty="0" smtClean="0"/>
          </a:p>
          <a:p>
            <a:pPr>
              <a:buNone/>
            </a:pPr>
            <a:r>
              <a:rPr lang="tr-TR" dirty="0" smtClean="0"/>
              <a:t>	V = [0 0 3 0 0 3 3 3 2 1 2 2 3 2 2 1 1 0 1 1]</a:t>
            </a:r>
          </a:p>
          <a:p>
            <a:pPr>
              <a:buNone/>
            </a:pPr>
            <a:endParaRPr lang="tr-TR" dirty="0" smtClean="0"/>
          </a:p>
          <a:p>
            <a:pPr>
              <a:buNone/>
            </a:pPr>
            <a:r>
              <a:rPr lang="tr-TR" dirty="0" smtClean="0"/>
              <a:t>	Nesnenin kenar bilgilerini daha hassas bir şekilde kodlamak için sekizli zincir kod kullanılması daha iyi sonuç verir. Şekil 5’de buna ilişkin bir örnek verilmiştir.</a:t>
            </a:r>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19</a:t>
            </a:fld>
            <a:endParaRPr lang="tr-T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pic>
        <p:nvPicPr>
          <p:cNvPr id="7170" name="Picture 2"/>
          <p:cNvPicPr>
            <a:picLocks noGrp="1" noChangeAspect="1" noChangeArrowheads="1"/>
          </p:cNvPicPr>
          <p:nvPr>
            <p:ph sz="quarter" idx="1"/>
          </p:nvPr>
        </p:nvPicPr>
        <p:blipFill>
          <a:blip r:embed="rId2" cstate="print"/>
          <a:srcRect/>
          <a:stretch>
            <a:fillRect/>
          </a:stretch>
        </p:blipFill>
        <p:spPr bwMode="auto">
          <a:xfrm>
            <a:off x="642962" y="1714488"/>
            <a:ext cx="7429500" cy="3219450"/>
          </a:xfrm>
          <a:prstGeom prst="rect">
            <a:avLst/>
          </a:prstGeom>
          <a:noFill/>
          <a:ln w="9525">
            <a:noFill/>
            <a:miter lim="800000"/>
            <a:headEnd/>
            <a:tailEnd/>
          </a:ln>
          <a:effectLst/>
        </p:spPr>
      </p:pic>
      <p:sp>
        <p:nvSpPr>
          <p:cNvPr id="6" name="5 Dikdörtgen"/>
          <p:cNvSpPr/>
          <p:nvPr/>
        </p:nvSpPr>
        <p:spPr>
          <a:xfrm>
            <a:off x="571472" y="5572140"/>
            <a:ext cx="7215238" cy="369332"/>
          </a:xfrm>
          <a:prstGeom prst="rect">
            <a:avLst/>
          </a:prstGeom>
        </p:spPr>
        <p:txBody>
          <a:bodyPr wrap="square">
            <a:spAutoFit/>
          </a:bodyPr>
          <a:lstStyle/>
          <a:p>
            <a:r>
              <a:rPr lang="tr-TR" b="1" dirty="0"/>
              <a:t>Şekil </a:t>
            </a:r>
            <a:r>
              <a:rPr lang="tr-TR" b="1" dirty="0" smtClean="0"/>
              <a:t>5. </a:t>
            </a:r>
            <a:r>
              <a:rPr lang="tr-TR" b="1" dirty="0"/>
              <a:t>Verilen nesnenin sınırlarının sekizli zincir kod ile kodlanması</a:t>
            </a:r>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20</a:t>
            </a:fld>
            <a:endParaRPr lang="tr-T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p:txBody>
          <a:bodyPr/>
          <a:lstStyle/>
          <a:p>
            <a:pPr>
              <a:buNone/>
            </a:pPr>
            <a:r>
              <a:rPr lang="tr-TR" dirty="0" smtClean="0"/>
              <a:t>	Bu nesnenin öznitelik vektörü ise şu şekilde oluşur;</a:t>
            </a:r>
          </a:p>
          <a:p>
            <a:pPr>
              <a:buNone/>
            </a:pPr>
            <a:endParaRPr lang="tr-TR" dirty="0" smtClean="0"/>
          </a:p>
          <a:p>
            <a:pPr>
              <a:buNone/>
            </a:pPr>
            <a:r>
              <a:rPr lang="tr-TR" dirty="0" smtClean="0"/>
              <a:t>	V = [7 7 7 7 4 4 4 4 2 2 2 2]</a:t>
            </a:r>
          </a:p>
          <a:p>
            <a:pPr>
              <a:buNone/>
            </a:pPr>
            <a:endParaRPr lang="tr-TR" dirty="0" smtClean="0"/>
          </a:p>
          <a:p>
            <a:pPr>
              <a:buNone/>
            </a:pPr>
            <a:r>
              <a:rPr lang="tr-TR" dirty="0" smtClean="0"/>
              <a:t>	Sekizli zincir kodunun dörtlü zincir koduna göre en önemli üstünlüğü yatay ve dikey kenar çizgilerinin yanı sıra çapraz kenar çizgilerini de kodlama imkanı tanımasıdır.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21</a:t>
            </a:fld>
            <a:endParaRPr lang="tr-T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p:txBody>
          <a:bodyPr/>
          <a:lstStyle/>
          <a:p>
            <a:pPr>
              <a:buNone/>
            </a:pPr>
            <a:r>
              <a:rPr lang="tr-TR" dirty="0" smtClean="0"/>
              <a:t>	Zincir kodları ile nesnenin kenarlarının hangi yönde ne kadar devam ettiği tespit edildikten sonra elde edilen bu öznitelik vektörüne, çeşitli işlemler uygulanarak daha küçük boyutta ve tüm nesneler için daha genel bir vektör  oluşturulabilir. Mesela; öznitelik vektörü şu hale getirilebilir.</a:t>
            </a:r>
          </a:p>
          <a:p>
            <a:pPr>
              <a:buNone/>
            </a:pPr>
            <a:endParaRPr lang="tr-TR" dirty="0" smtClean="0"/>
          </a:p>
          <a:p>
            <a:pPr>
              <a:buNone/>
            </a:pPr>
            <a:r>
              <a:rPr lang="tr-TR" dirty="0" smtClean="0"/>
              <a:t>V = [V0, V1, V2, ....., V7]</a:t>
            </a:r>
          </a:p>
          <a:p>
            <a:pPr>
              <a:buNone/>
            </a:pPr>
            <a:r>
              <a:rPr lang="tr-TR" dirty="0" smtClean="0"/>
              <a:t>	Elde edilen bu öznitelik vektörü, sonraki bölümlerde anlatılacak sınıflandırıcıların girişine verilerek nesne sınıflandırılması yapılabilir.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22</a:t>
            </a:fld>
            <a:endParaRPr lang="tr-T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Zincir </a:t>
            </a:r>
            <a:r>
              <a:rPr lang="tr-TR" dirty="0" err="1" smtClean="0"/>
              <a:t>kodlari</a:t>
            </a:r>
            <a:endParaRPr lang="tr-TR" dirty="0"/>
          </a:p>
        </p:txBody>
      </p:sp>
      <p:sp>
        <p:nvSpPr>
          <p:cNvPr id="3" name="2 İçerik Yer Tutucusu"/>
          <p:cNvSpPr>
            <a:spLocks noGrp="1"/>
          </p:cNvSpPr>
          <p:nvPr>
            <p:ph sz="quarter" idx="1"/>
          </p:nvPr>
        </p:nvSpPr>
        <p:spPr/>
        <p:txBody>
          <a:bodyPr>
            <a:normAutofit lnSpcReduction="10000"/>
          </a:bodyPr>
          <a:lstStyle/>
          <a:p>
            <a:pPr>
              <a:buNone/>
            </a:pPr>
            <a:r>
              <a:rPr lang="tr-TR" dirty="0" smtClean="0"/>
              <a:t>	Burada;</a:t>
            </a:r>
          </a:p>
          <a:p>
            <a:pPr>
              <a:buNone/>
            </a:pPr>
            <a:r>
              <a:rPr lang="tr-TR" dirty="0" smtClean="0"/>
              <a:t>	V0 : Toplam köşe sayısı,</a:t>
            </a:r>
          </a:p>
          <a:p>
            <a:pPr>
              <a:buNone/>
            </a:pPr>
            <a:r>
              <a:rPr lang="tr-TR" dirty="0" smtClean="0"/>
              <a:t>	V1 : En küçük kenarın en büyük kenara oranı,</a:t>
            </a:r>
          </a:p>
          <a:p>
            <a:pPr>
              <a:buNone/>
            </a:pPr>
            <a:r>
              <a:rPr lang="tr-TR" dirty="0" smtClean="0"/>
              <a:t>	</a:t>
            </a:r>
            <a:r>
              <a:rPr lang="pt-BR" dirty="0" smtClean="0"/>
              <a:t>V2 : 0 ile 45 derece arasındaki açıların kaç tane olduğu,</a:t>
            </a:r>
          </a:p>
          <a:p>
            <a:pPr>
              <a:buNone/>
            </a:pPr>
            <a:r>
              <a:rPr lang="tr-TR" dirty="0" smtClean="0"/>
              <a:t>	V3 : 46 ile 90 derece arasındaki açıların kaç tane olduğu,</a:t>
            </a:r>
          </a:p>
          <a:p>
            <a:pPr>
              <a:buNone/>
            </a:pPr>
            <a:r>
              <a:rPr lang="tr-TR" dirty="0" smtClean="0"/>
              <a:t>	V4 : 91 ile 135 derece arasındaki açıların kaç tane olduğu,</a:t>
            </a:r>
          </a:p>
          <a:p>
            <a:pPr>
              <a:buNone/>
            </a:pPr>
            <a:r>
              <a:rPr lang="tr-TR" dirty="0" smtClean="0"/>
              <a:t>	V5 : -0 ile -45 derece arasındaki açıların kaç tane olduğu,</a:t>
            </a:r>
          </a:p>
          <a:p>
            <a:pPr>
              <a:buNone/>
            </a:pPr>
            <a:r>
              <a:rPr lang="tr-TR" dirty="0" smtClean="0"/>
              <a:t>	V6 : -46 ile -90 derece arasındaki açıların kaç tane olduğu,</a:t>
            </a:r>
          </a:p>
          <a:p>
            <a:pPr>
              <a:buNone/>
            </a:pPr>
            <a:r>
              <a:rPr lang="tr-TR" dirty="0" smtClean="0"/>
              <a:t>	V7 : -91 ile -135 derece arasındaki açıların kaç tane olduğunu gösterir.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23</a:t>
            </a:fld>
            <a:endParaRPr lang="tr-T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Açı-Uzunluk Yöntemi</a:t>
            </a:r>
            <a:endParaRPr lang="tr-TR" dirty="0"/>
          </a:p>
        </p:txBody>
      </p:sp>
      <p:sp>
        <p:nvSpPr>
          <p:cNvPr id="3" name="2 İçerik Yer Tutucusu"/>
          <p:cNvSpPr>
            <a:spLocks noGrp="1"/>
          </p:cNvSpPr>
          <p:nvPr>
            <p:ph sz="quarter" idx="1"/>
          </p:nvPr>
        </p:nvSpPr>
        <p:spPr/>
        <p:txBody>
          <a:bodyPr>
            <a:normAutofit/>
          </a:bodyPr>
          <a:lstStyle/>
          <a:p>
            <a:pPr>
              <a:buNone/>
            </a:pPr>
            <a:r>
              <a:rPr lang="tr-TR" dirty="0" smtClean="0"/>
              <a:t>	Pek çok yapısal örüntü tanıma modeli vardır. Bunlardan biri olan açı/uzunluk yönteminin yapısı, Şekil 6’da görülen, T harfinin örüntüsü örnek alınarak açıklanmaya çalışılmıştır.</a:t>
            </a:r>
          </a:p>
          <a:p>
            <a:pPr>
              <a:buNone/>
            </a:pPr>
            <a:r>
              <a:rPr lang="tr-TR" dirty="0" smtClean="0"/>
              <a:t>	Bu yöntemde T harfi yönlü bir geometriksel şekil olarak düşünülmüştür. Harf birim uzunluk ve açı ile tanıtılmıştır. ‘1’ numara ile gösterilen kısım referans açı olarak alınmış diğerleri de ona bağlı açılarla belirtilmiştir. T harfini tanıtan açı ve uzunluk değerleri, Tablo 1 ’de gösterilmiştir. Bu değerler kullanılarak verilen nesne için öznitelik vektörü kurulabilir.</a:t>
            </a:r>
            <a:endParaRPr lang="tr-TR" dirty="0"/>
          </a:p>
        </p:txBody>
      </p:sp>
      <p:sp>
        <p:nvSpPr>
          <p:cNvPr id="5"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24</a:t>
            </a:fld>
            <a:endParaRPr lang="tr-T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Açı-Uzunluk Yöntemi</a:t>
            </a:r>
            <a:endParaRPr lang="tr-TR" dirty="0"/>
          </a:p>
        </p:txBody>
      </p:sp>
      <p:pic>
        <p:nvPicPr>
          <p:cNvPr id="8194" name="Picture 2"/>
          <p:cNvPicPr>
            <a:picLocks noGrp="1" noChangeAspect="1" noChangeArrowheads="1"/>
          </p:cNvPicPr>
          <p:nvPr>
            <p:ph sz="quarter" idx="1"/>
          </p:nvPr>
        </p:nvPicPr>
        <p:blipFill>
          <a:blip r:embed="rId2" cstate="print"/>
          <a:srcRect/>
          <a:stretch>
            <a:fillRect/>
          </a:stretch>
        </p:blipFill>
        <p:spPr bwMode="auto">
          <a:xfrm>
            <a:off x="2571736" y="2000240"/>
            <a:ext cx="3305175" cy="2981325"/>
          </a:xfrm>
          <a:prstGeom prst="rect">
            <a:avLst/>
          </a:prstGeom>
          <a:noFill/>
          <a:ln w="9525">
            <a:noFill/>
            <a:miter lim="800000"/>
            <a:headEnd/>
            <a:tailEnd/>
          </a:ln>
          <a:effectLst/>
        </p:spPr>
      </p:pic>
      <p:sp>
        <p:nvSpPr>
          <p:cNvPr id="6" name="5 Dikdörtgen"/>
          <p:cNvSpPr/>
          <p:nvPr/>
        </p:nvSpPr>
        <p:spPr>
          <a:xfrm>
            <a:off x="642910" y="5500702"/>
            <a:ext cx="7286676" cy="369332"/>
          </a:xfrm>
          <a:prstGeom prst="rect">
            <a:avLst/>
          </a:prstGeom>
        </p:spPr>
        <p:txBody>
          <a:bodyPr wrap="square">
            <a:spAutoFit/>
          </a:bodyPr>
          <a:lstStyle/>
          <a:p>
            <a:r>
              <a:rPr lang="tr-TR" b="1" dirty="0"/>
              <a:t>Şekil </a:t>
            </a:r>
            <a:r>
              <a:rPr lang="tr-TR" b="1" dirty="0" smtClean="0"/>
              <a:t>6.  </a:t>
            </a:r>
            <a:r>
              <a:rPr lang="tr-TR" b="1" dirty="0"/>
              <a:t>T alfabetik karakter örüntüsünün yapısal modeli.</a:t>
            </a:r>
            <a:endParaRPr lang="tr-TR" dirty="0"/>
          </a:p>
        </p:txBody>
      </p:sp>
      <p:sp>
        <p:nvSpPr>
          <p:cNvPr id="7"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25</a:t>
            </a:fld>
            <a:endParaRPr lang="tr-T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smtClean="0"/>
              <a:t>Açı-Uzunluk Yöntemi</a:t>
            </a:r>
            <a:endParaRPr lang="tr-TR" dirty="0"/>
          </a:p>
        </p:txBody>
      </p:sp>
      <p:sp>
        <p:nvSpPr>
          <p:cNvPr id="3" name="2 İçerik Yer Tutucusu"/>
          <p:cNvSpPr>
            <a:spLocks noGrp="1"/>
          </p:cNvSpPr>
          <p:nvPr>
            <p:ph sz="quarter" idx="1"/>
          </p:nvPr>
        </p:nvSpPr>
        <p:spPr>
          <a:xfrm>
            <a:off x="457200" y="1600200"/>
            <a:ext cx="7901014" cy="1114420"/>
          </a:xfrm>
        </p:spPr>
        <p:txBody>
          <a:bodyPr/>
          <a:lstStyle/>
          <a:p>
            <a:pPr>
              <a:buNone/>
            </a:pPr>
            <a:r>
              <a:rPr lang="tr-TR" b="1" dirty="0" smtClean="0"/>
              <a:t>	Tablo 1.  T harf örüntüsünün açı/uzunluk yöntemine göre yapısal özellikleri.</a:t>
            </a:r>
            <a:endParaRPr lang="tr-TR" dirty="0"/>
          </a:p>
        </p:txBody>
      </p:sp>
      <p:pic>
        <p:nvPicPr>
          <p:cNvPr id="9219" name="Picture 3"/>
          <p:cNvPicPr>
            <a:picLocks noChangeAspect="1" noChangeArrowheads="1"/>
          </p:cNvPicPr>
          <p:nvPr/>
        </p:nvPicPr>
        <p:blipFill>
          <a:blip r:embed="rId2" cstate="print"/>
          <a:srcRect/>
          <a:stretch>
            <a:fillRect/>
          </a:stretch>
        </p:blipFill>
        <p:spPr bwMode="auto">
          <a:xfrm>
            <a:off x="2357422" y="2643182"/>
            <a:ext cx="4333875" cy="3562350"/>
          </a:xfrm>
          <a:prstGeom prst="rect">
            <a:avLst/>
          </a:prstGeom>
          <a:noFill/>
          <a:ln w="9525">
            <a:noFill/>
            <a:miter lim="800000"/>
            <a:headEnd/>
            <a:tailEnd/>
          </a:ln>
          <a:effectLst/>
        </p:spPr>
      </p:pic>
      <p:sp>
        <p:nvSpPr>
          <p:cNvPr id="6" name="3 Slayt Numarası Yer Tutucusu"/>
          <p:cNvSpPr>
            <a:spLocks noGrp="1"/>
          </p:cNvSpPr>
          <p:nvPr>
            <p:ph type="sldNum" sz="quarter" idx="12"/>
          </p:nvPr>
        </p:nvSpPr>
        <p:spPr>
          <a:xfrm>
            <a:off x="146304" y="6210300"/>
            <a:ext cx="457200" cy="457200"/>
          </a:xfrm>
        </p:spPr>
        <p:txBody>
          <a:bodyPr/>
          <a:lstStyle/>
          <a:p>
            <a:fld id="{D3F2149C-45F2-4E51-8413-2DAB02A1D379}" type="slidenum">
              <a:rPr lang="tr-TR" smtClean="0"/>
              <a:pPr/>
              <a:t>26</a:t>
            </a:fld>
            <a:endParaRPr lang="tr-T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11188" y="333375"/>
            <a:ext cx="8137525" cy="1096963"/>
          </a:xfrm>
          <a:prstGeom prst="rect">
            <a:avLst/>
          </a:prstGeom>
          <a:noFill/>
          <a:ln w="9525">
            <a:noFill/>
            <a:miter lim="800000"/>
            <a:headEnd/>
            <a:tailEnd/>
          </a:ln>
        </p:spPr>
        <p:txBody>
          <a:bodyPr>
            <a:spAutoFit/>
          </a:bodyPr>
          <a:lstStyle/>
          <a:p>
            <a:r>
              <a:rPr lang="tr-TR" sz="2200" b="1" dirty="0" err="1"/>
              <a:t>Run</a:t>
            </a:r>
            <a:r>
              <a:rPr lang="tr-TR" sz="2200" b="1" dirty="0"/>
              <a:t>-</a:t>
            </a:r>
            <a:r>
              <a:rPr lang="tr-TR" sz="2200" b="1" dirty="0" err="1"/>
              <a:t>lenght</a:t>
            </a:r>
            <a:r>
              <a:rPr lang="tr-TR" sz="2200" b="1" dirty="0"/>
              <a:t> kodu:</a:t>
            </a:r>
            <a:endParaRPr lang="tr-TR" sz="2200" dirty="0"/>
          </a:p>
          <a:p>
            <a:r>
              <a:rPr lang="tr-TR" sz="2200" dirty="0"/>
              <a:t>Görüntüdeki ardışık siyah ve beyaz piksellerin sayısı şeklinde bir kodlama yöntemidir.</a:t>
            </a:r>
            <a:r>
              <a:rPr lang="tr-TR" dirty="0"/>
              <a:t> </a:t>
            </a:r>
          </a:p>
        </p:txBody>
      </p:sp>
      <p:pic>
        <p:nvPicPr>
          <p:cNvPr id="7171" name="Picture 3"/>
          <p:cNvPicPr>
            <a:picLocks noChangeAspect="1" noChangeArrowheads="1"/>
          </p:cNvPicPr>
          <p:nvPr/>
        </p:nvPicPr>
        <p:blipFill>
          <a:blip r:embed="rId2" cstate="print"/>
          <a:srcRect/>
          <a:stretch>
            <a:fillRect/>
          </a:stretch>
        </p:blipFill>
        <p:spPr bwMode="auto">
          <a:xfrm>
            <a:off x="755650" y="1557338"/>
            <a:ext cx="2847975" cy="3889375"/>
          </a:xfrm>
          <a:prstGeom prst="rect">
            <a:avLst/>
          </a:prstGeom>
          <a:noFill/>
          <a:ln w="9525">
            <a:noFill/>
            <a:miter lim="800000"/>
            <a:headEnd/>
            <a:tailEnd/>
          </a:ln>
        </p:spPr>
      </p:pic>
      <p:sp>
        <p:nvSpPr>
          <p:cNvPr id="7172" name="Text Box 4"/>
          <p:cNvSpPr txBox="1">
            <a:spLocks noChangeArrowheads="1"/>
          </p:cNvSpPr>
          <p:nvPr/>
        </p:nvSpPr>
        <p:spPr bwMode="auto">
          <a:xfrm>
            <a:off x="4140200" y="1844675"/>
            <a:ext cx="4248150" cy="3749675"/>
          </a:xfrm>
          <a:prstGeom prst="rect">
            <a:avLst/>
          </a:prstGeom>
          <a:noFill/>
          <a:ln w="9525">
            <a:noFill/>
            <a:miter lim="800000"/>
            <a:headEnd/>
            <a:tailEnd/>
          </a:ln>
        </p:spPr>
        <p:txBody>
          <a:bodyPr>
            <a:spAutoFit/>
          </a:bodyPr>
          <a:lstStyle/>
          <a:p>
            <a:pPr algn="just"/>
            <a:r>
              <a:rPr lang="tr-TR" sz="2000" b="1" dirty="0" err="1"/>
              <a:t>Run</a:t>
            </a:r>
            <a:r>
              <a:rPr lang="tr-TR" sz="2000" b="1" dirty="0"/>
              <a:t>-</a:t>
            </a:r>
            <a:r>
              <a:rPr lang="tr-TR" sz="2000" b="1" dirty="0" err="1"/>
              <a:t>lenght</a:t>
            </a:r>
            <a:r>
              <a:rPr lang="tr-TR" sz="2000" b="1" dirty="0"/>
              <a:t> kodu: (323252328)</a:t>
            </a:r>
          </a:p>
          <a:p>
            <a:pPr algn="just"/>
            <a:endParaRPr lang="tr-TR" sz="2000" dirty="0"/>
          </a:p>
          <a:p>
            <a:pPr algn="just"/>
            <a:r>
              <a:rPr lang="tr-TR" sz="2000" b="1" dirty="0"/>
              <a:t>Başlangıç bit bilgisi “0” eklenecek olursa; </a:t>
            </a:r>
          </a:p>
          <a:p>
            <a:pPr algn="just"/>
            <a:endParaRPr lang="tr-TR" sz="2000" b="1" dirty="0"/>
          </a:p>
          <a:p>
            <a:pPr algn="just"/>
            <a:r>
              <a:rPr lang="tr-TR" sz="2000" b="1" dirty="0"/>
              <a:t>R=[0, 3, 2, 3, 2, 5, 2, 3, 2, 8)] </a:t>
            </a:r>
          </a:p>
          <a:p>
            <a:pPr algn="just"/>
            <a:endParaRPr lang="tr-TR" sz="2000" dirty="0"/>
          </a:p>
          <a:p>
            <a:pPr algn="just"/>
            <a:r>
              <a:rPr lang="tr-TR" sz="2000" dirty="0"/>
              <a:t>Orijinal görüntü 30 pikselden oluşmaktadır. 30 </a:t>
            </a:r>
            <a:r>
              <a:rPr lang="tr-TR" sz="2000" dirty="0" err="1"/>
              <a:t>byte’lık</a:t>
            </a:r>
            <a:r>
              <a:rPr lang="tr-TR" sz="2000" dirty="0"/>
              <a:t> bellekte yer tutar. Ancak </a:t>
            </a:r>
            <a:r>
              <a:rPr lang="tr-TR" sz="2000" dirty="0" err="1"/>
              <a:t>run</a:t>
            </a:r>
            <a:r>
              <a:rPr lang="tr-TR" sz="2000" dirty="0"/>
              <a:t>-</a:t>
            </a:r>
            <a:r>
              <a:rPr lang="tr-TR" sz="2000" dirty="0" err="1"/>
              <a:t>lenght</a:t>
            </a:r>
            <a:r>
              <a:rPr lang="tr-TR" sz="2000" dirty="0"/>
              <a:t> kodlu görüntü bilgisi, başlangıç rengi dahil 8 </a:t>
            </a:r>
            <a:r>
              <a:rPr lang="tr-TR" sz="2000" dirty="0" err="1"/>
              <a:t>byte’lık</a:t>
            </a:r>
            <a:r>
              <a:rPr lang="tr-TR" sz="2000" dirty="0"/>
              <a:t> yer tutacaktır.</a:t>
            </a:r>
          </a:p>
        </p:txBody>
      </p:sp>
      <p:sp>
        <p:nvSpPr>
          <p:cNvPr id="7173" name="Text Box 5"/>
          <p:cNvSpPr txBox="1">
            <a:spLocks noChangeArrowheads="1"/>
          </p:cNvSpPr>
          <p:nvPr/>
        </p:nvSpPr>
        <p:spPr bwMode="auto">
          <a:xfrm>
            <a:off x="323850" y="5734050"/>
            <a:ext cx="7632700" cy="427038"/>
          </a:xfrm>
          <a:prstGeom prst="rect">
            <a:avLst/>
          </a:prstGeom>
          <a:noFill/>
          <a:ln w="9525">
            <a:noFill/>
            <a:miter lim="800000"/>
            <a:headEnd/>
            <a:tailEnd/>
          </a:ln>
        </p:spPr>
        <p:txBody>
          <a:bodyPr>
            <a:spAutoFit/>
          </a:bodyPr>
          <a:lstStyle/>
          <a:p>
            <a:pPr>
              <a:spcBef>
                <a:spcPct val="50000"/>
              </a:spcBef>
            </a:pPr>
            <a:r>
              <a:rPr lang="tr-TR" sz="2200" b="1" dirty="0"/>
              <a:t>Şekil 8 </a:t>
            </a:r>
            <a:r>
              <a:rPr lang="tr-TR" sz="2200" dirty="0" err="1"/>
              <a:t>Run</a:t>
            </a:r>
            <a:r>
              <a:rPr lang="tr-TR" sz="2200" dirty="0"/>
              <a:t>-</a:t>
            </a:r>
            <a:r>
              <a:rPr lang="tr-TR" sz="2200" dirty="0" err="1"/>
              <a:t>lenght</a:t>
            </a:r>
            <a:r>
              <a:rPr lang="tr-TR" sz="2200" dirty="0"/>
              <a:t> kodunun gösterimi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2"/>
          <p:cNvSpPr txBox="1">
            <a:spLocks noChangeArrowheads="1"/>
          </p:cNvSpPr>
          <p:nvPr/>
        </p:nvSpPr>
        <p:spPr bwMode="auto">
          <a:xfrm>
            <a:off x="428625" y="1071563"/>
            <a:ext cx="7891463" cy="2124075"/>
          </a:xfrm>
          <a:prstGeom prst="rect">
            <a:avLst/>
          </a:prstGeom>
          <a:noFill/>
          <a:ln w="9525">
            <a:noFill/>
            <a:miter lim="800000"/>
            <a:headEnd/>
            <a:tailEnd/>
          </a:ln>
        </p:spPr>
        <p:txBody>
          <a:bodyPr>
            <a:spAutoFit/>
          </a:bodyPr>
          <a:lstStyle/>
          <a:p>
            <a:r>
              <a:rPr lang="tr-TR" sz="2200" b="1" dirty="0"/>
              <a:t>Yatay ve dikey projeksiyonlar:</a:t>
            </a:r>
          </a:p>
          <a:p>
            <a:endParaRPr lang="tr-TR" sz="2200" dirty="0"/>
          </a:p>
          <a:p>
            <a:r>
              <a:rPr lang="tr-TR" sz="2200" dirty="0"/>
              <a:t>Görüntü matrisi içerisinde her bir yatay sıradaki siyah piksel sayısı yatay projeksiyon, her bir dikey kolondaki siyah piksel sayısı dikey projeksiyon değerini verecektir.  Aşağıdaki formül yardımıyla yatay ve dikey projeksiyon değerleri hesaplanır. </a:t>
            </a:r>
          </a:p>
        </p:txBody>
      </p:sp>
      <p:sp>
        <p:nvSpPr>
          <p:cNvPr id="1029" name="Rectangle 3"/>
          <p:cNvSpPr>
            <a:spLocks noChangeArrowheads="1"/>
          </p:cNvSpPr>
          <p:nvPr/>
        </p:nvSpPr>
        <p:spPr bwMode="auto">
          <a:xfrm>
            <a:off x="0" y="3133725"/>
            <a:ext cx="9144000" cy="0"/>
          </a:xfrm>
          <a:prstGeom prst="rect">
            <a:avLst/>
          </a:prstGeom>
          <a:noFill/>
          <a:ln w="9525">
            <a:noFill/>
            <a:miter lim="800000"/>
            <a:headEnd/>
            <a:tailEnd/>
          </a:ln>
        </p:spPr>
        <p:txBody>
          <a:bodyPr wrap="none" anchor="ctr">
            <a:spAutoFit/>
          </a:bodyPr>
          <a:lstStyle/>
          <a:p>
            <a:endParaRPr lang="tr-TR"/>
          </a:p>
        </p:txBody>
      </p:sp>
      <p:graphicFrame>
        <p:nvGraphicFramePr>
          <p:cNvPr id="1026" name="Object 4"/>
          <p:cNvGraphicFramePr>
            <a:graphicFrameLocks noChangeAspect="1"/>
          </p:cNvGraphicFramePr>
          <p:nvPr/>
        </p:nvGraphicFramePr>
        <p:xfrm>
          <a:off x="571500" y="4217988"/>
          <a:ext cx="2879725" cy="1068387"/>
        </p:xfrm>
        <a:graphic>
          <a:graphicData uri="http://schemas.openxmlformats.org/presentationml/2006/ole">
            <mc:AlternateContent xmlns:mc="http://schemas.openxmlformats.org/markup-compatibility/2006">
              <mc:Choice xmlns:v="urn:schemas-microsoft-com:vml" Requires="v">
                <p:oleObj spid="_x0000_s1030" r:id="rId3" imgW="850531" imgH="317362" progId="">
                  <p:embed/>
                </p:oleObj>
              </mc:Choice>
              <mc:Fallback>
                <p:oleObj r:id="rId3" imgW="850531" imgH="317362"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4217988"/>
                        <a:ext cx="2879725" cy="1068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0" name="Rectangle 5"/>
          <p:cNvSpPr>
            <a:spLocks noChangeArrowheads="1"/>
          </p:cNvSpPr>
          <p:nvPr/>
        </p:nvSpPr>
        <p:spPr bwMode="auto">
          <a:xfrm>
            <a:off x="0" y="3152775"/>
            <a:ext cx="9144000" cy="0"/>
          </a:xfrm>
          <a:prstGeom prst="rect">
            <a:avLst/>
          </a:prstGeom>
          <a:noFill/>
          <a:ln w="9525">
            <a:noFill/>
            <a:miter lim="800000"/>
            <a:headEnd/>
            <a:tailEnd/>
          </a:ln>
        </p:spPr>
        <p:txBody>
          <a:bodyPr wrap="none" anchor="ctr">
            <a:spAutoFit/>
          </a:bodyPr>
          <a:lstStyle/>
          <a:p>
            <a:endParaRPr lang="tr-TR"/>
          </a:p>
        </p:txBody>
      </p:sp>
      <p:graphicFrame>
        <p:nvGraphicFramePr>
          <p:cNvPr id="1027" name="Object 6"/>
          <p:cNvGraphicFramePr>
            <a:graphicFrameLocks noChangeAspect="1"/>
          </p:cNvGraphicFramePr>
          <p:nvPr/>
        </p:nvGraphicFramePr>
        <p:xfrm>
          <a:off x="4357688" y="4214813"/>
          <a:ext cx="2995612" cy="1071562"/>
        </p:xfrm>
        <a:graphic>
          <a:graphicData uri="http://schemas.openxmlformats.org/presentationml/2006/ole">
            <mc:AlternateContent xmlns:mc="http://schemas.openxmlformats.org/markup-compatibility/2006">
              <mc:Choice xmlns:v="urn:schemas-microsoft-com:vml" Requires="v">
                <p:oleObj spid="_x0000_s1031" r:id="rId5" imgW="850531" imgH="304668" progId="">
                  <p:embed/>
                </p:oleObj>
              </mc:Choice>
              <mc:Fallback>
                <p:oleObj r:id="rId5" imgW="850531" imgH="304668" progId="">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7688" y="4214813"/>
                        <a:ext cx="2995612" cy="1071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42938" y="1357313"/>
            <a:ext cx="7999412" cy="2462212"/>
          </a:xfrm>
          <a:prstGeom prst="rect">
            <a:avLst/>
          </a:prstGeom>
          <a:noFill/>
          <a:ln w="9525">
            <a:noFill/>
            <a:miter lim="800000"/>
            <a:headEnd/>
            <a:tailEnd/>
          </a:ln>
        </p:spPr>
        <p:txBody>
          <a:bodyPr>
            <a:spAutoFit/>
          </a:bodyPr>
          <a:lstStyle/>
          <a:p>
            <a:r>
              <a:rPr lang="tr-TR" sz="2200" b="1" dirty="0"/>
              <a:t>Maskeleme yöntemi:</a:t>
            </a:r>
          </a:p>
          <a:p>
            <a:endParaRPr lang="tr-TR" sz="2200" dirty="0"/>
          </a:p>
          <a:p>
            <a:pPr algn="just"/>
            <a:r>
              <a:rPr lang="tr-TR" sz="2200" dirty="0"/>
              <a:t>Aşağıda örnekte verilmiş olan maskeler uygulamaya yönelik olarak tasarlanırlar ve görüntü içerisinde her bir maskenin tekrarlanma sıklığı (frekansı) hesaplanır. Her bir maske için elde edilen frekans değerleri ayırt edici kriter yani özellik olarak kullanılırlar.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rcRect/>
          <a:stretch>
            <a:fillRect/>
          </a:stretch>
        </p:blipFill>
        <p:spPr bwMode="auto">
          <a:xfrm>
            <a:off x="1857375" y="714375"/>
            <a:ext cx="5165725" cy="547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23850" y="333375"/>
            <a:ext cx="8569325" cy="1096963"/>
          </a:xfrm>
          <a:prstGeom prst="rect">
            <a:avLst/>
          </a:prstGeom>
          <a:noFill/>
          <a:ln w="9525">
            <a:noFill/>
            <a:miter lim="800000"/>
            <a:headEnd/>
            <a:tailEnd/>
          </a:ln>
        </p:spPr>
        <p:txBody>
          <a:bodyPr>
            <a:spAutoFit/>
          </a:bodyPr>
          <a:lstStyle/>
          <a:p>
            <a:pPr>
              <a:spcBef>
                <a:spcPct val="50000"/>
              </a:spcBef>
            </a:pPr>
            <a:r>
              <a:rPr lang="tr-TR" sz="2200" b="1" dirty="0"/>
              <a:t>(</a:t>
            </a:r>
            <a:r>
              <a:rPr lang="tr-TR" sz="2200" b="1" dirty="0" err="1"/>
              <a:t>Eccentricity</a:t>
            </a:r>
            <a:r>
              <a:rPr lang="tr-TR" sz="2200" b="1" dirty="0"/>
              <a:t>) Dış merkezlilik:  </a:t>
            </a:r>
            <a:r>
              <a:rPr lang="tr-TR" sz="2200" dirty="0"/>
              <a:t>Dış merkezlilik hesaplamanın en kolay yolu maksimum A </a:t>
            </a:r>
            <a:r>
              <a:rPr lang="tr-TR" sz="2200" dirty="0" err="1"/>
              <a:t>krişinin</a:t>
            </a:r>
            <a:r>
              <a:rPr lang="tr-TR" sz="2200" dirty="0"/>
              <a:t>; A kirişine dik olan B </a:t>
            </a:r>
            <a:r>
              <a:rPr lang="tr-TR" sz="2200" dirty="0" err="1"/>
              <a:t>krişine</a:t>
            </a:r>
            <a:r>
              <a:rPr lang="tr-TR" sz="2200" dirty="0"/>
              <a:t> oranı şeklindedir</a:t>
            </a:r>
            <a:r>
              <a:rPr lang="tr-TR" dirty="0"/>
              <a:t>.</a:t>
            </a:r>
          </a:p>
        </p:txBody>
      </p:sp>
      <p:grpSp>
        <p:nvGrpSpPr>
          <p:cNvPr id="2" name="Group 3"/>
          <p:cNvGrpSpPr>
            <a:grpSpLocks/>
          </p:cNvGrpSpPr>
          <p:nvPr/>
        </p:nvGrpSpPr>
        <p:grpSpPr bwMode="auto">
          <a:xfrm>
            <a:off x="395288" y="1773238"/>
            <a:ext cx="5197475" cy="2478087"/>
            <a:chOff x="1417" y="10877"/>
            <a:chExt cx="6160" cy="2216"/>
          </a:xfrm>
        </p:grpSpPr>
        <p:sp>
          <p:nvSpPr>
            <p:cNvPr id="10245" name="Freeform 4"/>
            <p:cNvSpPr>
              <a:spLocks/>
            </p:cNvSpPr>
            <p:nvPr/>
          </p:nvSpPr>
          <p:spPr bwMode="auto">
            <a:xfrm>
              <a:off x="1417" y="10877"/>
              <a:ext cx="6160" cy="2216"/>
            </a:xfrm>
            <a:custGeom>
              <a:avLst/>
              <a:gdLst>
                <a:gd name="T0" fmla="*/ 3183 w 6160"/>
                <a:gd name="T1" fmla="*/ 767 h 1776"/>
                <a:gd name="T2" fmla="*/ 3283 w 6160"/>
                <a:gd name="T3" fmla="*/ 114 h 1776"/>
                <a:gd name="T4" fmla="*/ 1443 w 6160"/>
                <a:gd name="T5" fmla="*/ 114 h 1776"/>
                <a:gd name="T6" fmla="*/ 363 w 6160"/>
                <a:gd name="T7" fmla="*/ 799 h 1776"/>
                <a:gd name="T8" fmla="*/ 343 w 6160"/>
                <a:gd name="T9" fmla="*/ 1296 h 1776"/>
                <a:gd name="T10" fmla="*/ 2423 w 6160"/>
                <a:gd name="T11" fmla="*/ 1764 h 1776"/>
                <a:gd name="T12" fmla="*/ 3043 w 6160"/>
                <a:gd name="T13" fmla="*/ 1827 h 1776"/>
                <a:gd name="T14" fmla="*/ 4863 w 6160"/>
                <a:gd name="T15" fmla="*/ 2698 h 1776"/>
                <a:gd name="T16" fmla="*/ 6103 w 6160"/>
                <a:gd name="T17" fmla="*/ 1421 h 1776"/>
                <a:gd name="T18" fmla="*/ 5203 w 6160"/>
                <a:gd name="T19" fmla="*/ 519 h 1776"/>
                <a:gd name="T20" fmla="*/ 3663 w 6160"/>
                <a:gd name="T21" fmla="*/ 799 h 1776"/>
                <a:gd name="T22" fmla="*/ 3183 w 6160"/>
                <a:gd name="T23" fmla="*/ 767 h 177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60"/>
                <a:gd name="T37" fmla="*/ 0 h 1776"/>
                <a:gd name="T38" fmla="*/ 6160 w 6160"/>
                <a:gd name="T39" fmla="*/ 1776 h 177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60" h="1776">
                  <a:moveTo>
                    <a:pt x="3183" y="493"/>
                  </a:moveTo>
                  <a:cubicBezTo>
                    <a:pt x="3120" y="420"/>
                    <a:pt x="3573" y="143"/>
                    <a:pt x="3283" y="73"/>
                  </a:cubicBezTo>
                  <a:cubicBezTo>
                    <a:pt x="2993" y="3"/>
                    <a:pt x="1930" y="0"/>
                    <a:pt x="1443" y="73"/>
                  </a:cubicBezTo>
                  <a:cubicBezTo>
                    <a:pt x="956" y="146"/>
                    <a:pt x="546" y="386"/>
                    <a:pt x="363" y="513"/>
                  </a:cubicBezTo>
                  <a:cubicBezTo>
                    <a:pt x="180" y="640"/>
                    <a:pt x="0" y="730"/>
                    <a:pt x="343" y="833"/>
                  </a:cubicBezTo>
                  <a:cubicBezTo>
                    <a:pt x="686" y="936"/>
                    <a:pt x="1973" y="1076"/>
                    <a:pt x="2423" y="1133"/>
                  </a:cubicBezTo>
                  <a:cubicBezTo>
                    <a:pt x="2873" y="1190"/>
                    <a:pt x="2636" y="1073"/>
                    <a:pt x="3043" y="1173"/>
                  </a:cubicBezTo>
                  <a:cubicBezTo>
                    <a:pt x="3450" y="1273"/>
                    <a:pt x="4353" y="1776"/>
                    <a:pt x="4863" y="1733"/>
                  </a:cubicBezTo>
                  <a:cubicBezTo>
                    <a:pt x="5373" y="1690"/>
                    <a:pt x="6046" y="1146"/>
                    <a:pt x="6103" y="913"/>
                  </a:cubicBezTo>
                  <a:cubicBezTo>
                    <a:pt x="6160" y="680"/>
                    <a:pt x="5610" y="400"/>
                    <a:pt x="5203" y="333"/>
                  </a:cubicBezTo>
                  <a:cubicBezTo>
                    <a:pt x="4796" y="266"/>
                    <a:pt x="3993" y="483"/>
                    <a:pt x="3663" y="513"/>
                  </a:cubicBezTo>
                  <a:cubicBezTo>
                    <a:pt x="3333" y="543"/>
                    <a:pt x="3246" y="566"/>
                    <a:pt x="3183" y="493"/>
                  </a:cubicBezTo>
                  <a:close/>
                </a:path>
              </a:pathLst>
            </a:custGeom>
            <a:solidFill>
              <a:srgbClr val="FFFFFF"/>
            </a:solidFill>
            <a:ln w="9525">
              <a:solidFill>
                <a:srgbClr val="000000"/>
              </a:solidFill>
              <a:round/>
              <a:headEnd/>
              <a:tailEnd/>
            </a:ln>
          </p:spPr>
          <p:txBody>
            <a:bodyPr/>
            <a:lstStyle/>
            <a:p>
              <a:endParaRPr lang="tr-TR"/>
            </a:p>
          </p:txBody>
        </p:sp>
        <p:sp>
          <p:nvSpPr>
            <p:cNvPr id="10246" name="Line 5"/>
            <p:cNvSpPr>
              <a:spLocks noChangeShapeType="1"/>
            </p:cNvSpPr>
            <p:nvPr/>
          </p:nvSpPr>
          <p:spPr bwMode="auto">
            <a:xfrm>
              <a:off x="6380" y="11309"/>
              <a:ext cx="0" cy="1720"/>
            </a:xfrm>
            <a:prstGeom prst="line">
              <a:avLst/>
            </a:prstGeom>
            <a:noFill/>
            <a:ln w="28575">
              <a:solidFill>
                <a:srgbClr val="000000"/>
              </a:solidFill>
              <a:prstDash val="dash"/>
              <a:round/>
              <a:headEnd/>
              <a:tailEnd/>
            </a:ln>
          </p:spPr>
          <p:txBody>
            <a:bodyPr/>
            <a:lstStyle/>
            <a:p>
              <a:endParaRPr lang="tr-TR"/>
            </a:p>
          </p:txBody>
        </p:sp>
        <p:sp>
          <p:nvSpPr>
            <p:cNvPr id="10247" name="Text Box 6"/>
            <p:cNvSpPr txBox="1">
              <a:spLocks noChangeArrowheads="1"/>
            </p:cNvSpPr>
            <p:nvPr/>
          </p:nvSpPr>
          <p:spPr bwMode="auto">
            <a:xfrm>
              <a:off x="6340" y="11770"/>
              <a:ext cx="580" cy="680"/>
            </a:xfrm>
            <a:prstGeom prst="rect">
              <a:avLst/>
            </a:prstGeom>
            <a:noFill/>
            <a:ln w="9525">
              <a:noFill/>
              <a:miter lim="800000"/>
              <a:headEnd/>
              <a:tailEnd/>
            </a:ln>
          </p:spPr>
          <p:txBody>
            <a:bodyPr/>
            <a:lstStyle/>
            <a:p>
              <a:r>
                <a:rPr lang="tr-TR" sz="1200" b="1"/>
                <a:t>B</a:t>
              </a:r>
              <a:endParaRPr lang="tr-TR"/>
            </a:p>
          </p:txBody>
        </p:sp>
        <p:sp>
          <p:nvSpPr>
            <p:cNvPr id="10248" name="Line 7"/>
            <p:cNvSpPr>
              <a:spLocks noChangeShapeType="1"/>
            </p:cNvSpPr>
            <p:nvPr/>
          </p:nvSpPr>
          <p:spPr bwMode="auto">
            <a:xfrm flipV="1">
              <a:off x="1560" y="11770"/>
              <a:ext cx="5880" cy="0"/>
            </a:xfrm>
            <a:prstGeom prst="line">
              <a:avLst/>
            </a:prstGeom>
            <a:noFill/>
            <a:ln w="28575">
              <a:solidFill>
                <a:srgbClr val="000000"/>
              </a:solidFill>
              <a:prstDash val="dash"/>
              <a:round/>
              <a:headEnd/>
              <a:tailEnd/>
            </a:ln>
          </p:spPr>
          <p:txBody>
            <a:bodyPr/>
            <a:lstStyle/>
            <a:p>
              <a:endParaRPr lang="tr-TR"/>
            </a:p>
          </p:txBody>
        </p:sp>
        <p:sp>
          <p:nvSpPr>
            <p:cNvPr id="10249" name="Text Box 8"/>
            <p:cNvSpPr txBox="1">
              <a:spLocks noChangeArrowheads="1"/>
            </p:cNvSpPr>
            <p:nvPr/>
          </p:nvSpPr>
          <p:spPr bwMode="auto">
            <a:xfrm>
              <a:off x="3137" y="11269"/>
              <a:ext cx="820" cy="600"/>
            </a:xfrm>
            <a:prstGeom prst="rect">
              <a:avLst/>
            </a:prstGeom>
            <a:noFill/>
            <a:ln w="9525">
              <a:noFill/>
              <a:miter lim="800000"/>
              <a:headEnd/>
              <a:tailEnd/>
            </a:ln>
          </p:spPr>
          <p:txBody>
            <a:bodyPr/>
            <a:lstStyle/>
            <a:p>
              <a:r>
                <a:rPr lang="tr-TR" sz="1200" b="1"/>
                <a:t>A</a:t>
              </a:r>
              <a:endParaRPr lang="tr-TR"/>
            </a:p>
          </p:txBody>
        </p:sp>
      </p:grpSp>
      <p:sp>
        <p:nvSpPr>
          <p:cNvPr id="10244" name="Text Box 9"/>
          <p:cNvSpPr txBox="1">
            <a:spLocks noChangeArrowheads="1"/>
          </p:cNvSpPr>
          <p:nvPr/>
        </p:nvSpPr>
        <p:spPr bwMode="auto">
          <a:xfrm>
            <a:off x="6011863" y="1989138"/>
            <a:ext cx="1584325" cy="366712"/>
          </a:xfrm>
          <a:prstGeom prst="rect">
            <a:avLst/>
          </a:prstGeom>
          <a:noFill/>
          <a:ln w="9525">
            <a:noFill/>
            <a:miter lim="800000"/>
            <a:headEnd/>
            <a:tailEnd/>
          </a:ln>
        </p:spPr>
        <p:txBody>
          <a:bodyPr>
            <a:spAutoFit/>
          </a:bodyPr>
          <a:lstStyle/>
          <a:p>
            <a:pPr>
              <a:spcBef>
                <a:spcPct val="50000"/>
              </a:spcBef>
            </a:pPr>
            <a:r>
              <a:rPr lang="tr-TR" dirty="0"/>
              <a:t>e= A/B</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539750" y="836613"/>
            <a:ext cx="7848600" cy="1096962"/>
          </a:xfrm>
          <a:prstGeom prst="rect">
            <a:avLst/>
          </a:prstGeom>
          <a:noFill/>
          <a:ln w="9525">
            <a:noFill/>
            <a:miter lim="800000"/>
            <a:headEnd/>
            <a:tailEnd/>
          </a:ln>
        </p:spPr>
        <p:txBody>
          <a:bodyPr>
            <a:spAutoFit/>
          </a:bodyPr>
          <a:lstStyle/>
          <a:p>
            <a:pPr algn="just">
              <a:spcBef>
                <a:spcPct val="50000"/>
              </a:spcBef>
            </a:pPr>
            <a:r>
              <a:rPr lang="tr-TR" sz="2200" b="1" dirty="0" err="1"/>
              <a:t>Compactness</a:t>
            </a:r>
            <a:r>
              <a:rPr lang="tr-TR" sz="2200" b="1" dirty="0"/>
              <a:t> (Yoğunluk): </a:t>
            </a:r>
            <a:r>
              <a:rPr lang="tr-TR" sz="2200" dirty="0" err="1"/>
              <a:t>Compactness</a:t>
            </a:r>
            <a:r>
              <a:rPr lang="tr-TR" sz="2200" dirty="0"/>
              <a:t>, çevrenin karesinin alana oranı şeklinde hesaplanabilir. Bu özellik “</a:t>
            </a:r>
            <a:r>
              <a:rPr lang="tr-TR" sz="2200" b="1" dirty="0" err="1"/>
              <a:t>shape</a:t>
            </a:r>
            <a:r>
              <a:rPr lang="tr-TR" sz="2200" b="1" dirty="0"/>
              <a:t> </a:t>
            </a:r>
            <a:r>
              <a:rPr lang="tr-TR" sz="2200" b="1" dirty="0" err="1"/>
              <a:t>factor</a:t>
            </a:r>
            <a:r>
              <a:rPr lang="tr-TR" sz="2200" b="1" dirty="0"/>
              <a:t> (şekil faktörü)</a:t>
            </a:r>
            <a:r>
              <a:rPr lang="tr-TR" sz="2200" dirty="0"/>
              <a:t> olarak da tanımlanmaktadır.</a:t>
            </a:r>
          </a:p>
        </p:txBody>
      </p:sp>
      <p:graphicFrame>
        <p:nvGraphicFramePr>
          <p:cNvPr id="2050" name="Object 3"/>
          <p:cNvGraphicFramePr>
            <a:graphicFrameLocks noGrp="1" noChangeAspect="1"/>
          </p:cNvGraphicFramePr>
          <p:nvPr>
            <p:ph/>
          </p:nvPr>
        </p:nvGraphicFramePr>
        <p:xfrm>
          <a:off x="2846388" y="2205038"/>
          <a:ext cx="2441575" cy="1296987"/>
        </p:xfrm>
        <a:graphic>
          <a:graphicData uri="http://schemas.openxmlformats.org/presentationml/2006/ole">
            <mc:AlternateContent xmlns:mc="http://schemas.openxmlformats.org/markup-compatibility/2006">
              <mc:Choice xmlns:v="urn:schemas-microsoft-com:vml" Requires="v">
                <p:oleObj spid="_x0000_s2052" name="Denklem" r:id="rId3" imgW="812520" imgH="431640" progId="Equation.3">
                  <p:embed/>
                </p:oleObj>
              </mc:Choice>
              <mc:Fallback>
                <p:oleObj name="Denklem" r:id="rId3" imgW="812520" imgH="43164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6388" y="2205038"/>
                        <a:ext cx="2441575" cy="1296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isse Senedi">
  <a:themeElements>
    <a:clrScheme name="Hisse Senedi">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Hisse Senedi">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Hisse Senedi">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917</TotalTime>
  <Words>431</Words>
  <Application>Microsoft Office PowerPoint</Application>
  <PresentationFormat>Ekran Gösterisi (4:3)</PresentationFormat>
  <Paragraphs>125</Paragraphs>
  <Slides>32</Slides>
  <Notes>1</Notes>
  <HiddenSlides>0</HiddenSlides>
  <MMClips>0</MMClips>
  <ScaleCrop>false</ScaleCrop>
  <HeadingPairs>
    <vt:vector size="8" baseType="variant">
      <vt:variant>
        <vt:lpstr>Kullanılan Yazı Tipleri</vt:lpstr>
      </vt:variant>
      <vt:variant>
        <vt:i4>4</vt:i4>
      </vt:variant>
      <vt:variant>
        <vt:lpstr>Tema</vt:lpstr>
      </vt:variant>
      <vt:variant>
        <vt:i4>1</vt:i4>
      </vt:variant>
      <vt:variant>
        <vt:lpstr>Eklenmiş OLE Hizmet Programları</vt:lpstr>
      </vt:variant>
      <vt:variant>
        <vt:i4>1</vt:i4>
      </vt:variant>
      <vt:variant>
        <vt:lpstr>Slayt Başlıkları</vt:lpstr>
      </vt:variant>
      <vt:variant>
        <vt:i4>32</vt:i4>
      </vt:variant>
    </vt:vector>
  </HeadingPairs>
  <TitlesOfParts>
    <vt:vector size="38" baseType="lpstr">
      <vt:lpstr>Calibri</vt:lpstr>
      <vt:lpstr>Franklin Gothic Book</vt:lpstr>
      <vt:lpstr>Perpetua</vt:lpstr>
      <vt:lpstr>Wingdings 2</vt:lpstr>
      <vt:lpstr>Hisse Senedi</vt:lpstr>
      <vt:lpstr>Denklem</vt:lpstr>
      <vt:lpstr>Örüntü Tanıma </vt:lpstr>
      <vt:lpstr>Örüntü Tanima Sistemlerinin Sınıflandırılması</vt:lpstr>
      <vt:lpstr>Örüntü Tanima Sistemlerinin Sınıflandırılması</vt:lpstr>
      <vt:lpstr>Örüntü Tanima Sistemlerinin Sınıflandırılması</vt:lpstr>
      <vt:lpstr>Öznitelik vektörleri</vt:lpstr>
      <vt:lpstr>Öznitelik vektörleri</vt:lpstr>
      <vt:lpstr>Otoregresif model</vt:lpstr>
      <vt:lpstr>Otoregresif model</vt:lpstr>
      <vt:lpstr>Otoregresif model</vt:lpstr>
      <vt:lpstr>Poligonal yaklaşim</vt:lpstr>
      <vt:lpstr>Poligonal yaklaşim</vt:lpstr>
      <vt:lpstr>Poligonal yaklaşim</vt:lpstr>
      <vt:lpstr>Poligonal yaklaşim</vt:lpstr>
      <vt:lpstr>Poligonal yaklaşim</vt:lpstr>
      <vt:lpstr>Poligonal yaklaşim</vt:lpstr>
      <vt:lpstr>Zincir kodlari</vt:lpstr>
      <vt:lpstr>Zincir kodlari</vt:lpstr>
      <vt:lpstr>Zincir kodlari</vt:lpstr>
      <vt:lpstr>Zincir kodlari</vt:lpstr>
      <vt:lpstr>Zincir kodlari</vt:lpstr>
      <vt:lpstr>Zincir kodlari</vt:lpstr>
      <vt:lpstr>Zincir kodlari</vt:lpstr>
      <vt:lpstr>Zincir kodlari</vt:lpstr>
      <vt:lpstr>Açı-Uzunluk Yöntemi</vt:lpstr>
      <vt:lpstr>Açı-Uzunluk Yöntemi</vt:lpstr>
      <vt:lpstr>Açı-Uzunluk Yöntemi</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ÖRÜNTÜ TANIMA</dc:title>
  <dc:creator>SONY</dc:creator>
  <cp:lastModifiedBy>Sau</cp:lastModifiedBy>
  <cp:revision>145</cp:revision>
  <dcterms:created xsi:type="dcterms:W3CDTF">2009-09-12T08:40:24Z</dcterms:created>
  <dcterms:modified xsi:type="dcterms:W3CDTF">2025-02-28T12:39:43Z</dcterms:modified>
</cp:coreProperties>
</file>