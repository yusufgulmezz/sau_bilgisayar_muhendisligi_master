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56" r:id="rId2"/>
    <p:sldId id="285" r:id="rId3"/>
    <p:sldId id="257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63" r:id="rId17"/>
    <p:sldId id="272" r:id="rId18"/>
    <p:sldId id="283" r:id="rId19"/>
    <p:sldId id="284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2" r:id="rId28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63" autoAdjust="0"/>
    <p:restoredTop sz="86391" autoAdjust="0"/>
  </p:normalViewPr>
  <p:slideViewPr>
    <p:cSldViewPr>
      <p:cViewPr varScale="1">
        <p:scale>
          <a:sx n="72" d="100"/>
          <a:sy n="72" d="100"/>
        </p:scale>
        <p:origin x="2107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Üstbilgi Yer Tutucusu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335A65-4E43-43A3-AA67-CF7937825F1A}" type="datetimeFigureOut">
              <a:rPr lang="tr-TR" smtClean="0"/>
              <a:pPr/>
              <a:t>10.02.2026</a:t>
            </a:fld>
            <a:endParaRPr lang="tr-TR"/>
          </a:p>
        </p:txBody>
      </p:sp>
      <p:sp>
        <p:nvSpPr>
          <p:cNvPr id="4" name="3 Slayt Görüntüsü Yer Tutucusu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4 Not Yer Tutucusu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F9DA2A-B93E-4846-99BD-6EA96272455D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72306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F9DA2A-B93E-4846-99BD-6EA96272455D}" type="slidenum">
              <a:rPr lang="tr-TR" smtClean="0"/>
              <a:pPr/>
              <a:t>1</a:t>
            </a:fld>
            <a:endParaRPr lang="tr-T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tr-TR" dirty="0" err="1"/>
              <a:t>Shallow</a:t>
            </a:r>
            <a:r>
              <a:rPr lang="tr-TR" dirty="0"/>
              <a:t>:sığ</a:t>
            </a:r>
          </a:p>
          <a:p>
            <a:r>
              <a:rPr lang="tr-TR" dirty="0"/>
              <a:t>Tremor:titreme, sarsıntı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F9DA2A-B93E-4846-99BD-6EA96272455D}" type="slidenum">
              <a:rPr lang="tr-TR" smtClean="0"/>
              <a:pPr/>
              <a:t>6</a:t>
            </a:fld>
            <a:endParaRPr lang="tr-T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F9DA2A-B93E-4846-99BD-6EA96272455D}" type="slidenum">
              <a:rPr lang="tr-TR" smtClean="0"/>
              <a:pPr/>
              <a:t>20</a:t>
            </a:fld>
            <a:endParaRPr lang="tr-T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1 Dikdörtgen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12 Yuvarlatılmış Dikdörtgen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Alt Başlık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tr-TR"/>
              <a:t>Asıl alt başlık stilini düzenlemek için tıklatın</a:t>
            </a:r>
            <a:endParaRPr kumimoji="0" lang="en-US"/>
          </a:p>
        </p:txBody>
      </p:sp>
      <p:sp>
        <p:nvSpPr>
          <p:cNvPr id="28" name="27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502B9-D06E-432B-B059-109245B73F82}" type="datetimeFigureOut">
              <a:rPr lang="tr-TR" smtClean="0"/>
              <a:pPr/>
              <a:t>10.02.2026</a:t>
            </a:fld>
            <a:endParaRPr lang="tr-TR"/>
          </a:p>
        </p:txBody>
      </p:sp>
      <p:sp>
        <p:nvSpPr>
          <p:cNvPr id="17" name="16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9" name="28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F6180778-259E-41F8-80BB-E8A536F3199C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7" name="6 Dikdörtgen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Dikdörtgen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Dikdörtgen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Başlık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502B9-D06E-432B-B059-109245B73F82}" type="datetimeFigureOut">
              <a:rPr lang="tr-TR" smtClean="0"/>
              <a:pPr/>
              <a:t>10.02.2026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80778-259E-41F8-80BB-E8A536F3199C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8" name="7 İçerik Yer Tutucusu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bilgisi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0 Dikdörtgen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9 Yuvarlatılmış Dikdörtgen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502B9-D06E-432B-B059-109245B73F82}" type="datetimeFigureOut">
              <a:rPr lang="tr-TR" smtClean="0"/>
              <a:pPr/>
              <a:t>10.02.2026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tr-TR"/>
          </a:p>
        </p:txBody>
      </p:sp>
      <p:sp>
        <p:nvSpPr>
          <p:cNvPr id="7" name="6 Dikdörtgen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Dikdörtgen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Dikdörtgen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F6180778-259E-41F8-80BB-E8A536F3199C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502B9-D06E-432B-B059-109245B73F82}" type="datetimeFigureOut">
              <a:rPr lang="tr-TR" smtClean="0"/>
              <a:pPr/>
              <a:t>10.02.2026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80778-259E-41F8-80BB-E8A536F3199C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9" name="8 İçerik Yer Tutucusu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11" name="10 İçerik Yer Tutucusu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502B9-D06E-432B-B059-109245B73F82}" type="datetimeFigureOut">
              <a:rPr lang="tr-TR" smtClean="0"/>
              <a:pPr/>
              <a:t>10.02.2026</a:t>
            </a:fld>
            <a:endParaRPr lang="tr-TR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80778-259E-41F8-80BB-E8A536F3199C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11" name="10 İçerik Yer Tutucusu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13" name="12 İçerik Yer Tutucusu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2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502B9-D06E-432B-B059-109245B73F82}" type="datetimeFigureOut">
              <a:rPr lang="tr-TR" smtClean="0"/>
              <a:pPr/>
              <a:t>10.02.2026</a:t>
            </a:fld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80778-259E-41F8-80BB-E8A536F3199C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502B9-D06E-432B-B059-109245B73F82}" type="datetimeFigureOut">
              <a:rPr lang="tr-TR" smtClean="0"/>
              <a:pPr/>
              <a:t>10.02.2026</a:t>
            </a:fld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80778-259E-41F8-80BB-E8A536F3199C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Dikdörtgen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8 Yuvarlatılmış Dikdörtgen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2 Metin Yer Tutucusu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502B9-D06E-432B-B059-109245B73F82}" type="datetimeFigureOut">
              <a:rPr lang="tr-TR" smtClean="0"/>
              <a:pPr/>
              <a:t>10.02.2026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80778-259E-41F8-80BB-E8A536F3199C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11" name="10 İçerik Yer Tutucusu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502B9-D06E-432B-B059-109245B73F82}" type="datetimeFigureOut">
              <a:rPr lang="tr-TR" smtClean="0"/>
              <a:pPr/>
              <a:t>10.02.2026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F6180778-259E-41F8-80BB-E8A536F3199C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11" name="10 Dikdörtgen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Dikdörtgen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Dikdörtgen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tr-TR"/>
              <a:t>Resim eklemek için simgeyi tıklatın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502B9-D06E-432B-B059-109245B73F82}" type="datetimeFigureOut">
              <a:rPr lang="tr-TR" smtClean="0"/>
              <a:pPr/>
              <a:t>10.02.2026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80778-259E-41F8-80BB-E8A536F3199C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502B9-D06E-432B-B059-109245B73F82}" type="datetimeFigureOut">
              <a:rPr lang="tr-TR" smtClean="0"/>
              <a:pPr/>
              <a:t>10.02.2026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80778-259E-41F8-80BB-E8A536F3199C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İçerik Yer Tutucusu"/>
          <p:cNvSpPr>
            <a:spLocks noGrp="1"/>
          </p:cNvSpPr>
          <p:nvPr>
            <p:ph/>
          </p:nvPr>
        </p:nvSpPr>
        <p:spPr>
          <a:xfrm>
            <a:off x="1257300" y="609600"/>
            <a:ext cx="7772400" cy="5486400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3" name="Rectangle 1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2ED619-3928-4915-AD01-0F2DB8FEDF29}" type="datetime1">
              <a:rPr lang="en-GB"/>
              <a:pPr>
                <a:defRPr/>
              </a:pPr>
              <a:t>10/02/2026</a:t>
            </a:fld>
            <a:endParaRPr lang="en-US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A3C4D5-7668-4308-9B05-F7F36496F5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Dikdörtgen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7 Yuvarlatılmış Dikdörtgen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21 Başlık Yer Tutucusu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13" name="12 Metin Yer Tutucusu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tr-TR"/>
              <a:t>Asıl metin stillerini düzenlemek için tıklatın</a:t>
            </a:r>
          </a:p>
          <a:p>
            <a:pPr lvl="1" eaLnBrk="1" latinLnBrk="0" hangingPunct="1"/>
            <a:r>
              <a:rPr kumimoji="0" lang="tr-TR"/>
              <a:t>İkinci düzey</a:t>
            </a:r>
          </a:p>
          <a:p>
            <a:pPr lvl="2" eaLnBrk="1" latinLnBrk="0" hangingPunct="1"/>
            <a:r>
              <a:rPr kumimoji="0" lang="tr-TR"/>
              <a:t>Üçüncü düzey</a:t>
            </a:r>
          </a:p>
          <a:p>
            <a:pPr lvl="3" eaLnBrk="1" latinLnBrk="0" hangingPunct="1"/>
            <a:r>
              <a:rPr kumimoji="0" lang="tr-TR"/>
              <a:t>Dördüncü düzey</a:t>
            </a:r>
          </a:p>
          <a:p>
            <a:pPr lvl="4" eaLnBrk="1" latinLnBrk="0" hangingPunct="1"/>
            <a:r>
              <a:rPr kumimoji="0" lang="tr-TR"/>
              <a:t>Beşinci düzey</a:t>
            </a:r>
            <a:endParaRPr kumimoji="0" lang="en-US"/>
          </a:p>
        </p:txBody>
      </p:sp>
      <p:sp>
        <p:nvSpPr>
          <p:cNvPr id="14" name="13 Veri Yer Tutucusu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83502B9-D06E-432B-B059-109245B73F82}" type="datetimeFigureOut">
              <a:rPr lang="tr-TR" smtClean="0"/>
              <a:pPr/>
              <a:t>10.02.2026</a:t>
            </a:fld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tr-TR"/>
          </a:p>
        </p:txBody>
      </p:sp>
      <p:sp>
        <p:nvSpPr>
          <p:cNvPr id="23" name="22 Slayt Numarası Yer Tutucusu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F6180778-259E-41F8-80BB-E8A536F3199C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/>
              <a:t>Hafta 1: Örüntü Tanımaya Giriş</a:t>
            </a:r>
          </a:p>
          <a:p>
            <a:r>
              <a:rPr lang="tr-TR" dirty="0"/>
              <a:t>Dr. </a:t>
            </a:r>
            <a:r>
              <a:rPr lang="tr-TR" dirty="0" err="1"/>
              <a:t>Öğr</a:t>
            </a:r>
            <a:r>
              <a:rPr lang="tr-TR" dirty="0"/>
              <a:t>. Üyesi </a:t>
            </a:r>
            <a:r>
              <a:rPr lang="tr-TR"/>
              <a:t>Serap ÇAKAR KAMAN</a:t>
            </a:r>
            <a:endParaRPr lang="tr-TR" dirty="0"/>
          </a:p>
        </p:txBody>
      </p:sp>
      <p:sp>
        <p:nvSpPr>
          <p:cNvPr id="2" name="1 Başlık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/>
              <a:t>Örüntü Tanıma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Dersin İçeriği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tr-TR" dirty="0"/>
              <a:t>Örüntü Tanımaya Giriş</a:t>
            </a:r>
          </a:p>
          <a:p>
            <a:pPr marL="514350" indent="-514350">
              <a:buFont typeface="+mj-lt"/>
              <a:buAutoNum type="arabicPeriod"/>
            </a:pPr>
            <a:r>
              <a:rPr lang="tr-TR" dirty="0"/>
              <a:t>Örüntü tanıma sistemleri </a:t>
            </a:r>
          </a:p>
          <a:p>
            <a:pPr marL="514350" indent="-514350">
              <a:buFont typeface="+mj-lt"/>
              <a:buAutoNum type="arabicPeriod"/>
            </a:pPr>
            <a:r>
              <a:rPr lang="tr-TR" dirty="0"/>
              <a:t>Yapısal yöntemler</a:t>
            </a:r>
          </a:p>
          <a:p>
            <a:pPr marL="514350" indent="-514350">
              <a:buFont typeface="+mj-lt"/>
              <a:buAutoNum type="arabicPeriod"/>
            </a:pPr>
            <a:r>
              <a:rPr lang="tr-TR" dirty="0" err="1"/>
              <a:t>Bayes</a:t>
            </a:r>
            <a:r>
              <a:rPr lang="tr-TR" dirty="0"/>
              <a:t> karar teorisi</a:t>
            </a:r>
          </a:p>
          <a:p>
            <a:pPr marL="514350" indent="-514350">
              <a:buFont typeface="+mj-lt"/>
              <a:buAutoNum type="arabicPeriod"/>
            </a:pPr>
            <a:r>
              <a:rPr lang="tr-TR" dirty="0"/>
              <a:t>YSA ve </a:t>
            </a:r>
            <a:r>
              <a:rPr lang="tr-TR"/>
              <a:t>Bulanık Mantık</a:t>
            </a:r>
            <a:endParaRPr lang="tr-TR" dirty="0"/>
          </a:p>
          <a:p>
            <a:pPr marL="514350" indent="-514350">
              <a:buFont typeface="+mj-lt"/>
              <a:buAutoNum type="arabicPeriod"/>
            </a:pPr>
            <a:r>
              <a:rPr lang="tr-TR" dirty="0" err="1"/>
              <a:t>Parzen</a:t>
            </a:r>
            <a:r>
              <a:rPr lang="tr-TR" dirty="0"/>
              <a:t> çerçeveleri</a:t>
            </a:r>
          </a:p>
          <a:p>
            <a:pPr marL="514350" indent="-514350">
              <a:buFont typeface="+mj-lt"/>
              <a:buAutoNum type="arabicPeriod"/>
            </a:pPr>
            <a:r>
              <a:rPr lang="tr-TR" dirty="0" err="1"/>
              <a:t>Olasılıksal</a:t>
            </a:r>
            <a:r>
              <a:rPr lang="tr-TR" dirty="0"/>
              <a:t> sinir ağı (PNN)</a:t>
            </a:r>
          </a:p>
          <a:p>
            <a:pPr marL="514350" indent="-514350">
              <a:buFont typeface="+mj-lt"/>
              <a:buAutoNum type="arabicPeriod"/>
            </a:pPr>
            <a:r>
              <a:rPr lang="tr-TR" dirty="0"/>
              <a:t>En yakın komşu sınıflandırıcıları</a:t>
            </a:r>
          </a:p>
          <a:p>
            <a:pPr marL="514350" indent="-514350">
              <a:buFont typeface="+mj-lt"/>
              <a:buAutoNum type="arabicPeriod"/>
            </a:pPr>
            <a:r>
              <a:rPr lang="tr-TR" dirty="0"/>
              <a:t>Lineer </a:t>
            </a:r>
            <a:r>
              <a:rPr lang="tr-TR" dirty="0" err="1"/>
              <a:t>diskriminant</a:t>
            </a:r>
            <a:r>
              <a:rPr lang="tr-TR" dirty="0"/>
              <a:t> analizi</a:t>
            </a:r>
          </a:p>
          <a:p>
            <a:pPr marL="514350" indent="-514350">
              <a:buFont typeface="+mj-lt"/>
              <a:buAutoNum type="arabicPeriod"/>
            </a:pPr>
            <a:r>
              <a:rPr lang="tr-TR" dirty="0"/>
              <a:t>Doğrusal ve çoklu doğrusal regresyon</a:t>
            </a:r>
          </a:p>
          <a:p>
            <a:pPr marL="514350" indent="-514350">
              <a:buFont typeface="+mj-lt"/>
              <a:buAutoNum type="arabicPeriod"/>
            </a:pPr>
            <a:r>
              <a:rPr lang="tr-TR" dirty="0" err="1"/>
              <a:t>Radyal</a:t>
            </a:r>
            <a:r>
              <a:rPr lang="tr-TR" dirty="0"/>
              <a:t> temelli fonksiyon ağları (RBF)</a:t>
            </a:r>
          </a:p>
          <a:p>
            <a:pPr marL="514350" indent="-514350">
              <a:buFont typeface="+mj-lt"/>
              <a:buAutoNum type="arabicPeriod"/>
            </a:pPr>
            <a:r>
              <a:rPr lang="tr-TR" dirty="0"/>
              <a:t>RBF sınıflandırıcıları</a:t>
            </a:r>
          </a:p>
          <a:p>
            <a:pPr marL="514350" indent="-514350">
              <a:buFont typeface="+mj-lt"/>
              <a:buAutoNum type="arabicPeriod"/>
            </a:pPr>
            <a:r>
              <a:rPr lang="tr-TR" dirty="0"/>
              <a:t>RBF merkez seçme yöntemleri</a:t>
            </a:r>
          </a:p>
          <a:p>
            <a:pPr marL="514350" indent="-514350">
              <a:buFont typeface="+mj-lt"/>
              <a:buAutoNum type="arabicPeriod"/>
            </a:pPr>
            <a:r>
              <a:rPr lang="tr-TR" dirty="0"/>
              <a:t>Destek vektör makinesi (SVM)</a:t>
            </a:r>
          </a:p>
          <a:p>
            <a:pPr marL="514350" indent="-514350">
              <a:buFont typeface="+mj-lt"/>
              <a:buAutoNum type="arabicPeriod"/>
            </a:pPr>
            <a:endParaRPr lang="tr-TR" dirty="0"/>
          </a:p>
          <a:p>
            <a:endParaRPr lang="tr-T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Örüntü Tanıma Uygulamaları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tr-TR" dirty="0"/>
              <a:t>Endüstri</a:t>
            </a:r>
          </a:p>
          <a:p>
            <a:pPr lvl="1"/>
            <a:r>
              <a:rPr lang="tr-TR" dirty="0"/>
              <a:t>Kalite kontrolü</a:t>
            </a:r>
          </a:p>
          <a:p>
            <a:pPr lvl="1"/>
            <a:r>
              <a:rPr lang="tr-TR" dirty="0"/>
              <a:t>İşlem kontrolü</a:t>
            </a:r>
          </a:p>
          <a:p>
            <a:pPr lvl="1"/>
            <a:r>
              <a:rPr lang="tr-TR" dirty="0"/>
              <a:t>Nesne tanıma</a:t>
            </a:r>
          </a:p>
          <a:p>
            <a:r>
              <a:rPr lang="tr-TR" dirty="0"/>
              <a:t>Otomotiv</a:t>
            </a:r>
          </a:p>
          <a:p>
            <a:pPr lvl="1"/>
            <a:r>
              <a:rPr lang="tr-TR" dirty="0"/>
              <a:t>Yaya tespiti</a:t>
            </a:r>
          </a:p>
          <a:p>
            <a:pPr lvl="1"/>
            <a:r>
              <a:rPr lang="tr-TR" dirty="0"/>
              <a:t>Hava yastığı şişirme</a:t>
            </a:r>
          </a:p>
          <a:p>
            <a:r>
              <a:rPr lang="tr-TR" dirty="0"/>
              <a:t>Yüksek enerji fiziği: olay v.b. </a:t>
            </a:r>
            <a:r>
              <a:rPr lang="tr-TR" dirty="0" err="1"/>
              <a:t>arkaplan</a:t>
            </a:r>
            <a:endParaRPr lang="tr-TR" dirty="0"/>
          </a:p>
          <a:p>
            <a:r>
              <a:rPr lang="tr-TR" dirty="0"/>
              <a:t>Astronomi: </a:t>
            </a:r>
            <a:r>
              <a:rPr lang="en-US" dirty="0"/>
              <a:t> gravitational lens</a:t>
            </a:r>
            <a:r>
              <a:rPr lang="tr-TR" dirty="0"/>
              <a:t> tespiti</a:t>
            </a:r>
          </a:p>
          <a:p>
            <a:r>
              <a:rPr lang="tr-TR" dirty="0"/>
              <a:t>Biyoloji: UHT deneyleri, sinirbilim</a:t>
            </a:r>
          </a:p>
          <a:p>
            <a:r>
              <a:rPr lang="tr-TR" dirty="0"/>
              <a:t>Tıp: hastalık teşhisi</a:t>
            </a:r>
          </a:p>
          <a:p>
            <a:r>
              <a:rPr lang="tr-TR" dirty="0"/>
              <a:t>Finans: Kredi kartı dolandırıcılığı</a:t>
            </a:r>
          </a:p>
          <a:p>
            <a:r>
              <a:rPr lang="tr-TR" dirty="0"/>
              <a:t>Güvenlik</a:t>
            </a:r>
          </a:p>
          <a:p>
            <a:pPr lvl="1"/>
            <a:endParaRPr lang="tr-T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Örüntü Tanıma İçin Örnekler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tr-TR" dirty="0"/>
              <a:t>Mikroskop ve CAT tarayıcılarından elde edilen tıbbi görüntülerin, </a:t>
            </a:r>
            <a:r>
              <a:rPr lang="tr-TR" dirty="0" err="1"/>
              <a:t>magnetik</a:t>
            </a:r>
            <a:r>
              <a:rPr lang="tr-TR" dirty="0"/>
              <a:t> </a:t>
            </a:r>
            <a:r>
              <a:rPr lang="tr-TR" dirty="0" err="1"/>
              <a:t>resonans</a:t>
            </a:r>
            <a:r>
              <a:rPr lang="tr-TR" dirty="0"/>
              <a:t> görüntülerinin, temiz olmayan tıbbi görüntülerin,</a:t>
            </a:r>
            <a:r>
              <a:rPr lang="en-US" dirty="0"/>
              <a:t> X-</a:t>
            </a:r>
            <a:r>
              <a:rPr lang="tr-TR" dirty="0"/>
              <a:t>ışını görüntülerinin ve </a:t>
            </a:r>
            <a:r>
              <a:rPr lang="tr-TR" dirty="0" err="1"/>
              <a:t>fotografların</a:t>
            </a:r>
            <a:r>
              <a:rPr lang="tr-TR" dirty="0"/>
              <a:t> otomatik olarak analiz edilmesi.</a:t>
            </a:r>
            <a:endParaRPr lang="en-US" dirty="0"/>
          </a:p>
          <a:p>
            <a:endParaRPr lang="tr-TR" dirty="0"/>
          </a:p>
        </p:txBody>
      </p:sp>
      <p:pic>
        <p:nvPicPr>
          <p:cNvPr id="4" name="Picture 2" descr="http://upload.wikimedia.org/wikipedia/commons/thumb/d/d8/LungCancer-Xray-01.jpg/200px-LungCancer-Xray-0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7224" y="3286124"/>
            <a:ext cx="1905000" cy="1905000"/>
          </a:xfrm>
          <a:prstGeom prst="rect">
            <a:avLst/>
          </a:prstGeom>
          <a:noFill/>
        </p:spPr>
      </p:pic>
      <p:pic>
        <p:nvPicPr>
          <p:cNvPr id="1026" name="Picture 2" descr="http://medicalpicturesinfo.com/wp-content/uploads/2011/08/CAT-Scan-Picture-4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43240" y="3143248"/>
            <a:ext cx="2714644" cy="2714644"/>
          </a:xfrm>
          <a:prstGeom prst="rect">
            <a:avLst/>
          </a:prstGeom>
          <a:noFill/>
        </p:spPr>
      </p:pic>
      <p:pic>
        <p:nvPicPr>
          <p:cNvPr id="1032" name="Picture 8" descr="&amp;Scedil;oke eden rontgen görüntüleri resimleri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43636" y="3643314"/>
            <a:ext cx="2786082" cy="185738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tr-TR" dirty="0"/>
              <a:t>İnsan konuşmasının bilgisayarlarla tanınması.</a:t>
            </a:r>
            <a:endParaRPr lang="en-US" dirty="0"/>
          </a:p>
          <a:p>
            <a:endParaRPr lang="tr-TR" dirty="0"/>
          </a:p>
        </p:txBody>
      </p:sp>
      <p:pic>
        <p:nvPicPr>
          <p:cNvPr id="25602" name="Picture 2" descr="http://t0.gstatic.com/images?q=tbn:ANd9GcQU1wxGGaPpE52k9vMw3H9jwj_stw8pERMgygNLskgJ_PeK53huw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7224" y="3000372"/>
            <a:ext cx="3738285" cy="1857388"/>
          </a:xfrm>
          <a:prstGeom prst="rect">
            <a:avLst/>
          </a:prstGeom>
          <a:noFill/>
        </p:spPr>
      </p:pic>
      <p:sp>
        <p:nvSpPr>
          <p:cNvPr id="25604" name="AutoShape 4" descr="data:image/jpeg;base64,/9j/4AAQSkZJRgABAQAAAQABAAD/2wCEAAkGBhQSERQUExQWFRUVGR0WGBgXGBwXFxgXFhcYFhwYFx0cHCYeGhojHBcaHy8gJCcqLCwsGB4xNTAqNScrLCkBCQoKDgwOGg8PGiokHyQsLCwsKSwqLCwsLCosKSwsLCwsLC0sLCwsLCwsLCwsLCwsLCwsLCwsLCwsLCwsLCksLP/AABEIANAA8wMBIgACEQEDEQH/xAAbAAACAwEBAQAAAAAAAAAAAAAEBQIDBgEAB//EAEUQAAIBAgQDAwgHBQcDBQAAAAECEQADBBIhMQVBURMiYQYyQnGBkaHRFCNSkrHB8DNik9LhFUNTcqKy4oLC8RYkRGPD/8QAGgEAAwEBAQEAAAAAAAAAAAAAAQIDAAQFBv/EADERAAICAQMBBgQGAgMAAAAAAAABAhEDBBIhMRMUQVGR8AUiYXFCgaGxwfFS0RUykv/aAAwDAQACEQMRAD8AyOWrFWpC3UwleTZ1EAlTC1NbdTFs0LMQVKsCVYiVMLS2YrFqnvAuH5mmldlJIracHw+S3NSnLgZIH41i8i5RWVbU0z4tezOaBC0I8ILKstcdaIivOgprACqtHYHAlzUcJhcxAFa3AYIWlk0JSoNHsJhlsrPOkvFuK5iQNqs4rxLMYFKIpEvFmK4rsVMLXctPYCuK7lqRWpqlazUVZa5kmi0whNErh1XehuDQvTCE0QuBA3qy9jI0FCXb5Iocsxc19V2FDX8eSKHYHxqJtmNqdJGK7jTVBFFHDnoa59CbpTpi0BPQ7rTJuGv0qp+FP0plJAoUOda5Rj8Kedq9VNyF5LlFWAV5UqwJUmxzyrVgFeUVJVpQnhXQtUriIZgxAggDedQDr76vOIUAma1M1BOBtywrZOMtr2VkOF31LLB31jatlfE2vZUZ9R0Y69qxrmWrbid41xtI9YHvMfnTWBKwK6xGYA7An/QT+NFWe8Y56+5Wy0uu4kZSSRJU+2UaPw+FNOFWs95RyDfjfH69tZnZ2Fx6D/gnDwBJ351HjXEPRFUtiMiAA66Hx/Yvr8PhSZMQXLZt5gdTCIx/3Ui55JTwuHQiTNdC1YLVd7OmsgQruWrEsk8qOw3DtpoOVBoBtYaaOt4YLvRwwZjQVZZ4QTvS3YaFV7EcgKo+jux2Nae3wpRUnULsK10AzdvgrE60Snk/1pjdxbchS7F424BMHpsTvoNqKbZi4cHtjcipfRbI6UgxOPu5wuV5M8jyB5c9qFvvchtHGk+aTyptj8wWaZ8RZHShrnF7Q5Cs6LL5QTMwDtG/4UNdEdaZY0CzRXfKBOlC3fKRelZy9eoK/iqosSBuNA/lCJ2r1ZBsUZr1V7FCbjWrZNU97TQnb7Max6q193h1pGKM4zAEkQZhVDnl0I99BtwJX1GUxkB7jNBOQxptoR+hXnR1cGVcJJW06EahvsH4fOu20JncRy0/rT9vJvwX+C9dwvk+e9A5jZSvIcjR71jrqLZmcRai4mp1InUdVHTwosE6iCwn93aB4ir/ACgwJtNanSdQf8rL86UYy6Gt6AZiRJyksCAp1PSrRmpq0d8dLPJGLiuBpYVsykBgBsBlj8a2Vi+Wt+Y3vT+asVwzEoysWCDKAf2LGdOvXStJwHE27qwoQkAEj6OxjNOhg76Uk5IlLT5Md2ugFiLJDHuH3r/NS7it/KACpEkHdfRuJpv41oMVh11ICADn9HfoT3Rz2Ou2hNYjygxILlQFESn7MyYKmdOsbDQdaaD3MbTY9+T7C69jCyr3SNAAZA0U3F+M01XijW3YrppO4BMtbaBm9XSdazbXddgpUNEoSdydh+ZNXLcDMdS8aQLZGvjGsbV0SgezjlHo/wB0PDxZ3Vww9CAQ0bIwBiehOtStYpJuCLYIF0jzOSKgGrSTpPvilNjEKFYRlLbHsyNNdj6qvw10aISTodQpG+UmddoEe2oyjQJ4VPpX6GrtXbRYjKjQSAQFMBVQ8lY7k13LZnKwsgjrCQCJBIZBpyJHh7M/e8omt3POZlJJh1MQwAzanUmOtMRxdst5Fy5WyuuZO8hLiNSdMsGD+8a5tklyeXP4flt0N7KYeYmxO/nBZ9sjWmGHsKoMEADZrd8x11DZl08TFL+J8eNtrevfDGywNuLR0BzATImQdRp3hG0EYHj4vqrqguH0glnIynbWSBvsc09BQ3NKzzpRyQ5kg5eIunO1cH7zqj9dCAVb2D21FPKdTIAUEbqbgBHw19YpfiMYzN3cx0JKPby3NNyG2YQOc7e67DWhc7veOXUjIiuk8xLAxruNP8u5m9Qly0BTCW8ovBP4g/lqk8fPS3/EH8tHYfBkMqNnOach7NAWy7gidxH5RzJGMwotLmYXIkDzLc66dak9ZG6oeLcnSFA454W/4n/GoYjiavGbJp0uxrvOi1ziPHFSABdkqx8y3owYqvPUEqfhSXE8YZsOqg3e1LEsYQACWMAzJ0gRV4ZW/A78egzzSe3qPTxpelr+J/wq3DvbKiRuBPePMDxpC/GR2wYdrkyqIi3PMtpMTJ09VePGFNsgBg0aEEDe3lHqggN7aLnLyGXw7Uf4jvF4e1kaBEKY1OkDTnS+9h7Tc7X8T/jUL3GLZMahCGBMar3TBPWT7udBvxM5jrcgzl/Z8mIk/d+Ioxyy8UTeh1C/AyjF8IRiYa3sNnJ5noKBxPkudYPM/jTuwpugspuRoO92Y3dlXbXUj9CqLlww5VpyuVPrBq8dRzVnJLHKLakmqMjc8nnk16ml3iLSda9XZvkRpDTEYS6GyurZgNjJIAUH2QpHq0onhWBxZ/ZsU5SbmUBiLZ25EgrB+Nbg3kYyyKTqJKiYYZSJ31GnqqlbndUgqARb/uwdQUG+/L9RXm7J1TR7ub4q5w2qCv68r0F78P4jr/7i3y/vY5Hbu/rTpXcBwviJL/X2/R3YXNcnXIdfz11p8lwn0l/hj51dYxGQnNJzFYKoAJiIgH41JYG+Nq9Dzu+TX4If+UYTyuwOIQ2/pDo85suUREZZnujwrLXLerbb/wCIV9EdBX0vyrK3LlkFW06jYF0kxOugoHiXkkfo31chlKwpCnWArMTz510QxuCqj3NPrsXZQjPht+FJePgYRLRIO0Df60/KpWcO7g5RIHnZbjH2fr519P4X5JLZRlzAtcEElFMADXXrJOviPGoLw5bULaYKICA5FlguoL6a7kknXUA7mi3RLL8Xxq4wV+X1Pm1/A4gsw1kLr9YxAUrtroZA0H9BSfEYNsxWQD6X1pzmDsTECvr9nCNqUYlZzMcqF3O86+OsE9NqyflHwwO4uWy4a4M5BC5pzW1IOUEDRxAmarGfkS0+rWon2c1V+RgRoYhVCrcMC4TI6SP0a6yHRFYAswJIuHmOfLwpxibOVgcxOZXOw+0y9OgFeW0yuBqNVOw3Kz76r2h3LQpur/RC3DoBCsQ2YEmbrbePd2qS4ZVuEjKBBkC40cieUzRuGsErcYMQQs7Dkxnl0E0Vh8PCsSzZgpYiBIylZnToW91K5jx00Evm8PohZjrTOpUdnG4PaH4SK92DXBIZEZIzd85iAdI5EU9wnBjDntCILgDQkZQGjbSJIjnBqb8Da4zEdoAigyQoBVXHtM68ulLvrghly4F8zbfv6GcxGDaSS0EH0pAnx6024Hg8Q4RrboikkyWOX0gdOexG3MVtbHACTD3GOhvZWCnVlC6kp6gAehr2Ew2SwATcW2JyFCuYKT53mSd/Xsa5p6lNV7/Y8vLrINfJHr5/2ZQcMxQDntbYcODJJknXVD9nlHPar73D8T2pm/YW4Igg84Pm92Y8D8a164Z7wnO6KsKshczEKO8FyiF9fwqvtic1vM+d2zFYUjQQW8zzcoBk7RXO8/0Xv8jkeob/AAx9DLvhsUcoN20ddAsrlOVhm0AAWJE/y6BYvD3pPaiSNCSGaemswdafO+ViwY5MxSRl0EAkeb1JOnLMKHv4ppyO7kAhdxy81vN32H3qtBt9Ejr0/wAQeOvkX5cCC8CIzZNtJVttR+RFV5h+590/OnWK4ar6yxIDASeZJYE6ciT76W4nhDi0IDdoDqZ3En8oroSPTj8RxNcpr39wbMP/AK/uN86Js3O6NRsPwqL4IdoPOCwPeJBHtga+NVdiMhiSSNNf3ZHxP4VnC0NH4nii/H3+YRdfunUbH8KHj/J/DaiO0tq2aNBJiJGo59QOVTS8mYkliOU8iWJ6bd40lNeAsviuGT6MFGDZtVUHba0/NiBryk6eO1G28DfNu92bhAGhp3LCdBpuOe29G4bjq2u6hZRvvzzFunI7Uq4r5QyHCiJYsYESTUk8s3Sj6nBm+JKcXFR+1mdvWLuYzdWa7S+9eYsTBr1euoOvD0PH7T6I++LfoUYlsigKCITXNHNfA1dfsiF7xUzOke7UUJlOVYcgdzSAea9a10WoaLinAJyjT9//AI1cue4EaCNjAuQJ3+xuNqGGHzKQ1zukayqEfFYolV7K2gVnK91RkS2d4AOixBnfxrKSEcRZxxu0xFpCg6GLrL5zL3ZCjca1ocLhZAzZlJ3Au3GAPgZE+6hTwyX7QsSwEeZbnQggzkmRFEYK8xVwQ2hgFlyyGgDYRMk/Cs5JGm7ik/AtwzE2k5llBM66BRv1kkT6zQN5Q9xBrBzHRiugK6nKRuSast4qLQOwgIPVov45j7KX4zEor2nfugswTUrKjs5iCJrhnL5iaXBdY4cLeYJmJdydbjrGgHLltJOp91CcRwGW0iKuY2slstmb07tqd1me4OulMsE66NbIZAYJzEkEhTzPhBHjUuKYzOAqAsSQ2nLKQZ3GxHtiqxdqimGThNSR8r4hw9kC7GUzDU7XBdfpyj4Ue/Bbly64WFBiInYNbQAadZ91aDiNlcrqx0RCPCezaNevzqu2LgZGNslWb0fOgYkN3hy3j2Vtp9I9a1FMzNrgtxA6qQ7G2dBO7I7gevQ0X/Z7EuCup7bmR51pWA0E+n+FP0xuWFNsqdB3hlH7Bl1J0GpFNuAWQmYMyObhzTyBCIpXnIhd/VSSmoK6OPNrXTtif+zFAmEJLad6PPFtNdBtln39TT9sAi5BbVVLrLHYwmUQYUk6t8Kux91MoWF7xVVYiFzZ1gMOkbH2Umu22tOudljI5hSRlMpCiSZrllmU0ePKTkxni79w9uQts90CMzdTBHd8ZoLF51yiEgZQdWiAQPs1TiMPctjQBy2jKdM0zsdNuh5VWWZwQxRGPdKsCIEDXrz2j21G0vsKTbE3DdLQugOmZoEnTl0mrbdy6EvPlTVQFeT5wzd1ZEnceGkUtcJa89rjZj6IHqEA8vbU8RxI3FVVE5QAqKM5UDZjlOVT69K0oN1t6BA+IYq5kVcqgLI3OYwNNANIkan50pv4i4QJyzl3k7roD8aLx+LGojfWAZkjQlmAMnwHvpPcxjmRkgbSdNOgHKvR08eAoY28XcMEZdRPPnRdvFXOeX40Dg0YqDH6BIq+4WUbVV0OX4nBuwlSvx+dZ3FYZ8xnLsPR6GetPuG8QbMRkYgb7dJ5kVTjcQHLQjBlEmSsRMaazRjd0ZiC8zZgQFgeHWq7+NYDxq3FXjmWJ5yNBtG80M2JbvSkAHw2n4+yqIQpfF3J3G3Tx9dVti219dTu3zm80bdPGhmxG/dG9UQCJxRr1WC5b5qwPqB/KvU4D6y93tFBG43FALjVyKCwB7uhMc12qizdIIIMGuO+i5g4bKp7mXaRq2b8td/CvPUrOmhphnR83aMkNEQ5kRGnTlO3OmtnCo2UWwpFsoZzMdVMxpp6PxpVgrlwnTtCPDs59s6034feJLTnmF8/Lm9LbLpFI5uIdtl+MwTXAQ2WCrLu2haNeW0VeuDQwCiz2irpJEaPzqSvQeJdu1t/tI7VfNKRItz6Ws/Cg8rEyQpAwtqEsJBYCO7psELaAnaWHw3phaYtesQmVEDRmkN6KzHLw9tZ/A4klrJPaaW2P93oYta+qPwHSjb+VwL13tlUxbtHMgae8Z0IIn3mPZSSl5nOM7/DfrrpIVy/eVDOgVYk6gatApUMX2Y7VcotXEBIk/VtmyxrtGvqIq/hOP7OVu9urElszlVzDkJPQePImKSLh3e291w7WgudUBtoXGcSznn4ddNqpDJ4MydF2KuGHCQwh1gSzE5CJMaak+wUy4Zipl/q+ztsAWaRHaNmiCeRjUx5ooHE8YdGQm3ctW3doY3LebKVGhAkLMjWdJr2Ichy/auC/ZAIrISwkwWmTIynYaayTRuykss5KvAc4XEOwe8wWSrugYTlVCFEQdJJO+ulBYvDtcNu4oUMWyNkBUz2eZjBJ1mREcjSK7j3sjQ3DnW6DndQYDTI26beAiieH4wvffIxU5s/ev5QTlCTsQT5wPsqiwbuUSsvuXGVSboNxe4wOU9mNmgiYkTzkbVTiJe5azoVRp37undMAbgEgDbnTDAO62VJJusQIAvAKgAiNW11GsxrQWJtO9xGvCEBYle3BLZcp3VjGsazOh9dTeOmNuQy7QQNtSMusiZA0pfxHCq90wHByliVMQBA6EH9eFDYi9aOTJbCkGUK3ddBOpmcvUnaeVC3b5YwNXvAogF7ZA03LjHkvdgde90EiOlSdg3clOJsNMLadtyM5nTc6DKD7Zq3C4O8BLSAuoGoXXTYAA9Aek8tK7es5GsoJBLE5jfLFlAWfUW70eJFW8YuquGZhEmIi8ToYUR759tXpKkVSA7gvXgQiIsabSWjnJEnpQgwtxYV1U+rfT4U44ZgsqRKgkR+3OkiOXvofABXtCSsrp+2bl+vhVNyrjwDQThMHFpMoBEA7EETrr76l9FB84D4/OluCx/ZsLZyEiSD2zAFNTyO4gj3UNisTmaFEax+3Y6SRzqVWUUWxmHRWcDqOceiOtBcM4cmruo83WYM8/b/AFpULKhzmdG1U5RdImez0LbczU1vXWCArFsKJA1ERb2PM7U/QZY76lOKtIS5GUcxIjcGIiaFdwZGUtAnQE9flRacPchiRyP+0n8q6nC0IbMV1ED6w7jPvp+7W3oywyb4QtVgSYU6QPNPJo6UwwfAc2bTn+QonDWLSdrLIYOg7RjPf5CNabXOKWUziY72kCfRXlSyyP8ACHJi2NpiduAL0r1GF2bUEwdtI+B1r1b5yVIOQUPiwGg90nKsgoWIiBIjl+uVWlo1PKjMHgAyBszDQbNA3BrieTYrZVoHw8Agwn8Jqe8Hv6tERC6BCv2uR39Yq44eypVS7MzGBFyNdOpA50RhbNoHWQCpYZ2BnIWmNT4+41yS1SrxCoteAbauyNqXcWtg5mhZVkYTaZ9gBqw0jU6UxXEWwCcwgBTuNnMT7KHDrdLBQxDsbcrcyjS3rpP60pseovqjTTroY7ils9kCmXukf3LTlYlT8Mp/6qZvxJU+jvlVltkkhbDEkEFc2/Ike+hTcmwmb07ayDdiGJyH0tgchjrNKmxLi2wE5hmtj6z0hpmjNoI/Cu/iSJRwyk6NVxXIMIxdVDP3mzWWkEKbgBJMTECF06aCll7EuliVW3cR7cKrYeBsG0POZnUHY1nsZ5Sme8rMVOYBbpKA5cokzSzEceuXba28mgUhe+dJyiRrpt050Y4vfA/d6fJqOL42WPa9kQHeUWywBlU0Ynl3dhroddaW3OLsDCWrSa24i0q6Bj52sjVunIUFd4fczksgbVh3rjmW30iPf4UFawuoJUK3c2JIJDZto8BoDVYxijoWFrwHVh7bL9ay7MMvYydYM6mPR0J+1tRWK4pbZkCjRO6gVQsAZo11670htX2QkRaSAILFgToAcseqq7oa5cAcIQDrlcx0GsUUuQdg37ZouGcRy21DOzmB3RaXLrBAJOpHe30oa5xe4xzFViCF7gAgdkdgDG3xpMnDznt20kZlBPfaNY8Oi0wt8JS24zDNMhSzsASCuygS23gDPhSShG7CtK2+gbw3O66BhsgYWwcx0WE0kn2RuSe7WjHDntuxAIuXNybYGW2ohbaLBuEAAScomKRWsM7aLoVC6h2AXVTlUKBOg1iB47VruFtZFtRcVWMS2Z2ALAfZCBZ06dNanLI14E8+knH5oqxfc4WzsCC5yrDsLagC2BOVRqATA3M/uimOL4Q1626Q32R9WgA7oYercfCgcZxg3AbYtoJHJ22LdI6D41TgsU1uDkRoMwWaIylem+2vhST3PlFY6HLsbfXyArnkuplT2tu4u+UKup5xMHadKp4XgmRXXNcyx9m2J8xup2zH3GifKjiIuxkS2IIG5OgmTJWRrHuoPD4cxJVPbO0eqneSe2h9Pondz4YXewZcQBcDKdDltkhh2492oBHME11LguQbhuod2EWyFKv3hoP3wRpqDQTYrug9kpDRB0mCZ5nfvc6qu4jIZCsAxuIfNAk+afO8APu9Kncq5Ovu6TthGHwyhpi7/d8rfIWm69AavwahUQR4GeWlsTpp6B2qu1jLedhnWe7z8IqVuzmAIVYOo1PyqUsp0Y8EFz1K8U5CsQPRIj1pl/rSTF8QaSvaMDqfRPNug6NNP7mG0PdXY8z8qEfsmeJiFnTqSPDlQWZeRScE+nBkMdfOYkm4QTrsvpA0SMY4kqoSTMgZm1A5t/StDdwVqRBJ56sY0I0215D2Vo+DeT9q/bZoBOdhoeWkfjTz1yhG2jydZgaW6z5XcusSSSxPrNdr6o/kJbnYfGu0v/KYjy9jMjxHhbNaZRcadNzpp1ojBcJYWAhv3M2UaRIXlpAJkeNGiqGvke7/ABMvPpVZSk47Ueis048o5xDyQu3Ozyu7ENBZkbw7whAdI50z4Z5M3QADecwhJDpGWCdBm1g/ma9b4uRzP8c/Oi8Dxwy2s6L6Zf7XM7equScs+3bx+hXvuV+XoC4jyNvMGP0lxKr3coiXMZdOQr3AfJ17QCtefz2HdQlR3QZ806mI91Nv7cPWg7vG/rDqOW902/R6D8aRTztbX+yM9XlqjMXPJi6cP+1YwFdZRoyuwnlsN4/cpXxTyau2lLZnYqSHVUYCF9LUaitanFB2awVkDT69uROkfl6+tB4vGQsSuQTH17GJAhfUNgekAxXbDNmXD/gVamUltl0MhZsBspF5kM6gLoOXUa+uIqm7hIyEXX0BOog7+jTPiXD++WQKUbUqLuoOXWBzWaWdskEkKvdbQud9OWnxrtjN9V/AjzpeH7ja+jn+8uKAza5QHYZdtBz0940pdewtw3FOZ5gR3YK6RGkAHly+Z9txmzMy5iSQ3atoNOUSTHLx9gjexFvMFSAAQS3aMSYK+Hhy+NLHJKL4X6FlmtWDYjDGArXHZzuSo0A+zpy291B3eGNlJW5ckNGoEGNNPGaLu3lywgXWBmzEHQcvCo3LYVQoKid+8Y6fjTxnJf0hd8W/7J4HF3OzORmBAHeyqW7oA0JGgAA26+NHYvBvcNkh30tkd4LoQwBiI9LT3Upw2DlQZWCI0Y88u4I6SPf6i24fdSFnJpmG559k2vtJ+NFz2u1+x0Ys1cMd8LwrLbHfvGROycz4jxFGWvJ++/eV8TB12QCNduVCcPtq6LGSCAp1OneE/OnhxXZqFHZkLA9LlXBkzZU/lS9B82pcEthmzw279Iz57oGXeLebYjpl38KLuWXzZhcvAARAFoA7nXSPhVvEMWhRoW0DBgw075vy+NK7WJC79mYYGCpMkL/yPuovPmnz/AO+Q22/QXJwK+bjEtcUAmSMsnX1xTi5hnCZc94cp+qB/WlQvYpXHoCNu43KfnSy/iZHofcO8D+YUzzZptOVegceohKNt8/c7Y4LdPZt2ztAVspjQBjoD/0zqedO7uEZhGa8u5MG1rO9Y3E4x1YKrKO6qgKmpgvqZGmgq7DXri7uNTzRjpIHQDrVZqckm69DR1UOiv1Gg4VdbEP37ndy6ymaCNOcTofd40/weHItgG48xuSs/hWYwfEAhaQrE5ZJtHp69pNNMLxxcqj2dPcOVc2aM5cHXiyxkuWHHhzAE9vdOh5jofClmF4bcGIa5nuBSvJknUqYMiIgdKKbiqFT3uX5UOLogebt/gn1dalGORJ/6Kz5fX9gi/h3zk9rdAKxGe3HITtRvkj5H3e9cOJuWRmj6swxgDedOfSkrsSwiP4RHpL+prSYc3grAHdp6boh/Oo5o5tm2DXP0ODVZJQjS/2aI4KP/l3/ALyfyV6sbdv35O9drz+4Zv8AJeiPK7aftInG1DXdvZ9jNz60TNQPmfrrXuJhZwz4/wAOp4eZbfYejl5tQ2LMXUmApB3YjpOmYDaOXM0TYyycpnQcy32uprPoBdQkUOS2cxm5bKDy8auqk3oc6qNtyRy9VBDMrwrNkGr/AHV6nxqRDbgv91fnV2Dns1nx223O1XLWvkyQubDkgxmE/upHrifjvQNiyx89X5iIRhBPQ7aAbGnxoPFYnsyWbKECljocxiNtYpoyfQVqhbcwIJ8x+fK2Ps+J6VFuFEkwGAJ27h073OYnamFjHq6BpBP7oMHYiOfMe0xVrYhB6Xw+enj6iKbdJBTFFjBkHKc0eASfRU+351RjcJkMKXOzalDu0+ynJtEMCeZ19uk/EH2VDFYUZTGhaZ9YB26b0ynyK7oU4CyxsqBnmBzSJBBHs218apwr95pDQMrx3DuEnfwWKaYU/VrA0Kjx6D8qqFj69QR5yv7wQfmafd1F545CuD3rlsMCXBBnQpGoj8QRT23xQmA3ae+3WdsNMZtQPqzPUbHbwBow4WGzKFBgDzZOhJ6jrUZJXyUUmxviMMHG7gnXV7Y5j8yB7RSTF8Jc6jMRM6Mp3Gm3wqq8WtqJKmSZOUAaydZM7GPVPgQXhL50LZT4FAfz5/8AiKy45A+eAK7hXXk/3hQGJtHfvffHUfKtWxtkd7IOWlrqdNjWc4lwtbtxFQlQQ+YqjCQGA6fqaeDvqLK49DNu2a4Mok/59Yl50joaYvbM89/tnqaJwfDXN3IqaWwCWCttLbiJk6+6jb2BYei33T8qrKaugQb6sQqpDR4L6Z6rXkXQf+eSUdcwveMo3L0Ty9nhVa4Y6aaf+PlRtDKQFcSJjof9pqj6WwG/+s/vUf2J1n9SKDxVmV0BGi+j1P8AWmjTC8sk+p1Me8k66fvn7QNaHDeVjrm9f/ao/Ks9btET+uYqQXzvX+QoSjFi5Msm+o+fyuM7V6s0w1r1Ds4kO0kfRbGGJqxsCAhkgGDuY5nrRHk7xS09xkOkGBpvy0gdetM8VxewocG7lZFMrl31J0JUj2V40801LakehPDki62sUNwzvhu0XTlK899ZnlVrcPXfOBy0ZeU/OjOH+V9lzD3Sh5aIQfchpjiuNWLYBbEETtAU/glSeXMnTXv0FliywltcXYj/ALPX/EH3l+VdTBKPTXX94Uda8qbLXsi3nKx50Dffbs5pg/FbSuFN95Oo7oP/AOdZ5cq4a9+gJQyRdOLM4yypINvnEvrpI2y+FFpwN484+5flXMH5UWiCjXHAlgDCndjGmSaeNxm2qZi6x/lf8IrSyZVxRpQyRa3RfIh+hQ2VmAaRptM7R69o61d/YhIgiQdCDsR40Ze8osObblXltH1VgDlIMbGBpFS4Hx5b6EloI5DXTUakpvIPvoPJlq6DsyJW4sCHBSOX60H5fCqMX5Ps6kDSdDOulMsb5VWrdrtFbOJiMpBHMnYAiKhgPK61fOVSFMqIOadSJjuldj1rKeet1BeLIo7nF0A/+niVjn+dRPACDMc/zp5iuN2LbZWusD/ln/sofg/lRavFgTBVo2Yjn0Gm3PrW7XNV0Dssm3e4uvsZ7CcAPZrpy6AjTwINAcT4cbb2bhWFDHNAnQrB2HQ1srXFrS2TvmQGRlbefVFC2uL2b0KylTP2Sd9OQ8aeOoyJ20DsMrjuUWZe7wph3tMjmJ5AZoV9fNUNA137xpiOGtlQyQZgyMw0BnzfZ76aY66tkBCwKMRK3FYiB4jf1fKKAxnlXbtaBpWVgqrIZywwknnHxpu2yT/6oWOLI+kXyV2cIHA5sSQBBAkEjcjTarm8nm6n2aCn+H4xhzYzhpSAT5xILQxnmTJmaE4j5UJbyZTnDCfNOg+E1LtsrdRQ8MOWbpRZnLvCmB3PnhQCjH+8C7jTl8anZ4BdDLLA6NHdP21P2vGtJax1m6mYXD56kiXQCXXSJjedqGxPHcKkkXHZ1BEBrkawTrMchTd4y9Ev0FWHK5bdrv7MQ4PhN61fZQRFxcw7p3UwR53jPspoMHd55fuH+eu4Xi1m7eskOQQjM4LvIADDeepFGYzjllUV1zsC0atcUbE6Sdf60J581pVz9jRxZNzgovqA/QjJDoTtBVD4yNJ/Rqp+BWzP1b/danOA4vhrumYhuYLv+Oau4ji2ERsrOZ9dw/nU+85k62uwvHkva4u/sZ5/JZD6D/dNUX/I5W9B/ukU74rx6zbFs2xnDEgnO4Iy6nQ7j2imd3FYdUDmcpMbXOdP3rMknT5B2M6T2vkwd/yWhiMr+bPm+IoN/Jsy3+b/ALVP51ruLcYw6XVAQsCsk94blY3g8vjQOOx9tlZrbGJ+yw9FfCujHqsjq0+Rp6bJGKlKLpmOucEMmvVG/wAbXMe8d+hr1eonM5+zfkzccGxaW3YrEk6x6uftpnd4smRpuZZVgRprqdyQfdWUw9kBiZqxsONe82sj2HlXmz08ZOzqnTfU03D8Zh7c9ndg847Of9tGnjKHe+3+j+SsbZsxqST7Y/CrcVd7jHWQCRqdwCetSelTfU04xlK22/f3NImOtm9mV3ZgIkdn+ajlRq8RE6vcB8cmvqhT7qwuGgMSxbYecRPP7NE3nDRqREd4EiIM89J5UXpfqLKMHXL9/maPhrWQSVchszfYnzz+7TL6aP8AFf3r/LWJsYcDnI9fUzy9dEu0iPzNLLTW+o04Rdctmqu4pSpBuNBGolYj7tUcLvrbSEYFT15ddo5kn21mezEEeHU/OvYcZV5+81u7cVZtkNtWzU46/bdIukFQQQIhQRsd9ahhcSneFtiqqVgCI5NrpJ18ay120CsDT2mo4S2FZt505npW7tx1C4w2Vb+xtzxCea/dPzqjh2KtIGCRqZPx3rKugY6z7zUcMmWfX1od146mUIbXyzZ3eIIUYHzSDNVYLGWVH1cD1VkmUQfHxNV2bYHOa3deKsyjDa1bNgeOL9ZnACp6RYGRlDTEaQD8KW4rF2L9g5woEgnUEDYzI0iNZ8az+LwyPIZQZEE84233oYcPtqsIirqNh00p1pYrlN2TjFKSNNZ7NNFYAaACemgHwqHEXRsnaMpI2Bkn1fhSL6MmWMo/UD8hVF3Brpl7vWOdHu/N2NBJSu2jUXuIubahcmXMujQQMtwAco5VK5dJVgXRARByj8RpNZX6OqrsCcwJMby4NRuYRNe6Na3dV5iKEd3U1nCPo9qAoU9yCxAJMMfcNTpRWOxdllAfzAQcp1E67dPw8KxeGUKNBHWNKi4kQNPbSvR27tjJRUrNXhuO200RUVWc5ZHnQNZI0XzTvPLSjB5T2CASVBjnEiNY9hr52lmGJDAw2kycunITB847164yARI06nXr/WjLQQfiyTSs3XEfKDDMAHKEA6DeI8OW1Ev5WWdO+vhJG+2k18yeCxjou3gW/Cq+I3GyqFUkZhMEDSfHn0o/8bB0rYXJbUbvivlBhnuqzZGYKQNQfSWPzpPxLjWfNG06fdWs5iFBbfSD+IrgQax16+Aq+PRQhRpStJWQvXJY16hnwwk16vQUUR4NXaQydasZDrrULbGTVhY9K5Dtd2V2bRHOrLlssCJiRG3Wo27h6VN2PIUDSbvkHXDvIOcfd/rVrWGOhcRH2Zn41JWMxFTkztRsDTIYbClQADAGnuoll8aqW4elWs3hSDOyBtnXU7V60hC710MeldR9NqxuaKbtokRPwqFrDMCTm3jSAdhVrXDExFdRyeVGzO6K+wf/ABP9I+dds2HE9/8A0irJPQ1605PKtYFdEHsNB7/+kVXbw7j0/wDSKJZjrpVa3D0rJh5og9hvtn7q1Vew7R55OvRflRJcztNQuOY2o2KrKuxaPPPuX5VXewzGO+fcvyoguY2qD3D0o2ZXZX9HMauTz2XkZ6eFde0ftfCphtNq41w9DWMrsrt2yBvVdy0Y3q5TptUGPhRBzYNYwZEliDJnzRvt+VevYUHp7hRA9VRf1U1sWhfew5AEflXLicifhRl0baVW48KZMRp0L72Ek6R7vlUltEc/hHhV9wmueynsDTF72zJ1r1W3Jk6VynsnyadTUxVQIqWYVyHUTUipVUpFSLCgbgsBqdUgipZxWDwTzVI1TIqZcUDcFk15TVeYV0EUDcE2NeBqBIrwIrB4Jk1wGajIrwisDgttJmIA3JA9pMVb9B7xAcQgliQREGNjqTMD20MpHP2xvHhTBuIWyMrFmBUqXIGfzgy6TqFK8zzPhRQrYMuCknKwIBRZII1eeXhFT/szMzIrqxEzoQJUgZRPMnSvWsVbTRcxGZGkxJyFidAdNxAk13F49WZyHdswIGYAZZcMAO8dNPwogKUwBKhiQqxmJIJjvFAI5kkVAYVYLFxAOUd06nLO3LpRd7iNtwVYFQyjMQAYuB2fMBI0OY6ab+FUribYQorXFBMyAO93YIaGEa8taJjycJlV765nTOq6yRBMExAOh9dW3OHB1tQyKxtEgayxDXCZgQNBEnpUnxNu32Td7OLIAGmWSrAEmZ0naNYFDW8coa0YPcQofEntNtf3x8awCvD8MLBe8oZwSimZYCRvECSDE71Y/DVKWSjS9zTLB1ObLvECNjXbHELY7JyGz2lygCMrQSVJMyInUQZjlXLHEkVbJhi9onplIL5jPOYMfHwomIf2XOXI6sC4tkgEZWbaZGoOuo6UF9GJFwz5gk+PeC6fepjbx1q3lCZiO0W4xaAYSYUQYO5105aChLl9ALoWTnWASAIOdW5MdIWiAk/CDmVQymX7MnXRonmNR6ulD3uHmUCkN2nmkSJ7xXY6jUUyu8aQurd9gLguCY7gAgqmp306eaKGXii91mlrioVk6gkmFJ1kwrMPYtEwFc4ZDupdQEXNm1IKkrBEa65ga43BmmAVMNlaJ7srmDNpopWT4ZTRjcTESJR+zNuU0Ah1ZSNZGgI9goS7jlzXiAR2qAHl3iUZuexKt76ZAaEl1dTrNdrrxNeqhLg//9k="/>
          <p:cNvSpPr>
            <a:spLocks noChangeAspect="1" noChangeArrowheads="1"/>
          </p:cNvSpPr>
          <p:nvPr/>
        </p:nvSpPr>
        <p:spPr bwMode="auto">
          <a:xfrm>
            <a:off x="155575" y="-944563"/>
            <a:ext cx="2314575" cy="19812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r-TR"/>
          </a:p>
        </p:txBody>
      </p:sp>
      <p:sp>
        <p:nvSpPr>
          <p:cNvPr id="25606" name="AutoShape 6" descr="data:image/jpeg;base64,/9j/4AAQSkZJRgABAQAAAQABAAD/2wCEAAkGBhQSERQUExQWFRUVGR0WGBgXGBwXFxgXFhcYFhwYFx0cHCYeGhojHBcaHy8gJCcqLCwsGB4xNTAqNScrLCkBCQoKDgwOGg8PGiokHyQsLCwsKSwqLCwsLCosKSwsLCwsLC0sLCwsLCwsLCwsLCwsLCwsLCwsLCwsLCwsLCksLP/AABEIANAA8wMBIgACEQEDEQH/xAAbAAACAwEBAQAAAAAAAAAAAAAEBQIDBgEAB//EAEUQAAIBAgQDAwgHBQcDBQAAAAECEQADBBIhMQVBURMiYQYyQnGBkaHRFCNSkrHB8DNik9LhFUNTcqKy4oLC8RYkRGPD/8QAGgEAAwEBAQEAAAAAAAAAAAAAAQIDAAQFBv/EADERAAICAQMBBgQGAgMAAAAAAAABAhEDBBIhMRMUQVGR8AUiYXFCgaGxwfFS0RUykv/aAAwDAQACEQMRAD8AyOWrFWpC3UwleTZ1EAlTC1NbdTFs0LMQVKsCVYiVMLS2YrFqnvAuH5mmldlJIracHw+S3NSnLgZIH41i8i5RWVbU0z4tezOaBC0I8ILKstcdaIivOgprACqtHYHAlzUcJhcxAFa3AYIWlk0JSoNHsJhlsrPOkvFuK5iQNqs4rxLMYFKIpEvFmK4rsVMLXctPYCuK7lqRWpqlazUVZa5kmi0whNErh1XehuDQvTCE0QuBA3qy9jI0FCXb5Iocsxc19V2FDX8eSKHYHxqJtmNqdJGK7jTVBFFHDnoa59CbpTpi0BPQ7rTJuGv0qp+FP0plJAoUOda5Rj8Kedq9VNyF5LlFWAV5UqwJUmxzyrVgFeUVJVpQnhXQtUriIZgxAggDedQDr76vOIUAma1M1BOBtywrZOMtr2VkOF31LLB31jatlfE2vZUZ9R0Y69qxrmWrbid41xtI9YHvMfnTWBKwK6xGYA7An/QT+NFWe8Y56+5Wy0uu4kZSSRJU+2UaPw+FNOFWs95RyDfjfH69tZnZ2Fx6D/gnDwBJ351HjXEPRFUtiMiAA66Hx/Yvr8PhSZMQXLZt5gdTCIx/3Ui55JTwuHQiTNdC1YLVd7OmsgQruWrEsk8qOw3DtpoOVBoBtYaaOt4YLvRwwZjQVZZ4QTvS3YaFV7EcgKo+jux2Nae3wpRUnULsK10AzdvgrE60Snk/1pjdxbchS7F424BMHpsTvoNqKbZi4cHtjcipfRbI6UgxOPu5wuV5M8jyB5c9qFvvchtHGk+aTyptj8wWaZ8RZHShrnF7Q5Cs6LL5QTMwDtG/4UNdEdaZY0CzRXfKBOlC3fKRelZy9eoK/iqosSBuNA/lCJ2r1ZBsUZr1V7FCbjWrZNU97TQnb7Max6q193h1pGKM4zAEkQZhVDnl0I99BtwJX1GUxkB7jNBOQxptoR+hXnR1cGVcJJW06EahvsH4fOu20JncRy0/rT9vJvwX+C9dwvk+e9A5jZSvIcjR71jrqLZmcRai4mp1InUdVHTwosE6iCwn93aB4ir/ACgwJtNanSdQf8rL86UYy6Gt6AZiRJyksCAp1PSrRmpq0d8dLPJGLiuBpYVsykBgBsBlj8a2Vi+Wt+Y3vT+asVwzEoysWCDKAf2LGdOvXStJwHE27qwoQkAEj6OxjNOhg76Uk5IlLT5Md2ugFiLJDHuH3r/NS7it/KACpEkHdfRuJpv41oMVh11ICADn9HfoT3Rz2Ou2hNYjygxILlQFESn7MyYKmdOsbDQdaaD3MbTY9+T7C69jCyr3SNAAZA0U3F+M01XijW3YrppO4BMtbaBm9XSdazbXddgpUNEoSdydh+ZNXLcDMdS8aQLZGvjGsbV0SgezjlHo/wB0PDxZ3Vww9CAQ0bIwBiehOtStYpJuCLYIF0jzOSKgGrSTpPvilNjEKFYRlLbHsyNNdj6qvw10aISTodQpG+UmddoEe2oyjQJ4VPpX6GrtXbRYjKjQSAQFMBVQ8lY7k13LZnKwsgjrCQCJBIZBpyJHh7M/e8omt3POZlJJh1MQwAzanUmOtMRxdst5Fy5WyuuZO8hLiNSdMsGD+8a5tklyeXP4flt0N7KYeYmxO/nBZ9sjWmGHsKoMEADZrd8x11DZl08TFL+J8eNtrevfDGywNuLR0BzATImQdRp3hG0EYHj4vqrqguH0glnIynbWSBvsc09BQ3NKzzpRyQ5kg5eIunO1cH7zqj9dCAVb2D21FPKdTIAUEbqbgBHw19YpfiMYzN3cx0JKPby3NNyG2YQOc7e67DWhc7veOXUjIiuk8xLAxruNP8u5m9Qly0BTCW8ovBP4g/lqk8fPS3/EH8tHYfBkMqNnOach7NAWy7gidxH5RzJGMwotLmYXIkDzLc66dak9ZG6oeLcnSFA454W/4n/GoYjiavGbJp0uxrvOi1ziPHFSABdkqx8y3owYqvPUEqfhSXE8YZsOqg3e1LEsYQACWMAzJ0gRV4ZW/A78egzzSe3qPTxpelr+J/wq3DvbKiRuBPePMDxpC/GR2wYdrkyqIi3PMtpMTJ09VePGFNsgBg0aEEDe3lHqggN7aLnLyGXw7Uf4jvF4e1kaBEKY1OkDTnS+9h7Tc7X8T/jUL3GLZMahCGBMar3TBPWT7udBvxM5jrcgzl/Z8mIk/d+Ioxyy8UTeh1C/AyjF8IRiYa3sNnJ5noKBxPkudYPM/jTuwpugspuRoO92Y3dlXbXUj9CqLlww5VpyuVPrBq8dRzVnJLHKLakmqMjc8nnk16ml3iLSda9XZvkRpDTEYS6GyurZgNjJIAUH2QpHq0onhWBxZ/ZsU5SbmUBiLZ25EgrB+Nbg3kYyyKTqJKiYYZSJ31GnqqlbndUgqARb/uwdQUG+/L9RXm7J1TR7ub4q5w2qCv68r0F78P4jr/7i3y/vY5Hbu/rTpXcBwviJL/X2/R3YXNcnXIdfz11p8lwn0l/hj51dYxGQnNJzFYKoAJiIgH41JYG+Nq9Dzu+TX4If+UYTyuwOIQ2/pDo85suUREZZnujwrLXLerbb/wCIV9EdBX0vyrK3LlkFW06jYF0kxOugoHiXkkfo31chlKwpCnWArMTz510QxuCqj3NPrsXZQjPht+FJePgYRLRIO0Df60/KpWcO7g5RIHnZbjH2fr519P4X5JLZRlzAtcEElFMADXXrJOviPGoLw5bULaYKICA5FlguoL6a7kknXUA7mi3RLL8Xxq4wV+X1Pm1/A4gsw1kLr9YxAUrtroZA0H9BSfEYNsxWQD6X1pzmDsTECvr9nCNqUYlZzMcqF3O86+OsE9NqyflHwwO4uWy4a4M5BC5pzW1IOUEDRxAmarGfkS0+rWon2c1V+RgRoYhVCrcMC4TI6SP0a6yHRFYAswJIuHmOfLwpxibOVgcxOZXOw+0y9OgFeW0yuBqNVOw3Kz76r2h3LQpur/RC3DoBCsQ2YEmbrbePd2qS4ZVuEjKBBkC40cieUzRuGsErcYMQQs7Dkxnl0E0Vh8PCsSzZgpYiBIylZnToW91K5jx00Evm8PohZjrTOpUdnG4PaH4SK92DXBIZEZIzd85iAdI5EU9wnBjDntCILgDQkZQGjbSJIjnBqb8Da4zEdoAigyQoBVXHtM68ulLvrghly4F8zbfv6GcxGDaSS0EH0pAnx6024Hg8Q4RrboikkyWOX0gdOexG3MVtbHACTD3GOhvZWCnVlC6kp6gAehr2Ew2SwATcW2JyFCuYKT53mSd/Xsa5p6lNV7/Y8vLrINfJHr5/2ZQcMxQDntbYcODJJknXVD9nlHPar73D8T2pm/YW4Igg84Pm92Y8D8a164Z7wnO6KsKshczEKO8FyiF9fwqvtic1vM+d2zFYUjQQW8zzcoBk7RXO8/0Xv8jkeob/AAx9DLvhsUcoN20ddAsrlOVhm0AAWJE/y6BYvD3pPaiSNCSGaemswdafO+ViwY5MxSRl0EAkeb1JOnLMKHv4ppyO7kAhdxy81vN32H3qtBt9Ejr0/wAQeOvkX5cCC8CIzZNtJVttR+RFV5h+590/OnWK4ar6yxIDASeZJYE6ciT76W4nhDi0IDdoDqZ3En8oroSPTj8RxNcpr39wbMP/AK/uN86Js3O6NRsPwqL4IdoPOCwPeJBHtga+NVdiMhiSSNNf3ZHxP4VnC0NH4nii/H3+YRdfunUbH8KHj/J/DaiO0tq2aNBJiJGo59QOVTS8mYkliOU8iWJ6bd40lNeAsviuGT6MFGDZtVUHba0/NiBryk6eO1G28DfNu92bhAGhp3LCdBpuOe29G4bjq2u6hZRvvzzFunI7Uq4r5QyHCiJYsYESTUk8s3Sj6nBm+JKcXFR+1mdvWLuYzdWa7S+9eYsTBr1euoOvD0PH7T6I++LfoUYlsigKCITXNHNfA1dfsiF7xUzOke7UUJlOVYcgdzSAea9a10WoaLinAJyjT9//AI1cue4EaCNjAuQJ3+xuNqGGHzKQ1zukayqEfFYolV7K2gVnK91RkS2d4AOixBnfxrKSEcRZxxu0xFpCg6GLrL5zL3ZCjca1ocLhZAzZlJ3Au3GAPgZE+6hTwyX7QsSwEeZbnQggzkmRFEYK8xVwQ2hgFlyyGgDYRMk/Cs5JGm7ik/AtwzE2k5llBM66BRv1kkT6zQN5Q9xBrBzHRiugK6nKRuSast4qLQOwgIPVov45j7KX4zEor2nfugswTUrKjs5iCJrhnL5iaXBdY4cLeYJmJdydbjrGgHLltJOp91CcRwGW0iKuY2slstmb07tqd1me4OulMsE66NbIZAYJzEkEhTzPhBHjUuKYzOAqAsSQ2nLKQZ3GxHtiqxdqimGThNSR8r4hw9kC7GUzDU7XBdfpyj4Ue/Bbly64WFBiInYNbQAadZ91aDiNlcrqx0RCPCezaNevzqu2LgZGNslWb0fOgYkN3hy3j2Vtp9I9a1FMzNrgtxA6qQ7G2dBO7I7gevQ0X/Z7EuCup7bmR51pWA0E+n+FP0xuWFNsqdB3hlH7Bl1J0GpFNuAWQmYMyObhzTyBCIpXnIhd/VSSmoK6OPNrXTtif+zFAmEJLad6PPFtNdBtln39TT9sAi5BbVVLrLHYwmUQYUk6t8Kux91MoWF7xVVYiFzZ1gMOkbH2Umu22tOudljI5hSRlMpCiSZrllmU0ePKTkxni79w9uQts90CMzdTBHd8ZoLF51yiEgZQdWiAQPs1TiMPctjQBy2jKdM0zsdNuh5VWWZwQxRGPdKsCIEDXrz2j21G0vsKTbE3DdLQugOmZoEnTl0mrbdy6EvPlTVQFeT5wzd1ZEnceGkUtcJa89rjZj6IHqEA8vbU8RxI3FVVE5QAqKM5UDZjlOVT69K0oN1t6BA+IYq5kVcqgLI3OYwNNANIkan50pv4i4QJyzl3k7roD8aLx+LGojfWAZkjQlmAMnwHvpPcxjmRkgbSdNOgHKvR08eAoY28XcMEZdRPPnRdvFXOeX40Dg0YqDH6BIq+4WUbVV0OX4nBuwlSvx+dZ3FYZ8xnLsPR6GetPuG8QbMRkYgb7dJ5kVTjcQHLQjBlEmSsRMaazRjd0ZiC8zZgQFgeHWq7+NYDxq3FXjmWJ5yNBtG80M2JbvSkAHw2n4+yqIQpfF3J3G3Tx9dVti219dTu3zm80bdPGhmxG/dG9UQCJxRr1WC5b5qwPqB/KvU4D6y93tFBG43FALjVyKCwB7uhMc12qizdIIIMGuO+i5g4bKp7mXaRq2b8td/CvPUrOmhphnR83aMkNEQ5kRGnTlO3OmtnCo2UWwpFsoZzMdVMxpp6PxpVgrlwnTtCPDs59s6034feJLTnmF8/Lm9LbLpFI5uIdtl+MwTXAQ2WCrLu2haNeW0VeuDQwCiz2irpJEaPzqSvQeJdu1t/tI7VfNKRItz6Ws/Cg8rEyQpAwtqEsJBYCO7psELaAnaWHw3phaYtesQmVEDRmkN6KzHLw9tZ/A4klrJPaaW2P93oYta+qPwHSjb+VwL13tlUxbtHMgae8Z0IIn3mPZSSl5nOM7/DfrrpIVy/eVDOgVYk6gatApUMX2Y7VcotXEBIk/VtmyxrtGvqIq/hOP7OVu9urElszlVzDkJPQePImKSLh3e291w7WgudUBtoXGcSznn4ddNqpDJ4MydF2KuGHCQwh1gSzE5CJMaak+wUy4Zipl/q+ztsAWaRHaNmiCeRjUx5ooHE8YdGQm3ctW3doY3LebKVGhAkLMjWdJr2Ichy/auC/ZAIrISwkwWmTIynYaayTRuykss5KvAc4XEOwe8wWSrugYTlVCFEQdJJO+ulBYvDtcNu4oUMWyNkBUz2eZjBJ1mREcjSK7j3sjQ3DnW6DndQYDTI26beAiieH4wvffIxU5s/ev5QTlCTsQT5wPsqiwbuUSsvuXGVSboNxe4wOU9mNmgiYkTzkbVTiJe5azoVRp37undMAbgEgDbnTDAO62VJJusQIAvAKgAiNW11GsxrQWJtO9xGvCEBYle3BLZcp3VjGsazOh9dTeOmNuQy7QQNtSMusiZA0pfxHCq90wHByliVMQBA6EH9eFDYi9aOTJbCkGUK3ddBOpmcvUnaeVC3b5YwNXvAogF7ZA03LjHkvdgde90EiOlSdg3clOJsNMLadtyM5nTc6DKD7Zq3C4O8BLSAuoGoXXTYAA9Aek8tK7es5GsoJBLE5jfLFlAWfUW70eJFW8YuquGZhEmIi8ToYUR759tXpKkVSA7gvXgQiIsabSWjnJEnpQgwtxYV1U+rfT4U44ZgsqRKgkR+3OkiOXvofABXtCSsrp+2bl+vhVNyrjwDQThMHFpMoBEA7EETrr76l9FB84D4/OluCx/ZsLZyEiSD2zAFNTyO4gj3UNisTmaFEax+3Y6SRzqVWUUWxmHRWcDqOceiOtBcM4cmruo83WYM8/b/AFpULKhzmdG1U5RdImez0LbczU1vXWCArFsKJA1ERb2PM7U/QZY76lOKtIS5GUcxIjcGIiaFdwZGUtAnQE9flRacPchiRyP+0n8q6nC0IbMV1ED6w7jPvp+7W3oywyb4QtVgSYU6QPNPJo6UwwfAc2bTn+QonDWLSdrLIYOg7RjPf5CNabXOKWUziY72kCfRXlSyyP8ACHJi2NpiduAL0r1GF2bUEwdtI+B1r1b5yVIOQUPiwGg90nKsgoWIiBIjl+uVWlo1PKjMHgAyBszDQbNA3BrieTYrZVoHw8Agwn8Jqe8Hv6tERC6BCv2uR39Yq44eypVS7MzGBFyNdOpA50RhbNoHWQCpYZ2BnIWmNT4+41yS1SrxCoteAbauyNqXcWtg5mhZVkYTaZ9gBqw0jU6UxXEWwCcwgBTuNnMT7KHDrdLBQxDsbcrcyjS3rpP60pseovqjTTroY7ils9kCmXukf3LTlYlT8Mp/6qZvxJU+jvlVltkkhbDEkEFc2/Ike+hTcmwmb07ayDdiGJyH0tgchjrNKmxLi2wE5hmtj6z0hpmjNoI/Cu/iSJRwyk6NVxXIMIxdVDP3mzWWkEKbgBJMTECF06aCll7EuliVW3cR7cKrYeBsG0POZnUHY1nsZ5Sme8rMVOYBbpKA5cokzSzEceuXba28mgUhe+dJyiRrpt050Y4vfA/d6fJqOL42WPa9kQHeUWywBlU0Ynl3dhroddaW3OLsDCWrSa24i0q6Bj52sjVunIUFd4fczksgbVh3rjmW30iPf4UFawuoJUK3c2JIJDZto8BoDVYxijoWFrwHVh7bL9ay7MMvYydYM6mPR0J+1tRWK4pbZkCjRO6gVQsAZo11670htX2QkRaSAILFgToAcseqq7oa5cAcIQDrlcx0GsUUuQdg37ZouGcRy21DOzmB3RaXLrBAJOpHe30oa5xe4xzFViCF7gAgdkdgDG3xpMnDznt20kZlBPfaNY8Oi0wt8JS24zDNMhSzsASCuygS23gDPhSShG7CtK2+gbw3O66BhsgYWwcx0WE0kn2RuSe7WjHDntuxAIuXNybYGW2ohbaLBuEAAScomKRWsM7aLoVC6h2AXVTlUKBOg1iB47VruFtZFtRcVWMS2Z2ALAfZCBZ06dNanLI14E8+knH5oqxfc4WzsCC5yrDsLagC2BOVRqATA3M/uimOL4Q1626Q32R9WgA7oYercfCgcZxg3AbYtoJHJ22LdI6D41TgsU1uDkRoMwWaIylem+2vhST3PlFY6HLsbfXyArnkuplT2tu4u+UKup5xMHadKp4XgmRXXNcyx9m2J8xup2zH3GifKjiIuxkS2IIG5OgmTJWRrHuoPD4cxJVPbO0eqneSe2h9Pondz4YXewZcQBcDKdDltkhh2492oBHME11LguQbhuod2EWyFKv3hoP3wRpqDQTYrug9kpDRB0mCZ5nfvc6qu4jIZCsAxuIfNAk+afO8APu9Kncq5Ovu6TthGHwyhpi7/d8rfIWm69AavwahUQR4GeWlsTpp6B2qu1jLedhnWe7z8IqVuzmAIVYOo1PyqUsp0Y8EFz1K8U5CsQPRIj1pl/rSTF8QaSvaMDqfRPNug6NNP7mG0PdXY8z8qEfsmeJiFnTqSPDlQWZeRScE+nBkMdfOYkm4QTrsvpA0SMY4kqoSTMgZm1A5t/StDdwVqRBJ56sY0I0215D2Vo+DeT9q/bZoBOdhoeWkfjTz1yhG2jydZgaW6z5XcusSSSxPrNdr6o/kJbnYfGu0v/KYjy9jMjxHhbNaZRcadNzpp1ojBcJYWAhv3M2UaRIXlpAJkeNGiqGvke7/ABMvPpVZSk47Ueis048o5xDyQu3Ozyu7ENBZkbw7whAdI50z4Z5M3QADecwhJDpGWCdBm1g/ma9b4uRzP8c/Oi8Dxwy2s6L6Zf7XM7equScs+3bx+hXvuV+XoC4jyNvMGP0lxKr3coiXMZdOQr3AfJ17QCtefz2HdQlR3QZ806mI91Nv7cPWg7vG/rDqOW902/R6D8aRTztbX+yM9XlqjMXPJi6cP+1YwFdZRoyuwnlsN4/cpXxTyau2lLZnYqSHVUYCF9LUaitanFB2awVkDT69uROkfl6+tB4vGQsSuQTH17GJAhfUNgekAxXbDNmXD/gVamUltl0MhZsBspF5kM6gLoOXUa+uIqm7hIyEXX0BOog7+jTPiXD++WQKUbUqLuoOXWBzWaWdskEkKvdbQud9OWnxrtjN9V/AjzpeH7ja+jn+8uKAza5QHYZdtBz0940pdewtw3FOZ5gR3YK6RGkAHly+Z9txmzMy5iSQ3atoNOUSTHLx9gjexFvMFSAAQS3aMSYK+Hhy+NLHJKL4X6FlmtWDYjDGArXHZzuSo0A+zpy291B3eGNlJW5ckNGoEGNNPGaLu3lywgXWBmzEHQcvCo3LYVQoKid+8Y6fjTxnJf0hd8W/7J4HF3OzORmBAHeyqW7oA0JGgAA26+NHYvBvcNkh30tkd4LoQwBiI9LT3Upw2DlQZWCI0Y88u4I6SPf6i24fdSFnJpmG559k2vtJ+NFz2u1+x0Ys1cMd8LwrLbHfvGROycz4jxFGWvJ++/eV8TB12QCNduVCcPtq6LGSCAp1OneE/OnhxXZqFHZkLA9LlXBkzZU/lS9B82pcEthmzw279Iz57oGXeLebYjpl38KLuWXzZhcvAARAFoA7nXSPhVvEMWhRoW0DBgw075vy+NK7WJC79mYYGCpMkL/yPuovPmnz/AO+Q22/QXJwK+bjEtcUAmSMsnX1xTi5hnCZc94cp+qB/WlQvYpXHoCNu43KfnSy/iZHofcO8D+YUzzZptOVegceohKNt8/c7Y4LdPZt2ztAVspjQBjoD/0zqedO7uEZhGa8u5MG1rO9Y3E4x1YKrKO6qgKmpgvqZGmgq7DXri7uNTzRjpIHQDrVZqckm69DR1UOiv1Gg4VdbEP37ndy6ymaCNOcTofd40/weHItgG48xuSs/hWYwfEAhaQrE5ZJtHp69pNNMLxxcqj2dPcOVc2aM5cHXiyxkuWHHhzAE9vdOh5jofClmF4bcGIa5nuBSvJknUqYMiIgdKKbiqFT3uX5UOLogebt/gn1dalGORJ/6Kz5fX9gi/h3zk9rdAKxGe3HITtRvkj5H3e9cOJuWRmj6swxgDedOfSkrsSwiP4RHpL+prSYc3grAHdp6boh/Oo5o5tm2DXP0ODVZJQjS/2aI4KP/l3/ALyfyV6sbdv35O9drz+4Zv8AJeiPK7aftInG1DXdvZ9jNz60TNQPmfrrXuJhZwz4/wAOp4eZbfYejl5tQ2LMXUmApB3YjpOmYDaOXM0TYyycpnQcy32uprPoBdQkUOS2cxm5bKDy8auqk3oc6qNtyRy9VBDMrwrNkGr/AHV6nxqRDbgv91fnV2Dns1nx223O1XLWvkyQubDkgxmE/upHrifjvQNiyx89X5iIRhBPQ7aAbGnxoPFYnsyWbKECljocxiNtYpoyfQVqhbcwIJ8x+fK2Ps+J6VFuFEkwGAJ27h073OYnamFjHq6BpBP7oMHYiOfMe0xVrYhB6Xw+enj6iKbdJBTFFjBkHKc0eASfRU+351RjcJkMKXOzalDu0+ynJtEMCeZ19uk/EH2VDFYUZTGhaZ9YB26b0ynyK7oU4CyxsqBnmBzSJBBHs218apwr95pDQMrx3DuEnfwWKaYU/VrA0Kjx6D8qqFj69QR5yv7wQfmafd1F545CuD3rlsMCXBBnQpGoj8QRT23xQmA3ae+3WdsNMZtQPqzPUbHbwBow4WGzKFBgDzZOhJ6jrUZJXyUUmxviMMHG7gnXV7Y5j8yB7RSTF8Jc6jMRM6Mp3Gm3wqq8WtqJKmSZOUAaydZM7GPVPgQXhL50LZT4FAfz5/8AiKy45A+eAK7hXXk/3hQGJtHfvffHUfKtWxtkd7IOWlrqdNjWc4lwtbtxFQlQQ+YqjCQGA6fqaeDvqLK49DNu2a4Mok/59Yl50joaYvbM89/tnqaJwfDXN3IqaWwCWCttLbiJk6+6jb2BYei33T8qrKaugQb6sQqpDR4L6Z6rXkXQf+eSUdcwveMo3L0Ty9nhVa4Y6aaf+PlRtDKQFcSJjof9pqj6WwG/+s/vUf2J1n9SKDxVmV0BGi+j1P8AWmjTC8sk+p1Me8k66fvn7QNaHDeVjrm9f/ao/Ks9btET+uYqQXzvX+QoSjFi5Msm+o+fyuM7V6s0w1r1Ds4kO0kfRbGGJqxsCAhkgGDuY5nrRHk7xS09xkOkGBpvy0gdetM8VxewocG7lZFMrl31J0JUj2V40801LakehPDki62sUNwzvhu0XTlK899ZnlVrcPXfOBy0ZeU/OjOH+V9lzD3Sh5aIQfchpjiuNWLYBbEETtAU/glSeXMnTXv0FliywltcXYj/ALPX/EH3l+VdTBKPTXX94Uda8qbLXsi3nKx50Dffbs5pg/FbSuFN95Oo7oP/AOdZ5cq4a9+gJQyRdOLM4yypINvnEvrpI2y+FFpwN484+5flXMH5UWiCjXHAlgDCndjGmSaeNxm2qZi6x/lf8IrSyZVxRpQyRa3RfIh+hQ2VmAaRptM7R69o61d/YhIgiQdCDsR40Ze8osObblXltH1VgDlIMbGBpFS4Hx5b6EloI5DXTUakpvIPvoPJlq6DsyJW4sCHBSOX60H5fCqMX5Ps6kDSdDOulMsb5VWrdrtFbOJiMpBHMnYAiKhgPK61fOVSFMqIOadSJjuldj1rKeet1BeLIo7nF0A/+niVjn+dRPACDMc/zp5iuN2LbZWusD/ln/sofg/lRavFgTBVo2Yjn0Gm3PrW7XNV0Dssm3e4uvsZ7CcAPZrpy6AjTwINAcT4cbb2bhWFDHNAnQrB2HQ1srXFrS2TvmQGRlbefVFC2uL2b0KylTP2Sd9OQ8aeOoyJ20DsMrjuUWZe7wph3tMjmJ5AZoV9fNUNA137xpiOGtlQyQZgyMw0BnzfZ76aY66tkBCwKMRK3FYiB4jf1fKKAxnlXbtaBpWVgqrIZywwknnHxpu2yT/6oWOLI+kXyV2cIHA5sSQBBAkEjcjTarm8nm6n2aCn+H4xhzYzhpSAT5xILQxnmTJmaE4j5UJbyZTnDCfNOg+E1LtsrdRQ8MOWbpRZnLvCmB3PnhQCjH+8C7jTl8anZ4BdDLLA6NHdP21P2vGtJax1m6mYXD56kiXQCXXSJjedqGxPHcKkkXHZ1BEBrkawTrMchTd4y9Ev0FWHK5bdrv7MQ4PhN61fZQRFxcw7p3UwR53jPspoMHd55fuH+eu4Xi1m7eskOQQjM4LvIADDeepFGYzjllUV1zsC0atcUbE6Sdf60J581pVz9jRxZNzgovqA/QjJDoTtBVD4yNJ/Rqp+BWzP1b/danOA4vhrumYhuYLv+Oau4ji2ERsrOZ9dw/nU+85k62uwvHkva4u/sZ5/JZD6D/dNUX/I5W9B/ukU74rx6zbFs2xnDEgnO4Iy6nQ7j2imd3FYdUDmcpMbXOdP3rMknT5B2M6T2vkwd/yWhiMr+bPm+IoN/Jsy3+b/ALVP51ruLcYw6XVAQsCsk94blY3g8vjQOOx9tlZrbGJ+yw9FfCujHqsjq0+Rp6bJGKlKLpmOucEMmvVG/wAbXMe8d+hr1eonM5+zfkzccGxaW3YrEk6x6uftpnd4smRpuZZVgRprqdyQfdWUw9kBiZqxsONe82sj2HlXmz08ZOzqnTfU03D8Zh7c9ndg847Of9tGnjKHe+3+j+SsbZsxqST7Y/CrcVd7jHWQCRqdwCetSelTfU04xlK22/f3NImOtm9mV3ZgIkdn+ajlRq8RE6vcB8cmvqhT7qwuGgMSxbYecRPP7NE3nDRqREd4EiIM89J5UXpfqLKMHXL9/maPhrWQSVchszfYnzz+7TL6aP8AFf3r/LWJsYcDnI9fUzy9dEu0iPzNLLTW+o04Rdctmqu4pSpBuNBGolYj7tUcLvrbSEYFT15ddo5kn21mezEEeHU/OvYcZV5+81u7cVZtkNtWzU46/bdIukFQQQIhQRsd9ahhcSneFtiqqVgCI5NrpJ18ay120CsDT2mo4S2FZt505npW7tx1C4w2Vb+xtzxCea/dPzqjh2KtIGCRqZPx3rKugY6z7zUcMmWfX1od146mUIbXyzZ3eIIUYHzSDNVYLGWVH1cD1VkmUQfHxNV2bYHOa3deKsyjDa1bNgeOL9ZnACp6RYGRlDTEaQD8KW4rF2L9g5woEgnUEDYzI0iNZ8az+LwyPIZQZEE84233oYcPtqsIirqNh00p1pYrlN2TjFKSNNZ7NNFYAaACemgHwqHEXRsnaMpI2Bkn1fhSL6MmWMo/UD8hVF3Brpl7vWOdHu/N2NBJSu2jUXuIubahcmXMujQQMtwAco5VK5dJVgXRARByj8RpNZX6OqrsCcwJMby4NRuYRNe6Na3dV5iKEd3U1nCPo9qAoU9yCxAJMMfcNTpRWOxdllAfzAQcp1E67dPw8KxeGUKNBHWNKi4kQNPbSvR27tjJRUrNXhuO200RUVWc5ZHnQNZI0XzTvPLSjB5T2CASVBjnEiNY9hr52lmGJDAw2kycunITB847164yARI06nXr/WjLQQfiyTSs3XEfKDDMAHKEA6DeI8OW1Ev5WWdO+vhJG+2k18yeCxjou3gW/Cq+I3GyqFUkZhMEDSfHn0o/8bB0rYXJbUbvivlBhnuqzZGYKQNQfSWPzpPxLjWfNG06fdWs5iFBbfSD+IrgQax16+Aq+PRQhRpStJWQvXJY16hnwwk16vQUUR4NXaQydasZDrrULbGTVhY9K5Dtd2V2bRHOrLlssCJiRG3Wo27h6VN2PIUDSbvkHXDvIOcfd/rVrWGOhcRH2Zn41JWMxFTkztRsDTIYbClQADAGnuoll8aqW4elWs3hSDOyBtnXU7V60hC710MeldR9NqxuaKbtokRPwqFrDMCTm3jSAdhVrXDExFdRyeVGzO6K+wf/ABP9I+dds2HE9/8A0irJPQ1605PKtYFdEHsNB7/+kVXbw7j0/wDSKJZjrpVa3D0rJh5og9hvtn7q1Vew7R55OvRflRJcztNQuOY2o2KrKuxaPPPuX5VXewzGO+fcvyoguY2qD3D0o2ZXZX9HMauTz2XkZ6eFde0ftfCphtNq41w9DWMrsrt2yBvVdy0Y3q5TptUGPhRBzYNYwZEliDJnzRvt+VevYUHp7hRA9VRf1U1sWhfew5AEflXLicifhRl0baVW48KZMRp0L72Ek6R7vlUltEc/hHhV9wmueynsDTF72zJ1r1W3Jk6VynsnyadTUxVQIqWYVyHUTUipVUpFSLCgbgsBqdUgipZxWDwTzVI1TIqZcUDcFk15TVeYV0EUDcE2NeBqBIrwIrB4Jk1wGajIrwisDgttJmIA3JA9pMVb9B7xAcQgliQREGNjqTMD20MpHP2xvHhTBuIWyMrFmBUqXIGfzgy6TqFK8zzPhRQrYMuCknKwIBRZII1eeXhFT/szMzIrqxEzoQJUgZRPMnSvWsVbTRcxGZGkxJyFidAdNxAk13F49WZyHdswIGYAZZcMAO8dNPwogKUwBKhiQqxmJIJjvFAI5kkVAYVYLFxAOUd06nLO3LpRd7iNtwVYFQyjMQAYuB2fMBI0OY6ab+FUribYQorXFBMyAO93YIaGEa8taJjycJlV765nTOq6yRBMExAOh9dW3OHB1tQyKxtEgayxDXCZgQNBEnpUnxNu32Td7OLIAGmWSrAEmZ0naNYFDW8coa0YPcQofEntNtf3x8awCvD8MLBe8oZwSimZYCRvECSDE71Y/DVKWSjS9zTLB1ObLvECNjXbHELY7JyGz2lygCMrQSVJMyInUQZjlXLHEkVbJhi9onplIL5jPOYMfHwomIf2XOXI6sC4tkgEZWbaZGoOuo6UF9GJFwz5gk+PeC6fepjbx1q3lCZiO0W4xaAYSYUQYO5105aChLl9ALoWTnWASAIOdW5MdIWiAk/CDmVQymX7MnXRonmNR6ulD3uHmUCkN2nmkSJ7xXY6jUUyu8aQurd9gLguCY7gAgqmp306eaKGXii91mlrioVk6gkmFJ1kwrMPYtEwFc4ZDupdQEXNm1IKkrBEa65ga43BmmAVMNlaJ7srmDNpopWT4ZTRjcTESJR+zNuU0Ah1ZSNZGgI9goS7jlzXiAR2qAHl3iUZuexKt76ZAaEl1dTrNdrrxNeqhLg//9k="/>
          <p:cNvSpPr>
            <a:spLocks noChangeAspect="1" noChangeArrowheads="1"/>
          </p:cNvSpPr>
          <p:nvPr/>
        </p:nvSpPr>
        <p:spPr bwMode="auto">
          <a:xfrm>
            <a:off x="155575" y="-944563"/>
            <a:ext cx="2314575" cy="19812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r-TR"/>
          </a:p>
        </p:txBody>
      </p:sp>
      <p:pic>
        <p:nvPicPr>
          <p:cNvPr id="25608" name="Picture 8" descr="http://www.sciencephoto.com/image/351279/large/T4810051-Voice_recognition-SPL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14876" y="2714620"/>
            <a:ext cx="3786214" cy="3243286"/>
          </a:xfrm>
          <a:prstGeom prst="rect">
            <a:avLst/>
          </a:prstGeom>
          <a:noFill/>
        </p:spPr>
      </p:pic>
      <p:sp>
        <p:nvSpPr>
          <p:cNvPr id="7" name="5 Başlık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</p:spPr>
        <p:txBody>
          <a:bodyPr/>
          <a:lstStyle/>
          <a:p>
            <a:r>
              <a:rPr lang="tr-TR" dirty="0"/>
              <a:t>Örüntü Tanıma İçin Örnekler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sz="quarter" idx="1"/>
          </p:nvPr>
        </p:nvSpPr>
        <p:spPr>
          <a:xfrm>
            <a:off x="914400" y="1571612"/>
            <a:ext cx="3086096" cy="2571768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tr-TR" dirty="0"/>
              <a:t>	</a:t>
            </a:r>
          </a:p>
          <a:p>
            <a:r>
              <a:rPr lang="tr-TR" dirty="0"/>
              <a:t>Petrol ve mineral araştırmaları ve deprem tespiti için elde edilen sismik sinyallerin sınıflandırılması.</a:t>
            </a:r>
            <a:endParaRPr lang="en-US" dirty="0"/>
          </a:p>
        </p:txBody>
      </p:sp>
      <p:pic>
        <p:nvPicPr>
          <p:cNvPr id="10242" name="Picture 2" descr="http://vulcan.wr.usgs.gov/Imgs/Gif/Monitoring/Seismic/quakes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6248" y="1428736"/>
            <a:ext cx="4476781" cy="5143536"/>
          </a:xfrm>
          <a:prstGeom prst="rect">
            <a:avLst/>
          </a:prstGeom>
          <a:noFill/>
        </p:spPr>
      </p:pic>
      <p:pic>
        <p:nvPicPr>
          <p:cNvPr id="10246" name="Picture 6" descr="http://www.senergyworld.com/SENERGYWORLD/media/Senergy/oilgas/reservoir-seismic/Reservoir-Geometry-Ident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0034" y="4714884"/>
            <a:ext cx="3500430" cy="1575194"/>
          </a:xfrm>
          <a:prstGeom prst="rect">
            <a:avLst/>
          </a:prstGeom>
          <a:noFill/>
        </p:spPr>
      </p:pic>
      <p:sp>
        <p:nvSpPr>
          <p:cNvPr id="5" name="5 Başlık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</p:spPr>
        <p:txBody>
          <a:bodyPr/>
          <a:lstStyle/>
          <a:p>
            <a:r>
              <a:rPr lang="tr-TR" dirty="0"/>
              <a:t>Örüntü Tanıma İçin Örnekler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tr-TR" dirty="0"/>
              <a:t>Parmak izinden, el şeklinden ve büyüklüğünden, retinadan, ses karakteristiğinden, şekil çiziminden ve el yazısından  kimlik tespiti.</a:t>
            </a:r>
            <a:endParaRPr lang="en-US" dirty="0"/>
          </a:p>
          <a:p>
            <a:endParaRPr lang="tr-TR" dirty="0"/>
          </a:p>
        </p:txBody>
      </p:sp>
      <p:pic>
        <p:nvPicPr>
          <p:cNvPr id="26626" name="Picture 2" descr="http://t1.gstatic.com/images?q=tbn:ANd9GcRwC4j402JcgTiKcSaVV8yYiMZJYkBY6ur1thR_wlvHgIMf6m22sQ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0100" y="2786058"/>
            <a:ext cx="1285883" cy="1856623"/>
          </a:xfrm>
          <a:prstGeom prst="rect">
            <a:avLst/>
          </a:prstGeom>
          <a:noFill/>
        </p:spPr>
      </p:pic>
      <p:sp>
        <p:nvSpPr>
          <p:cNvPr id="26628" name="AutoShape 4" descr="data:image/jpeg;base64,/9j/4AAQSkZJRgABAQAAAQABAAD/2wCEAAkGBhQSERUUEhQVFRQUFxgVGBQWFhQVFRQVFxoVFxcYFxQXHCYeFxojGRQUHy8gIycpLCwsFx4xNTAqNSYrLCkBCQoKDgwOGg8PGiwkHyQqKSosLC0sKSwsLCwsKSwsLCkpLCksLCwpLCwsLCwsKSwpLCksLCwpLCwsLCwsLCwsLP/AABEIAOAA4QMBIgACEQEDEQH/xAAbAAABBQEBAAAAAAAAAAAAAAAFAAECAwQGB//EAEcQAAEDAQQFBwgIBQQCAwEAAAEAAhEDBBIhMQUiQVFhEzJxcoGRsQYjQlKhstHwFDNDU2KCksEVk8LD4XOixNKjs0Rj8ST/xAAbAQACAwEBAQAAAAAAAAAAAAABAwACBAUGB//EADIRAAICAQMBBQgBAwUAAAAAAAABAhEDEiExBCJBUWHwBRNxgZGxwdEyI0KhFCQzQ+H/2gAMAwEAAhEDEQA/AObSShKF7o8QJJMnUIJJMnUIJJMlKhB0kydQgkkyUqEHSTJKEHSSISUIJJMkoQdJMkoQdJMnUIJJMnAUIJJKElCCSTJSoQdJMnUITaMPnemcMR87VbSGA+fSCi8azfn0ihYCkp2ZhM/M9JUqHOHSFC3cM3b0JwMD2JUtvVKdvNPSP3UAVpJpSlEsOp1M1XKtr84oAK0kpTSiQkk1NKkzMdIQITrBVLTam4D53LLKiBHdDylKaU8oliTxl0KKnV2dUKCACcZJnZq0MxaNuZG7GcexUvOJUANKspt+e9Vyr7MMD87HKEfAi357/gqFuczPt/rWGVECO4kk0pSiWokkoykoQ3WZuqPn02qFUa7Pn03K+xjUb0f3GKuuPOU/n7RyoU7/AKmOrzj0nxUrIPON6Qo1jrO6T4lTsP1jOsES7/iKz+l1XJUxqO6W/ulZCJIJiWloJyk5SdilcIZUBEEOZh+pAjM6SaUpRLDq62DXPzsCew0Q94acjPbGxbdJWIXgbzWk53iceIwQsW5pSUQWkr/oo+8p95+CX0UfeU+8/BEvaKFOjzh0hWfRR95T7z8FOjZReGuw4jInf0KAbRZpFuA6T4NWFFtI0JA1mjE5k7m8Fg+ij7yn3n4KFcbWkoSV30UfeU+8/BWUbGC4A1GYnYTPZhmpZa0iu0Dm9QfurqVEtgRLzkMIbxPHbwWu30m0w0tGtg1snLjG8fusdd92WCSZh7triMwOE96BSMta2K6tSMGmZ5zt/AcPFUJpSlEbQ62WIYO+fResUrfo0arun+iooyk/4miozA/m/u/BCUcqtz4lwHSeWgIGcEEDHuJKU0pIjB5SUUlCBewjUb8/a01XaPraXz9o5W6P+rZ0f3qartP11Hp/uuSrFLl/MwWg67ul3iVPR31tPrN8VC0nXflznb95UtGfXU+u3xVrGv8Aj8iglEbO/lKTmuIEFoDj+aATuwOOyUNK00fqanWp/wBahJK0P/D3etT/AJjPin/h7t9P+Yz4rFKcCVLDpfibKtUUwWsMuI1nj3W8N52ptJnzruzwCuOi2twq1Q13qgFxHSQrbVQovcXcrE/gdwGfYhYvVG//ABguUpRAaLY/CnVDnbGkFs9BQ5wgwcDuRsYmpcF1loF7w0bdu4bSiNlp0jUDGNe4gzemBhtjcs+gvrfyO8Fs8nhDHv6GjxP7ISk0thGeWlN+Ff5DFXR1FwAeHGPxRjh8EOtugWR5u8DskyCdysJmTJlX2CrMtPSFXTJb2c2M8kN1L5HJlNKnaOe7rHxKtsdgdUmIAGbiYA7VeztXStltpdrUp9RniVXaj5x4/G7xKI/wu+WXajDca1pgzzZUrToY3nONWmy84mHEDMz29koakjOssE6sBylKutdidTIDtuIIxBHArOjZoVPdEpRPRPNdvJAHEllUAd8IUr7Larhg4tPObv8AgRsKjKyjaoMVDe2SHEwDgHYlxYZ5lRpJjes9os1+CDrHBrjhfj0H7qg9qvabw9a9hjhysei71aw2HanifxXsMcOUj0XerWbsO1VsStvXr1/gG7DNNKLWqy8pBBlxwa44X49B/q1B7UILYzVkx6eoeUkySlhoNaO+rZ0f3qartH11H5+1ep6O+rZ0f36azaTdrUyJkNJEZyKlQz4JYqMbbXxM1q57+s7xPBR0fVDarHEwA4EngDitT2CsC5rfOAEuYCCHb3tG/aR2oajY+KtUXWmzljoPSNoIORB2hXUPqKnWp/1prPaAW8nU5vouzNM/u07R2hWcgWU6rXZh1PLEemQQd0R3qWB+D8vuYVq0UPPU+sErJY51nyGAxhznu9Vo38diJ2OjTbVaIptcHDAPqucDuyuz2o2VySSTROyWEF9SrUxF9wAPAnErc63NIgt1f2VNZgDRxJMdLif3URSkRCMYJq2cqctbtv4Am02bkq7bpN0lrmngT+2IUNMjz9TrfsFrt7fqt4fd7NUj91j019fU6f2CHGx0cT1NN+D+6LdAfW/kd4Ih5PnzTsJ1/wBgh2gfro3tcB0wiXk3ZyWVGmQQ72xkqtierVRlfl9wgBGxQs/1mGUKmtULTBlbLFQIEnM4ngFZ7I5tUr8TjrRz3dZ3iUReD9GpNbhfe6eJmBPzsQyuZc4jIknvJRegyadn69Q90lSzt5Nkn64Zc21FmqzAD5npV9K3l4h4aWnDI+OzpWM0tqlZ7NJBgHHaejAD5zTtEdJh0xe75KbSyLMQTNyrAPCD8UIlG6ldzKDy0kHlYkdUfBD/AOLVfvHexJs24tTT27zIlK1/xar9472fBL+LVfvHez4KWOqXh6+hCx2u4TIvNdg5uwj9iNh2Iw114Ya9/CThysei71aw2O2oY3SjjhVJew5gxI4tOxwUgTSOEPpVOwOA9147x0INi5Rb+ISz/Fewxw5SPQf6lZuw7Vl0nQll/bLReOBe03hrt2PaWETtWtjQ5pMyHNzObxdqXS8bHtcyLwzUdOnzbuuPfrKJiU6kkgAkmlJHUbLXgGtHHzbPn7emsmlTrMz5rsv9SotOjz5tnb/76ay6UdrMxjVd79RUFRXa+bMzKhaZlwIxByg7MQjZ0UypT5Q4Pc28S3BsxPN8UAa4Y4gYHZE8Frstqc2i4tcRD2Rwm/OHGAimg5YSaTg6dmGUYtmPKje6h7pWN9AVRep3Wn0mEhoB3tJOXDZ0I07Rl68S6LxYcBMXBG/GTKCTfAM2WMasw2y0FgcW4EPfSYfu2NjmjY4zic1k0MwmsyBMGTwG87lutuj3PBAu/XVHE3mwGkNxOPDHaqatBzQG0i0NBBLr9MOe4ZE62AGwKcAUouDS5Z0HIXmg7p8SrGARmOhXaKIrUxygAcNU3XsIPGAcMFc/Q9Kcn/rZ8VTWuGeenJRk4y7jn9IUZYCNlVnw/dYNK2Jzqz3Asgna9gOQ2EyuttVkYyk7k2XiASLz2xeGIOa4erYajiXG4STJ85TzP5lZSUjq9Dk1q06rYspUxR13EF45jGuDhPrOLTkN21dD5OaXLmuvMYXSNaIJw2rmP4a/8H8yn/2R7ybsDw13N5wyew7OBVZ8DetjB4W29zoX2ppzpsPYhvlBpEig8NAbMA3RsJGHctRsbp2R1m/FYdL2Mci4vMNEEwQScRgADmVSkcXp4xWSPxRy1ls16XON1jcztJ9Vu9y6HRsPbSIaGgcpDc49EY7eneuatVrvxAutbg1oyA/cnadq6TyOrAsex+UiCMwTM9iY5JHc621ic/XgZqpuuIK0WOrquMOgSTExAExgRjnnOaM19BUnEkvdhgcFRb7NQp0SOUc0GBIZeImJM7MBs3K8s0WqRzMeeE2oq7Zy9+bKTvqg/wC1DmicBmVrt1taWtp0wQxuMnNzjtKs0O66Kr9rGS2d5wn53oeR3I9iDlRAaGrH7N3s+Kf+C1vuz3t+KyPtTiZLnE9JTcs71nd5QtFqyeK+j/ZbaLG+nz2kT3d4wVlT6hn+o/3WK/RdcvFSm8lzSxzscYIyIlZXnzDOu/3aaIFJt0+Uw1YD5kdQ/wDIUdOHzbuuPfrJtHnzI6p/5Cjps+bd1x79ZHuMiX9T5/oBykoJKlm6kGdHnzbPn7ems2kibzIjmuz69RXaPPm2fP21NZtIYuZhOq7CY9Ooj3C4rtfUoD5nEZHaT4lSpO8y/r0/B6pAzwacDlOHHFTpHzL+vT8KiFjmvuvuZyV0La1QuqBhiDS3Q0FusZOWACA0LOXmBukk5NAzJOwIvbawh7QMnUZO10jM8IAw+KMRedXS9cojpeuAwhkgGq+9jziLp7pOA4IRK36TODv9er/ShqrJ7jMMOyHPJevFRzdhbMcQR8V2NKqC2HZbD6v+FwWgXefZ2j2H4LtGJbVs4PtOCWW/Itq2NxBF2QcMMQQVwtTRFUEjk3YEjIbF2DqJHauN0zSu13jeZ7CAf3VlsO9mXcopi/hdX7t3cF0Xkxo2oGuJY4AuGzh/lcgum8lW6jsud+wUkzb10ZLA/X5OnNiPqmUH03jQqcBPcQUTc+BgVC0URWa4DF5aQW+vgcR+LhtVbPPYHpmpPxPPby67yVo3aJqOyLjG90YQOE5lc22w3NasC0DJuTnncNw3ldTQrOuMBwwAgZN4AbAr6Wzu+0JXjUV3sKGvqvO8tPeSgWnbVqNF4DEux2QAJ5wwx3H4lrPTLm1Bh6GJyAkkkofpKrdcC2GsGRuzUqu2nEENaN5wz4wOHRzOjill2OOvIjo13m6/UHiVL+KN9er+mkrqdrD6VYBz3Qz0gwd11MitzvZG3HdeH3Mui7IHkl3MbnxO5dBS0gyLrmi7lECI6EMp07jGs2849J+Y7Ez24p+PEmtzDnfvZbvbuLm2MU677vNdSe5vDIEIQ8+YZ13+7TRSnVmpG6i/xQlx8wzrv91iQ1So1YLbV+X5DOjz5kdU/wDIUdNHzbuuPfrJrAfMjqn/AJCjpo+bd1x79ZX7ilf1Pn+gJKShKdUo26QvYD5tnz9tTWfSMXmTPNdlnz6itsB82z5+2pqi31AHMkkarsR16iD4+guK7f1M42y12RzJgccQFvs2i3micheLXCT6IvYn9SHBwxgnI5EnvBaMO1baOlHig4YS26wHbDg7wjBSGn+4tlU67HijNaLSA25T5u12ReRtPDcP3Wy1Oxqdah7pQeUWZVa9rjlN2/tLHMwa+PSZv2hVjKy+SFUR0lkf9er4NQ+UUq5ukSDrVGA/+Wmd23htwyHWmjcgzLXc12w/AjaEJp3YcTVUdP5L26k24DkDDhGZdeA6Zy+CO0qrPUP6j8FwNitF1j3D0X0j3F5XcUqwIBEYge1CTuvgcH2lh0ytd5qfUZ6p/Ufguc8pBSBY80z6rjfOMGRhHSj/ACaC+UtGaDvwkO9sHxVeNzJ0ElHMl47A7SekaLmAc/HACW3e2MOhEfJSvTLHi4W6w1r5dEjcQJyXHX10PkrUwqdLfByvKTm9zudXgjDp2k39Tq6tGMzxHEbwqqVvFIl8SA13dGzuWelpVsBjst+1p3j9wnr0WGm7zrea7G6/ceCjhXJ5+GNprUAbTaGVa7abmON10SHBu4u2HcunslFjncxwgTJcIA381ctYqTDbJNRoN5xIuvJGBwwELraVoaRdYYA7C47/APCMm22bfaHZUYwuq8yyvWYGPAY6AROME44GYXNeUL6f0g3qTnQGN+ta0EBrTda0jHPLij8G5UkzzfErldOVb1orEX4kA3b0QGNGF3CcDnwVEtwezIXN/D9GbRdppCoNUgnAEuvCTGy6IOyUW0dUp1LSRmy5D3R6QOr044f/AIuXsbvOM6zfELrtCUBSa4uwL3Fx4CTA+d6aptxo6XXJY05K7apF1s0OS+RUpEbJdB7lGloRxMB9IncH/wCE9psdOoZBxQnS1LkGktOLsAdo3kdibraXP+Dm4byVBPf4FVqe2kahvtc8gsaGmQBkSSrLba6Rs+EQRdaIycI7o3oV9dlhVGzLlOI/HGzbG9QqHzLeu/wYle8dP4HaWBdm3umF7AfMjqn/AJCbTJ1HdYe/WUbC7zQ6p/vptMnUd1h79VM/sFpf1Pn+gNKSheTLJrN9BewHzbe3/wB1NUWx+uzEDVdmJ9Oop2A+bZ8/bU1TbMXswB1XZ5c+p7U5/wAfoJiu19Sq/gdfYcy0zhlAJxSpnzT+sz+4mDSATq5EYtLc9xgYqFM+af1mf3Eu/sx1fdFUqdKuWkOaYIVMpSlXQ6r2DLas077dW6HObvY8XZDT6hDsjko2S0BxNy+0nFwaGXJGEi8dX/MKqyHzD/z+FNZ7VUhrWDBpa15/E4icejYNi0OVJMyqFtoNMvXXazs2/cSM/wAUd/Yur0HXc+i2XPJbLceQ9HLmncRmuEsmjXOougjXukDq3vGUY8jqD/ONNN+x3NdxG7oQy20m0czrcUZYZU+GdoCd5/8AH8VRaqV9rm3nCQR9jt7Vm+jOx1HdxVTbA6ea7uKqoquTz0IqLuzln03gkFz5BiP/AOfPLeiXk3pARVBfUBF3NlMEc5YvK7ybdTeKjdYPzABkOHjK0+StMvFQVARUhoBIIvjWgGdu4qzna3PQ5pY8nS+8W62+4VGlB95V/RSV1p0iBSeb9TmO9CluKo+jAYRjxzULdZC+k9rfUOJ2AZ+PtCMtNbHKi4SnH4g3RVsAtD5e9t0EcxhaJIHSR7UTqEvdddHKZgjm1m7CD63jlmgYsbmmpU2Pdh2YkH9TVoslqF25Uks2Ec5hzls7DtCesbdyN+aEZS1R8ghZ612jWJ9ENJ7L3cuWtVYcoZfGLfRBI1WawJ5vTwXW27SUWSs+/Vya2TcnWMYdkzKAjSha67yjmiRhq5lrZwkTgduGaRzY7oU1qlXL/XkD/J6ycpXpj0WuaXdAIw7T+66q2tN49J8SrdAODKLZfUl2sZuA8MuEe1a7RZ2ETL+gXZ9qEHpZi6zqveZt+FsBGiMUB05b+UqRsYI7dvw7F0NrNJrHXXOD/Rv3QC45CRkfguKfIJBznGc54qZp2dH2fiTk8j7id5EXzWpNOF+87DLlCA2T1ojpxQm8iL7K9tFhjJ5ceAIZB9irjt2dPLSafeb7EfNDqn++m0udR3WHv1VdUPO/P411l0wdR3WHvVVpe0DHHed+f6BMpKuUlzrN4UsLtRvz9sxU2vF7NW9quwy9N+PZmloyuCAw5jLjrB+A3gty2jitFo0ffIu3iQDAbiTznYcRJ6RxBC1reNoRtGe/mUWOxcoSAGmGlxOoLjRm7AAmFNjqd0tbTqvbIJcJxiYyyzKOeRuiC51c1mVbraJgOJLS45SIEgQSjXJAARgNw2KkZb0jD1fWLDLTz8zgzWoDOnUnde/ynNCnUaeTvNc0TdcZBAzg711+ktEsrAh3OGTxmPiOC5OyWJ1K0XH5gO6CCMCOCKfa0tId0/UwzRbi2mu5sayHzDvz+FJZrccW/wCmz3QtdmsrhSc0jE3sMNop/ArFpAEOAOYYwf7Qqz2ijZCnNmqzaQe2i4A80tAO4OvT/hX+TFsLbQ0SYcC3M9I9oCxUqQFMh7rt8tIwJMNnGBkDPsUtHsptqscaogPaeY/eEJOTStlMkIuE1XPl5HoTHnee9Svnee9S5Nvrj9LlYaIjn/7XKyo8U3TM+km/SKZpvMDOW4GRkVVoXR4o0zTLi6STeIxaeAnLDJaxRaPTw6rlIU2+t/tci0i3vpLH7tfxu+Cx1MnB3Owg7HDZj4FDdIUn3HBhh5BGOWOYPzuRKIEHFpycNh+cwo12zF5riRk5vpDZOGKCK45uEk0BrPo95phryC6SdXmiYw3nIYqdDQhnGIzJ2BFGU2j0avcPgnNYAYtgbGnNx3u4JvvJLZDn1GRt0c/5Ummyz8nedrvaeYcmBx3/AIh3LDovRjKtbE4AgulkggNbDSYOBw2tzOO4p5TWKvUawtqERJuC9MGMQB0Iho2xPosIBLnuhzmQ6CABqSSG7ztm8e1S48zqY+oWPp0lLd364MdO0U2mRVP8s/8AZbaZZUGo43t0Fs9AJxPBB7RYg4X2CB6bNtM7+Lc4OzIqVSrybC/IMF74e1OyRio2mZZ4lKtPIC8qbUDUFNpwbiesfgPFYq1scG0zDSS0yXNa44OIGJG4BVWutywdVPPkX9zr0w7gcMVXaOZT6rvfcsyk1bPTYsShCMPD9Evp7vVp/wAtnwWutpsuZduwTgTOHYIQpJuYUjmktrGywwlvXB0r3c78/jXWbSx1D1h71VX1gQXThzvGusuluYesPeqrVJ9hmSK7a+P6BMpKKS5tm2isOR3RekA+Q8kOgzAm9gdnE5jtGMyBVlmOtmBniRIy47UzHNxZbLjU4nX6M0gaPKuabvmn4BkXhE3TGzjhHHIlbNbRVpNqDJ3sO0Fcloh5ArAPEuovADgzWn0RdcTO5bPJa0TSqN9Vwd3iPEJ+rVNPxOH1nSpxcu9V9GdTTbtUbToTlyLo841ri38WElvbs4rJZrUj2jKutIPNBPQr5YtK0cXXLBNTPL7KfMP6H+FNZ7OA1t92MG61uwmJl3DhtXTeUeiOSpuqN5lQ1BG54bTJ7xJ7CuYptvUyBmHXo2kXQDG+NyQ3dfA9fhmskNa4ZVVrFxJcZJ2pUTrN6R4hM+iW5gicpESmaMR0pLu9zTs47HqNM4rTfCytbAHBXtMla4nz/Itxw68U+STqJGJBHYoterlOeC5j42SDmPnaoco3Y6oOGHxScVne3FRRJFGh1Rvr1PZ8VTUtNNmsLz3bL0R0nH2Ku1AimXBpI3gHDtQ+/exTI40zRjx2rNrbZexJxRCpWYXlpOtII6SGwRx/wubtJIgAZotaGEVPrCwy3DCOY3EgnWGGQ3cVMmNKhv8Ap02qZts9kvuvtweMHHCHjbhv3jah/lPRaKQuAax1hndAx/TMYopod8FonAfBch5Taca2ubpJuNAhokQRJnZBlYczd0dPoOmfv1fduU0/q39LPFyptzWXKd+7EOxMD0nbVVWqON8AtpgubdHOdGt2BZ22YGmXFwc5hLQX44SSSBtiSI4JW9V5fk9It3fn+DC6iwuFy84EwNgnrH4K+nRidcNu53RlwLjiT0JUKuLqhcXBjcJwxO4bBEd6rq1eUptwgzJMXWjPacNyom7LtKgm53OPW/vrPpV2oesPeqq+sAAcZOtsMZ19pWXSh1D1h71VdKT7DOdFdpevAFSkmSXNNmlkZVtmEuyBzwOWR+YVCts4l2V7PD9+xGL3HS4NdBz2EuaGghpxhzcxB5wg55bUV8mdNAViDSY41GkZHEjWGGO4oIQCDgHYHIsEcdUkmFPQtUNtFMy4AOElhh0YgwehO1tNLuMmbFHJjkmu47qnpnGPotP9Lvgi1K1EsgMFMHYARPehbLA8O/8Al9Mos4wBN/L081uyadqPHdSoKtP5J1LOypQcyoxrwb5x2EtYJG454rzTTGjTZawIxZN5p4A4tJ3/ABXplnd5t35vBqD6c0UK9FzcL2bTucMuw4jtWOUOWuTT0HWyxT0TfZexxekNICA26CcHG8JAkT34rLZ65L2htOmSXAAXczI4qOlKDmVLrwWkNZg4EHmt3ov5G6ML6vKEarBgdl84ewE+xUlklOR6abx4MDn5HdOtYPoUxwDcPFOy1weazuUYCre3GVrjFVR4h1JuwpabYCwQ3nY47IMLEa34Gd3+VCrVN1nQfeKqdUnJRJULjjrZGgWn8Le7/KTrR+Fv6f8AKz03BScEUl3l9KTNVbSoZRJu4iGwMjemOgYFc5TrwMkbFGabgccW/wBSyHRjSM4TsWmNj8MscE15g9loBeHEgAZT8EUtT3co5zLggjWeJ9Bh6WjjO9DK1hF6G4o3awL5L6TDF0NBJLnG63ANyHSd6maStHQxuGpNeBl8mmNcHvqOLiIDAcBtkhu1c35X0GttHJs9O4TwAaJ8EXovgMaWiRvJz33RiUA8qbO42gmJJa0axjuYMY6SsPVRp2dHoo/7lyvmPBm0lbXOfWFMZOa28MTGtt2BZm2si61sAtygX3zv9UHtWtwaX1WGXawmNVgi9k0eKzU7PDHmlmXEAzk0GMCsuR7ncxrb14EqtRpOs1t8nK8SS47YAutRO31abac4ugABpkw7edgA4IDZKIY8E6xAmG60HZJV/nGtcXkAEzEXjjsGxGOVrbxBLDGW/gbKtQuLifxf3ln0mdQ9Ye9UV9SsIcAPWxOJ+27AsukTqHrD3qi2yfYZjiu0vXgDZSUU651nRIyp0ecM/wAox4KlWUDB513PGJ2ZduSsnuVfBqJMG9ykQc5idkrPREuAgngDBy3/ADkpteMdaMDkxrZwykKmkJcMJ4TAOe3YrvlFEtmd75LaZm7ReypeyY7lBrbmnDPdvXRWhmyC3pMleV8j/wDW3+aPiuv0Dpy+BTcA17W+tevgE60zgRgCO3anxdM837Q6D/tx/Nfk6ugPNu/N4NWVrsVpszppn83g1ZAIKajzy7y+22cEgkAgtGeOQATU6IaMAANwED2K2lWwh3N9o4hZLdWuZHA4g7CjCO9Bi5z7NjvKkTgh1K1ucfmFrBw2J7g4jJY3HZl1oxazqn3isrQQr6zoFPqn3nKqFRcEjsiTM1I5KMBK+EADWiqW0XHiz23kMdXJ6UTqODqThsvM/qQeq26tOJLc1YUqEypBxnhBj2roLpLnG643oEMkXhdbm68I25zmuXLzK6K1VLj3ODn6sH0gxuo3Hmm8cMsMu6nUR3RtUbaRh0faDy0XQ2Bjvw49qBacrh1rc44TTGMTDZcNnYjGimh74LiS44kYe3OFl8pHs5UClF0Mb0uMuxd8Nix9W0uTf0P/AD0vBgFtEltXkwRec3XfgY1smjJV0NFNbmSeEkDuCIs5julv9SqJXOlKz0EVVodjQBAAA3AIVpi0yQwbMT07Ap23SwGDMTv2D4lCW5yc5UjyF8B15535v7yo0idU9Ye9UVrzzvzeNVUaROoesPeqLozfZZz4rtIGynUZSXOs6NEVbZSb2BAzz6MunuVCss41sAHZ4GO/HvV4vco1sa3PMHGMDnOPAS849iy0sxkesYG3Mq7MHVbzScSw5bromVRQ53o/my7VdvdFUtmaro9Wj+s/9kzC4VGmnda4YgtdIEbSZMJT/oKbDs1D+FmAMbXn1RmmPcWekaA0q2vRAbg6CC3aSYvVPw04EDoK1VAxokvb0w6PBebaM02aNUEON1xiofXGGz1QQCBwXaW94dSMOG/MZJ+FqTqzyvXdD7rKq/jIpt9uaSQKzQOrU/6rfW0ew0QL5FzWvHEEuicAJgwIj2rkXRwRRrz9HpifSeIndcjxK36UqpjJ9PpUdLrcJ0SwCOWZ+mp/1WqlTpucGiq3EjY6faFz14QMRKuo1G7Y7CEZQ77ETwXvZ1tv0c0NbrRd1RMmczs7VkFmb94O53wQ+223UpG9Oqc3T6Th+3sVlmtgObh3hZ1FqPJh9zkjHd2bmWdoP1g7nfBL6M31x3O+CpdUbvb3hTvt3jvCW/iLqRtoaKaaZE87GRgBExn0oE+xM+9b+l/wRMVfNu1trRnvvIS+qAcx3hNxXb3G4FO3bJGwsGPKtH5X/BbbXSaXOJrsaRBF5skG63HGNw3rC21txxGXD4og+s01CQGyHNxcAYEMdiRzRG3iVMj33ZsipPlkvJ7R7JLg8OiOaHDvvBcL5eUeTthDTkxuRg4yYXbaEtzQ8AGZwnCTtiAcohcL5R6SBtTpyDWDCDjAJxlYeplubvZmOX+rlK9qBlO2VBTdrnNn9SzOqPeYLi7hP7LZQtouHPDkxkDkX4dBEdypbbG4YHD0YEZOGeeMhZX3Hp1yzKnacVe20NvF2Imdg1coj2joU22xu455QIOsDe6YwQTC0EHnnfm8ayo0jzT1h71RbLRa5Dh1t2d6sfDBYtI8w9I96otsn2WY0u0gbKZJJYTaf//Z"/>
          <p:cNvSpPr>
            <a:spLocks noChangeAspect="1" noChangeArrowheads="1"/>
          </p:cNvSpPr>
          <p:nvPr/>
        </p:nvSpPr>
        <p:spPr bwMode="auto">
          <a:xfrm>
            <a:off x="155575" y="-1020763"/>
            <a:ext cx="2143125" cy="21336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r-TR"/>
          </a:p>
        </p:txBody>
      </p:sp>
      <p:sp>
        <p:nvSpPr>
          <p:cNvPr id="26630" name="AutoShape 6" descr="data:image/jpeg;base64,/9j/4AAQSkZJRgABAQAAAQABAAD/2wCEAAkGBhQSERUUEhQVFRQUFxgVGBQWFhQVFRQVFxoVFxcYFxQXHCYeFxojGRQUHy8gIycpLCwsFx4xNTAqNSYrLCkBCQoKDgwOGg8PGiwkHyQqKSosLC0sKSwsLCwsKSwsLCkpLCksLCwpLCwsLCwsKSwpLCksLCwpLCwsLCwsLCwsLP/AABEIAOAA4QMBIgACEQEDEQH/xAAbAAABBQEBAAAAAAAAAAAAAAAFAAECAwQGB//EAEcQAAEDAQQFBwgIBQQCAwEAAAEAAhEDBBIhMQUiQVFhEzJxcoGRsQYjQlKhstHwFDNDU2KCksEVk8LD4XOixNKjs0Rj8ST/xAAbAQACAwEBAQAAAAAAAAAAAAABAwACBAUGB//EADIRAAICAQMBBQgBAwUAAAAAAAABAhEDEiExBCJBUWHwBRNxgZGxwdEyI0KhFCQzQ+H/2gAMAwEAAhEDEQA/AObSShKF7o8QJJMnUIJJMnUIJJMlKhB0kydQgkkyUqEHSTJKEHSSISUIJJMkoQdJMkoQdJMnUIJJMnAUIJJKElCCSTJSoQdJMnUITaMPnemcMR87VbSGA+fSCi8azfn0ihYCkp2ZhM/M9JUqHOHSFC3cM3b0JwMD2JUtvVKdvNPSP3UAVpJpSlEsOp1M1XKtr84oAK0kpTSiQkk1NKkzMdIQITrBVLTam4D53LLKiBHdDylKaU8oliTxl0KKnV2dUKCACcZJnZq0MxaNuZG7GcexUvOJUANKspt+e9Vyr7MMD87HKEfAi357/gqFuczPt/rWGVECO4kk0pSiWokkoykoQ3WZuqPn02qFUa7Pn03K+xjUb0f3GKuuPOU/n7RyoU7/AKmOrzj0nxUrIPON6Qo1jrO6T4lTsP1jOsES7/iKz+l1XJUxqO6W/ulZCJIJiWloJyk5SdilcIZUBEEOZh+pAjM6SaUpRLDq62DXPzsCew0Q94acjPbGxbdJWIXgbzWk53iceIwQsW5pSUQWkr/oo+8p95+CX0UfeU+8/BEvaKFOjzh0hWfRR95T7z8FOjZReGuw4jInf0KAbRZpFuA6T4NWFFtI0JA1mjE5k7m8Fg+ij7yn3n4KFcbWkoSV30UfeU+8/BWUbGC4A1GYnYTPZhmpZa0iu0Dm9QfurqVEtgRLzkMIbxPHbwWu30m0w0tGtg1snLjG8fusdd92WCSZh7triMwOE96BSMta2K6tSMGmZ5zt/AcPFUJpSlEbQ62WIYO+fResUrfo0arun+iooyk/4miozA/m/u/BCUcqtz4lwHSeWgIGcEEDHuJKU0pIjB5SUUlCBewjUb8/a01XaPraXz9o5W6P+rZ0f3qartP11Hp/uuSrFLl/MwWg67ul3iVPR31tPrN8VC0nXflznb95UtGfXU+u3xVrGv8Aj8iglEbO/lKTmuIEFoDj+aATuwOOyUNK00fqanWp/wBahJK0P/D3etT/AJjPin/h7t9P+Yz4rFKcCVLDpfibKtUUwWsMuI1nj3W8N52ptJnzruzwCuOi2twq1Q13qgFxHSQrbVQovcXcrE/gdwGfYhYvVG//ABguUpRAaLY/CnVDnbGkFs9BQ5wgwcDuRsYmpcF1loF7w0bdu4bSiNlp0jUDGNe4gzemBhtjcs+gvrfyO8Fs8nhDHv6GjxP7ISk0thGeWlN+Ff5DFXR1FwAeHGPxRjh8EOtugWR5u8DskyCdysJmTJlX2CrMtPSFXTJb2c2M8kN1L5HJlNKnaOe7rHxKtsdgdUmIAGbiYA7VeztXStltpdrUp9RniVXaj5x4/G7xKI/wu+WXajDca1pgzzZUrToY3nONWmy84mHEDMz29koakjOssE6sBylKutdidTIDtuIIxBHArOjZoVPdEpRPRPNdvJAHEllUAd8IUr7Larhg4tPObv8AgRsKjKyjaoMVDe2SHEwDgHYlxYZ5lRpJjes9os1+CDrHBrjhfj0H7qg9qvabw9a9hjhysei71aw2HanifxXsMcOUj0XerWbsO1VsStvXr1/gG7DNNKLWqy8pBBlxwa44X49B/q1B7UILYzVkx6eoeUkySlhoNaO+rZ0f3qartH11H5+1ep6O+rZ0f36azaTdrUyJkNJEZyKlQz4JYqMbbXxM1q57+s7xPBR0fVDarHEwA4EngDitT2CsC5rfOAEuYCCHb3tG/aR2oajY+KtUXWmzljoPSNoIORB2hXUPqKnWp/1prPaAW8nU5vouzNM/u07R2hWcgWU6rXZh1PLEemQQd0R3qWB+D8vuYVq0UPPU+sErJY51nyGAxhznu9Vo38diJ2OjTbVaIptcHDAPqucDuyuz2o2VySSTROyWEF9SrUxF9wAPAnErc63NIgt1f2VNZgDRxJMdLif3URSkRCMYJq2cqctbtv4Am02bkq7bpN0lrmngT+2IUNMjz9TrfsFrt7fqt4fd7NUj91j019fU6f2CHGx0cT1NN+D+6LdAfW/kd4Ih5PnzTsJ1/wBgh2gfro3tcB0wiXk3ZyWVGmQQ72xkqtierVRlfl9wgBGxQs/1mGUKmtULTBlbLFQIEnM4ngFZ7I5tUr8TjrRz3dZ3iUReD9GpNbhfe6eJmBPzsQyuZc4jIknvJRegyadn69Q90lSzt5Nkn64Zc21FmqzAD5npV9K3l4h4aWnDI+OzpWM0tqlZ7NJBgHHaejAD5zTtEdJh0xe75KbSyLMQTNyrAPCD8UIlG6ldzKDy0kHlYkdUfBD/AOLVfvHexJs24tTT27zIlK1/xar9472fBL+LVfvHez4KWOqXh6+hCx2u4TIvNdg5uwj9iNh2Iw114Ya9/CThysei71aw2O2oY3SjjhVJew5gxI4tOxwUgTSOEPpVOwOA9147x0INi5Rb+ISz/Fewxw5SPQf6lZuw7Vl0nQll/bLReOBe03hrt2PaWETtWtjQ5pMyHNzObxdqXS8bHtcyLwzUdOnzbuuPfrKJiU6kkgAkmlJHUbLXgGtHHzbPn7emsmlTrMz5rsv9SotOjz5tnb/76ay6UdrMxjVd79RUFRXa+bMzKhaZlwIxByg7MQjZ0UypT5Q4Pc28S3BsxPN8UAa4Y4gYHZE8Frstqc2i4tcRD2Rwm/OHGAimg5YSaTg6dmGUYtmPKje6h7pWN9AVRep3Wn0mEhoB3tJOXDZ0I07Rl68S6LxYcBMXBG/GTKCTfAM2WMasw2y0FgcW4EPfSYfu2NjmjY4zic1k0MwmsyBMGTwG87lutuj3PBAu/XVHE3mwGkNxOPDHaqatBzQG0i0NBBLr9MOe4ZE62AGwKcAUouDS5Z0HIXmg7p8SrGARmOhXaKIrUxygAcNU3XsIPGAcMFc/Q9Kcn/rZ8VTWuGeenJRk4y7jn9IUZYCNlVnw/dYNK2Jzqz3Asgna9gOQ2EyuttVkYyk7k2XiASLz2xeGIOa4erYajiXG4STJ85TzP5lZSUjq9Dk1q06rYspUxR13EF45jGuDhPrOLTkN21dD5OaXLmuvMYXSNaIJw2rmP4a/8H8yn/2R7ybsDw13N5wyew7OBVZ8DetjB4W29zoX2ppzpsPYhvlBpEig8NAbMA3RsJGHctRsbp2R1m/FYdL2Mci4vMNEEwQScRgADmVSkcXp4xWSPxRy1ls16XON1jcztJ9Vu9y6HRsPbSIaGgcpDc49EY7eneuatVrvxAutbg1oyA/cnadq6TyOrAsex+UiCMwTM9iY5JHc621ic/XgZqpuuIK0WOrquMOgSTExAExgRjnnOaM19BUnEkvdhgcFRb7NQp0SOUc0GBIZeImJM7MBs3K8s0WqRzMeeE2oq7Zy9+bKTvqg/wC1DmicBmVrt1taWtp0wQxuMnNzjtKs0O66Kr9rGS2d5wn53oeR3I9iDlRAaGrH7N3s+Kf+C1vuz3t+KyPtTiZLnE9JTcs71nd5QtFqyeK+j/ZbaLG+nz2kT3d4wVlT6hn+o/3WK/RdcvFSm8lzSxzscYIyIlZXnzDOu/3aaIFJt0+Uw1YD5kdQ/wDIUdOHzbuuPfrJtHnzI6p/5Cjps+bd1x79ZHuMiX9T5/oBykoJKlm6kGdHnzbPn7ems2kibzIjmuz69RXaPPm2fP21NZtIYuZhOq7CY9Ooj3C4rtfUoD5nEZHaT4lSpO8y/r0/B6pAzwacDlOHHFTpHzL+vT8KiFjmvuvuZyV0La1QuqBhiDS3Q0FusZOWACA0LOXmBukk5NAzJOwIvbawh7QMnUZO10jM8IAw+KMRedXS9cojpeuAwhkgGq+9jziLp7pOA4IRK36TODv9er/ShqrJ7jMMOyHPJevFRzdhbMcQR8V2NKqC2HZbD6v+FwWgXefZ2j2H4LtGJbVs4PtOCWW/Itq2NxBF2QcMMQQVwtTRFUEjk3YEjIbF2DqJHauN0zSu13jeZ7CAf3VlsO9mXcopi/hdX7t3cF0Xkxo2oGuJY4AuGzh/lcgum8lW6jsud+wUkzb10ZLA/X5OnNiPqmUH03jQqcBPcQUTc+BgVC0URWa4DF5aQW+vgcR+LhtVbPPYHpmpPxPPby67yVo3aJqOyLjG90YQOE5lc22w3NasC0DJuTnncNw3ldTQrOuMBwwAgZN4AbAr6Wzu+0JXjUV3sKGvqvO8tPeSgWnbVqNF4DEux2QAJ5wwx3H4lrPTLm1Bh6GJyAkkkofpKrdcC2GsGRuzUqu2nEENaN5wz4wOHRzOjill2OOvIjo13m6/UHiVL+KN9er+mkrqdrD6VYBz3Qz0gwd11MitzvZG3HdeH3Mui7IHkl3MbnxO5dBS0gyLrmi7lECI6EMp07jGs2849J+Y7Ez24p+PEmtzDnfvZbvbuLm2MU677vNdSe5vDIEIQ8+YZ13+7TRSnVmpG6i/xQlx8wzrv91iQ1So1YLbV+X5DOjz5kdU/wDIUdNHzbuuPfrJrAfMjqn/AJCjpo+bd1x79ZX7ilf1Pn+gJKShKdUo26QvYD5tnz9tTWfSMXmTPNdlnz6itsB82z5+2pqi31AHMkkarsR16iD4+guK7f1M42y12RzJgccQFvs2i3micheLXCT6IvYn9SHBwxgnI5EnvBaMO1baOlHig4YS26wHbDg7wjBSGn+4tlU67HijNaLSA25T5u12ReRtPDcP3Wy1Oxqdah7pQeUWZVa9rjlN2/tLHMwa+PSZv2hVjKy+SFUR0lkf9er4NQ+UUq5ukSDrVGA/+Wmd23htwyHWmjcgzLXc12w/AjaEJp3YcTVUdP5L26k24DkDDhGZdeA6Zy+CO0qrPUP6j8FwNitF1j3D0X0j3F5XcUqwIBEYge1CTuvgcH2lh0ytd5qfUZ6p/Ufguc8pBSBY80z6rjfOMGRhHSj/ACaC+UtGaDvwkO9sHxVeNzJ0ElHMl47A7SekaLmAc/HACW3e2MOhEfJSvTLHi4W6w1r5dEjcQJyXHX10PkrUwqdLfByvKTm9zudXgjDp2k39Tq6tGMzxHEbwqqVvFIl8SA13dGzuWelpVsBjst+1p3j9wnr0WGm7zrea7G6/ceCjhXJ5+GNprUAbTaGVa7abmON10SHBu4u2HcunslFjncxwgTJcIA381ctYqTDbJNRoN5xIuvJGBwwELraVoaRdYYA7C47/APCMm22bfaHZUYwuq8yyvWYGPAY6AROME44GYXNeUL6f0g3qTnQGN+ta0EBrTda0jHPLij8G5UkzzfErldOVb1orEX4kA3b0QGNGF3CcDnwVEtwezIXN/D9GbRdppCoNUgnAEuvCTGy6IOyUW0dUp1LSRmy5D3R6QOr044f/AIuXsbvOM6zfELrtCUBSa4uwL3Fx4CTA+d6aptxo6XXJY05K7apF1s0OS+RUpEbJdB7lGloRxMB9IncH/wCE9psdOoZBxQnS1LkGktOLsAdo3kdibraXP+Dm4byVBPf4FVqe2kahvtc8gsaGmQBkSSrLba6Rs+EQRdaIycI7o3oV9dlhVGzLlOI/HGzbG9QqHzLeu/wYle8dP4HaWBdm3umF7AfMjqn/AJCbTJ1HdYe/WUbC7zQ6p/vptMnUd1h79VM/sFpf1Pn+gNKSheTLJrN9BewHzbe3/wB1NUWx+uzEDVdmJ9Oop2A+bZ8/bU1TbMXswB1XZ5c+p7U5/wAfoJiu19Sq/gdfYcy0zhlAJxSpnzT+sz+4mDSATq5EYtLc9xgYqFM+af1mf3Eu/sx1fdFUqdKuWkOaYIVMpSlXQ6r2DLas077dW6HObvY8XZDT6hDsjko2S0BxNy+0nFwaGXJGEi8dX/MKqyHzD/z+FNZ7VUhrWDBpa15/E4icejYNi0OVJMyqFtoNMvXXazs2/cSM/wAUd/Yur0HXc+i2XPJbLceQ9HLmncRmuEsmjXOougjXukDq3vGUY8jqD/ONNN+x3NdxG7oQy20m0czrcUZYZU+GdoCd5/8AH8VRaqV9rm3nCQR9jt7Vm+jOx1HdxVTbA6ea7uKqoquTz0IqLuzln03gkFz5BiP/AOfPLeiXk3pARVBfUBF3NlMEc5YvK7ybdTeKjdYPzABkOHjK0+StMvFQVARUhoBIIvjWgGdu4qzna3PQ5pY8nS+8W62+4VGlB95V/RSV1p0iBSeb9TmO9CluKo+jAYRjxzULdZC+k9rfUOJ2AZ+PtCMtNbHKi4SnH4g3RVsAtD5e9t0EcxhaJIHSR7UTqEvdddHKZgjm1m7CD63jlmgYsbmmpU2Pdh2YkH9TVoslqF25Uks2Ec5hzls7DtCesbdyN+aEZS1R8ghZ612jWJ9ENJ7L3cuWtVYcoZfGLfRBI1WawJ5vTwXW27SUWSs+/Vya2TcnWMYdkzKAjSha67yjmiRhq5lrZwkTgduGaRzY7oU1qlXL/XkD/J6ycpXpj0WuaXdAIw7T+66q2tN49J8SrdAODKLZfUl2sZuA8MuEe1a7RZ2ETL+gXZ9qEHpZi6zqveZt+FsBGiMUB05b+UqRsYI7dvw7F0NrNJrHXXOD/Rv3QC45CRkfguKfIJBznGc54qZp2dH2fiTk8j7id5EXzWpNOF+87DLlCA2T1ojpxQm8iL7K9tFhjJ5ceAIZB9irjt2dPLSafeb7EfNDqn++m0udR3WHv1VdUPO/P411l0wdR3WHvVVpe0DHHed+f6BMpKuUlzrN4UsLtRvz9sxU2vF7NW9quwy9N+PZmloyuCAw5jLjrB+A3gty2jitFo0ffIu3iQDAbiTznYcRJ6RxBC1reNoRtGe/mUWOxcoSAGmGlxOoLjRm7AAmFNjqd0tbTqvbIJcJxiYyyzKOeRuiC51c1mVbraJgOJLS45SIEgQSjXJAARgNw2KkZb0jD1fWLDLTz8zgzWoDOnUnde/ynNCnUaeTvNc0TdcZBAzg711+ktEsrAh3OGTxmPiOC5OyWJ1K0XH5gO6CCMCOCKfa0tId0/UwzRbi2mu5sayHzDvz+FJZrccW/wCmz3QtdmsrhSc0jE3sMNop/ArFpAEOAOYYwf7Qqz2ijZCnNmqzaQe2i4A80tAO4OvT/hX+TFsLbQ0SYcC3M9I9oCxUqQFMh7rt8tIwJMNnGBkDPsUtHsptqscaogPaeY/eEJOTStlMkIuE1XPl5HoTHnee9Svnee9S5Nvrj9LlYaIjn/7XKyo8U3TM+km/SKZpvMDOW4GRkVVoXR4o0zTLi6STeIxaeAnLDJaxRaPTw6rlIU2+t/tci0i3vpLH7tfxu+Cx1MnB3Owg7HDZj4FDdIUn3HBhh5BGOWOYPzuRKIEHFpycNh+cwo12zF5riRk5vpDZOGKCK45uEk0BrPo95phryC6SdXmiYw3nIYqdDQhnGIzJ2BFGU2j0avcPgnNYAYtgbGnNx3u4JvvJLZDn1GRt0c/5Ummyz8nedrvaeYcmBx3/AIh3LDovRjKtbE4AgulkggNbDSYOBw2tzOO4p5TWKvUawtqERJuC9MGMQB0Iho2xPosIBLnuhzmQ6CABqSSG7ztm8e1S48zqY+oWPp0lLd364MdO0U2mRVP8s/8AZbaZZUGo43t0Fs9AJxPBB7RYg4X2CB6bNtM7+Lc4OzIqVSrybC/IMF74e1OyRio2mZZ4lKtPIC8qbUDUFNpwbiesfgPFYq1scG0zDSS0yXNa44OIGJG4BVWutywdVPPkX9zr0w7gcMVXaOZT6rvfcsyk1bPTYsShCMPD9Evp7vVp/wAtnwWutpsuZduwTgTOHYIQpJuYUjmktrGywwlvXB0r3c78/jXWbSx1D1h71VX1gQXThzvGusuluYesPeqrVJ9hmSK7a+P6BMpKKS5tm2isOR3RekA+Q8kOgzAm9gdnE5jtGMyBVlmOtmBniRIy47UzHNxZbLjU4nX6M0gaPKuabvmn4BkXhE3TGzjhHHIlbNbRVpNqDJ3sO0Fcloh5ArAPEuovADgzWn0RdcTO5bPJa0TSqN9Vwd3iPEJ+rVNPxOH1nSpxcu9V9GdTTbtUbToTlyLo841ri38WElvbs4rJZrUj2jKutIPNBPQr5YtK0cXXLBNTPL7KfMP6H+FNZ7OA1t92MG61uwmJl3DhtXTeUeiOSpuqN5lQ1BG54bTJ7xJ7CuYptvUyBmHXo2kXQDG+NyQ3dfA9fhmskNa4ZVVrFxJcZJ2pUTrN6R4hM+iW5gicpESmaMR0pLu9zTs47HqNM4rTfCytbAHBXtMla4nz/Itxw68U+STqJGJBHYoterlOeC5j42SDmPnaoco3Y6oOGHxScVne3FRRJFGh1Rvr1PZ8VTUtNNmsLz3bL0R0nH2Ku1AimXBpI3gHDtQ+/exTI40zRjx2rNrbZexJxRCpWYXlpOtII6SGwRx/wubtJIgAZotaGEVPrCwy3DCOY3EgnWGGQ3cVMmNKhv8Ap02qZts9kvuvtweMHHCHjbhv3jah/lPRaKQuAax1hndAx/TMYopod8FonAfBch5Taca2ubpJuNAhokQRJnZBlYczd0dPoOmfv1fduU0/q39LPFyptzWXKd+7EOxMD0nbVVWqON8AtpgubdHOdGt2BZ22YGmXFwc5hLQX44SSSBtiSI4JW9V5fk9It3fn+DC6iwuFy84EwNgnrH4K+nRidcNu53RlwLjiT0JUKuLqhcXBjcJwxO4bBEd6rq1eUptwgzJMXWjPacNyom7LtKgm53OPW/vrPpV2oesPeqq+sAAcZOtsMZ19pWXSh1D1h71VdKT7DOdFdpevAFSkmSXNNmlkZVtmEuyBzwOWR+YVCts4l2V7PD9+xGL3HS4NdBz2EuaGghpxhzcxB5wg55bUV8mdNAViDSY41GkZHEjWGGO4oIQCDgHYHIsEcdUkmFPQtUNtFMy4AOElhh0YgwehO1tNLuMmbFHJjkmu47qnpnGPotP9Lvgi1K1EsgMFMHYARPehbLA8O/8Al9Mos4wBN/L081uyadqPHdSoKtP5J1LOypQcyoxrwb5x2EtYJG454rzTTGjTZawIxZN5p4A4tJ3/ABXplnd5t35vBqD6c0UK9FzcL2bTucMuw4jtWOUOWuTT0HWyxT0TfZexxekNICA26CcHG8JAkT34rLZ65L2htOmSXAAXczI4qOlKDmVLrwWkNZg4EHmt3ov5G6ML6vKEarBgdl84ewE+xUlklOR6abx4MDn5HdOtYPoUxwDcPFOy1weazuUYCre3GVrjFVR4h1JuwpabYCwQ3nY47IMLEa34Gd3+VCrVN1nQfeKqdUnJRJULjjrZGgWn8Le7/KTrR+Fv6f8AKz03BScEUl3l9KTNVbSoZRJu4iGwMjemOgYFc5TrwMkbFGabgccW/wBSyHRjSM4TsWmNj8MscE15g9loBeHEgAZT8EUtT3co5zLggjWeJ9Bh6WjjO9DK1hF6G4o3awL5L6TDF0NBJLnG63ANyHSd6maStHQxuGpNeBl8mmNcHvqOLiIDAcBtkhu1c35X0GttHJs9O4TwAaJ8EXovgMaWiRvJz33RiUA8qbO42gmJJa0axjuYMY6SsPVRp2dHoo/7lyvmPBm0lbXOfWFMZOa28MTGtt2BZm2si61sAtygX3zv9UHtWtwaX1WGXawmNVgi9k0eKzU7PDHmlmXEAzk0GMCsuR7ncxrb14EqtRpOs1t8nK8SS47YAutRO31abac4ugABpkw7edgA4IDZKIY8E6xAmG60HZJV/nGtcXkAEzEXjjsGxGOVrbxBLDGW/gbKtQuLifxf3ln0mdQ9Ye9UV9SsIcAPWxOJ+27AsukTqHrD3qi2yfYZjiu0vXgDZSUU651nRIyp0ecM/wAox4KlWUDB513PGJ2ZduSsnuVfBqJMG9ykQc5idkrPREuAgngDBy3/ADkpteMdaMDkxrZwykKmkJcMJ4TAOe3YrvlFEtmd75LaZm7ReypeyY7lBrbmnDPdvXRWhmyC3pMleV8j/wDW3+aPiuv0Dpy+BTcA17W+tevgE60zgRgCO3anxdM837Q6D/tx/Nfk6ugPNu/N4NWVrsVpszppn83g1ZAIKajzy7y+22cEgkAgtGeOQATU6IaMAANwED2K2lWwh3N9o4hZLdWuZHA4g7CjCO9Bi5z7NjvKkTgh1K1ucfmFrBw2J7g4jJY3HZl1oxazqn3isrQQr6zoFPqn3nKqFRcEjsiTM1I5KMBK+EADWiqW0XHiz23kMdXJ6UTqODqThsvM/qQeq26tOJLc1YUqEypBxnhBj2roLpLnG643oEMkXhdbm68I25zmuXLzK6K1VLj3ODn6sH0gxuo3Hmm8cMsMu6nUR3RtUbaRh0faDy0XQ2Bjvw49qBacrh1rc44TTGMTDZcNnYjGimh74LiS44kYe3OFl8pHs5UClF0Mb0uMuxd8Nix9W0uTf0P/AD0vBgFtEltXkwRec3XfgY1smjJV0NFNbmSeEkDuCIs5julv9SqJXOlKz0EVVodjQBAAA3AIVpi0yQwbMT07Ap23SwGDMTv2D4lCW5yc5UjyF8B15535v7yo0idU9Ye9UVrzzvzeNVUaROoesPeqLozfZZz4rtIGynUZSXOs6NEVbZSb2BAzz6MunuVCss41sAHZ4GO/HvV4vco1sa3PMHGMDnOPAS849iy0sxkesYG3Mq7MHVbzScSw5bromVRQ53o/my7VdvdFUtmaro9Wj+s/9kzC4VGmnda4YgtdIEbSZMJT/oKbDs1D+FmAMbXn1RmmPcWekaA0q2vRAbg6CC3aSYvVPw04EDoK1VAxokvb0w6PBebaM02aNUEON1xiofXGGz1QQCBwXaW94dSMOG/MZJ+FqTqzyvXdD7rKq/jIpt9uaSQKzQOrU/6rfW0ew0QL5FzWvHEEuicAJgwIj2rkXRwRRrz9HpifSeIndcjxK36UqpjJ9PpUdLrcJ0SwCOWZ+mp/1WqlTpucGiq3EjY6faFz14QMRKuo1G7Y7CEZQ77ETwXvZ1tv0c0NbrRd1RMmczs7VkFmb94O53wQ+223UpG9Oqc3T6Th+3sVlmtgObh3hZ1FqPJh9zkjHd2bmWdoP1g7nfBL6M31x3O+CpdUbvb3hTvt3jvCW/iLqRtoaKaaZE87GRgBExn0oE+xM+9b+l/wRMVfNu1trRnvvIS+qAcx3hNxXb3G4FO3bJGwsGPKtH5X/BbbXSaXOJrsaRBF5skG63HGNw3rC21txxGXD4og+s01CQGyHNxcAYEMdiRzRG3iVMj33ZsipPlkvJ7R7JLg8OiOaHDvvBcL5eUeTthDTkxuRg4yYXbaEtzQ8AGZwnCTtiAcohcL5R6SBtTpyDWDCDjAJxlYeplubvZmOX+rlK9qBlO2VBTdrnNn9SzOqPeYLi7hP7LZQtouHPDkxkDkX4dBEdypbbG4YHD0YEZOGeeMhZX3Hp1yzKnacVe20NvF2Imdg1coj2joU22xu455QIOsDe6YwQTC0EHnnfm8ayo0jzT1h71RbLRa5Dh1t2d6sfDBYtI8w9I96otsn2WY0u0gbKZJJYTaf//Z"/>
          <p:cNvSpPr>
            <a:spLocks noChangeAspect="1" noChangeArrowheads="1"/>
          </p:cNvSpPr>
          <p:nvPr/>
        </p:nvSpPr>
        <p:spPr bwMode="auto">
          <a:xfrm>
            <a:off x="155575" y="-1020763"/>
            <a:ext cx="2143125" cy="21336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r-TR"/>
          </a:p>
        </p:txBody>
      </p:sp>
      <p:pic>
        <p:nvPicPr>
          <p:cNvPr id="26632" name="Picture 8" descr="http://wwwdelivery.superstock.com/WI/223/4128/PreviewComp/SuperStock_4128R-788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43240" y="3357562"/>
            <a:ext cx="2435850" cy="2428892"/>
          </a:xfrm>
          <a:prstGeom prst="rect">
            <a:avLst/>
          </a:prstGeom>
          <a:noFill/>
        </p:spPr>
      </p:pic>
      <p:pic>
        <p:nvPicPr>
          <p:cNvPr id="26634" name="Picture 10" descr="http://2.bp.blogspot.com/-RyrTWSPjKHY/TWHC5gss0MI/AAAAAAAAAQI/rzoh0rk7oxE/s1600/eye4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72198" y="2571744"/>
            <a:ext cx="2330664" cy="1928826"/>
          </a:xfrm>
          <a:prstGeom prst="rect">
            <a:avLst/>
          </a:prstGeom>
          <a:noFill/>
        </p:spPr>
      </p:pic>
      <p:pic>
        <p:nvPicPr>
          <p:cNvPr id="10" name="Picture 2" descr="http://expattutor.files.wordpress.com/2011/07/british-vertical-handwriting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857884" y="4643446"/>
            <a:ext cx="2560706" cy="1714512"/>
          </a:xfrm>
          <a:prstGeom prst="rect">
            <a:avLst/>
          </a:prstGeom>
          <a:noFill/>
        </p:spPr>
      </p:pic>
      <p:pic>
        <p:nvPicPr>
          <p:cNvPr id="26636" name="Picture 12" descr="http://www.findbiometrics.com/biometric-images/voice-recognition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85786" y="4714884"/>
            <a:ext cx="1905000" cy="1857376"/>
          </a:xfrm>
          <a:prstGeom prst="rect">
            <a:avLst/>
          </a:prstGeom>
          <a:noFill/>
        </p:spPr>
      </p:pic>
      <p:sp>
        <p:nvSpPr>
          <p:cNvPr id="11" name="5 Başlık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</p:spPr>
        <p:txBody>
          <a:bodyPr/>
          <a:lstStyle/>
          <a:p>
            <a:r>
              <a:rPr lang="tr-TR" dirty="0"/>
              <a:t>Örüntü Tanıma İçin Örnekler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8AEABC-4B40-4E9E-9A59-4A513E5AB620}" type="slidenum">
              <a:rPr lang="en-US"/>
              <a:pPr>
                <a:defRPr/>
              </a:pPr>
              <a:t>8</a:t>
            </a:fld>
            <a:endParaRPr lang="en-US"/>
          </a:p>
        </p:txBody>
      </p:sp>
      <p:pic>
        <p:nvPicPr>
          <p:cNvPr id="12291" name="Picture 4"/>
          <p:cNvPicPr>
            <a:picLocks noChangeAspect="1" noChangeArrowheads="1"/>
          </p:cNvPicPr>
          <p:nvPr/>
        </p:nvPicPr>
        <p:blipFill>
          <a:blip r:embed="rId2" cstate="print"/>
          <a:srcRect l="49669" t="18985" r="12914" b="10155"/>
          <a:stretch>
            <a:fillRect/>
          </a:stretch>
        </p:blipFill>
        <p:spPr bwMode="auto">
          <a:xfrm>
            <a:off x="1200150" y="1276373"/>
            <a:ext cx="3829050" cy="543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2" name="Picture 5"/>
          <p:cNvPicPr>
            <a:picLocks noChangeAspect="1" noChangeArrowheads="1"/>
          </p:cNvPicPr>
          <p:nvPr/>
        </p:nvPicPr>
        <p:blipFill>
          <a:blip r:embed="rId2" cstate="print"/>
          <a:srcRect l="11093" t="18985" r="51820" b="10155"/>
          <a:stretch>
            <a:fillRect/>
          </a:stretch>
        </p:blipFill>
        <p:spPr bwMode="auto">
          <a:xfrm>
            <a:off x="5329238" y="1247798"/>
            <a:ext cx="3814762" cy="546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5 Başlık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</p:spPr>
        <p:txBody>
          <a:bodyPr/>
          <a:lstStyle/>
          <a:p>
            <a:r>
              <a:rPr lang="tr-TR" dirty="0"/>
              <a:t>Örüntü Tanıma İçin Örnekler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860A3B-475F-4D14-89F9-F0B2F12482D1}" type="slidenum">
              <a:rPr lang="en-US"/>
              <a:pPr>
                <a:defRPr/>
              </a:pPr>
              <a:t>9</a:t>
            </a:fld>
            <a:endParaRPr lang="en-US" dirty="0"/>
          </a:p>
        </p:txBody>
      </p:sp>
      <p:pic>
        <p:nvPicPr>
          <p:cNvPr id="8195" name="Picture 4"/>
          <p:cNvPicPr>
            <a:picLocks noChangeAspect="1" noChangeArrowheads="1"/>
          </p:cNvPicPr>
          <p:nvPr/>
        </p:nvPicPr>
        <p:blipFill>
          <a:blip r:embed="rId2" cstate="print"/>
          <a:srcRect l="25172" t="14592" r="4984" b="54295"/>
          <a:stretch>
            <a:fillRect/>
          </a:stretch>
        </p:blipFill>
        <p:spPr bwMode="auto">
          <a:xfrm>
            <a:off x="1214414" y="1214422"/>
            <a:ext cx="6538935" cy="2184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6" name="Picture 5"/>
          <p:cNvPicPr>
            <a:picLocks noChangeAspect="1" noChangeArrowheads="1"/>
          </p:cNvPicPr>
          <p:nvPr/>
        </p:nvPicPr>
        <p:blipFill>
          <a:blip r:embed="rId2" cstate="print"/>
          <a:srcRect l="25172" t="51222" r="4984" b="16782"/>
          <a:stretch>
            <a:fillRect/>
          </a:stretch>
        </p:blipFill>
        <p:spPr bwMode="auto">
          <a:xfrm>
            <a:off x="1071538" y="4000504"/>
            <a:ext cx="6616722" cy="22734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97" name="Text Box 6"/>
          <p:cNvSpPr txBox="1">
            <a:spLocks noChangeArrowheads="1"/>
          </p:cNvSpPr>
          <p:nvPr/>
        </p:nvSpPr>
        <p:spPr bwMode="auto">
          <a:xfrm>
            <a:off x="1190625" y="3357562"/>
            <a:ext cx="79533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 dirty="0"/>
              <a:t>(a) El yazısı</a:t>
            </a:r>
          </a:p>
        </p:txBody>
      </p:sp>
      <p:sp>
        <p:nvSpPr>
          <p:cNvPr id="8198" name="Text Box 7"/>
          <p:cNvSpPr txBox="1">
            <a:spLocks noChangeArrowheads="1"/>
          </p:cNvSpPr>
          <p:nvPr/>
        </p:nvSpPr>
        <p:spPr bwMode="auto">
          <a:xfrm>
            <a:off x="1250950" y="6342063"/>
            <a:ext cx="728503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 dirty="0"/>
              <a:t>(b) Karşılığı olan yazıcı karakterleri</a:t>
            </a:r>
          </a:p>
        </p:txBody>
      </p:sp>
      <p:sp>
        <p:nvSpPr>
          <p:cNvPr id="8199" name="Text Box 8"/>
          <p:cNvSpPr txBox="1">
            <a:spLocks noChangeArrowheads="1"/>
          </p:cNvSpPr>
          <p:nvPr/>
        </p:nvSpPr>
        <p:spPr bwMode="auto">
          <a:xfrm>
            <a:off x="2571736" y="3714752"/>
            <a:ext cx="42259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 b="1" dirty="0"/>
              <a:t>Çince el yazısı tanıma</a:t>
            </a:r>
          </a:p>
        </p:txBody>
      </p:sp>
      <p:sp>
        <p:nvSpPr>
          <p:cNvPr id="8" name="5 Başlık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</p:spPr>
        <p:txBody>
          <a:bodyPr/>
          <a:lstStyle/>
          <a:p>
            <a:r>
              <a:rPr lang="tr-TR" dirty="0"/>
              <a:t>Örüntü Tanıma İçin Örnekler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EFEA50-FF9E-4067-B68E-B5179710F7FC}" type="slidenum">
              <a:rPr lang="en-US"/>
              <a:pPr>
                <a:defRPr/>
              </a:pPr>
              <a:t>10</a:t>
            </a:fld>
            <a:endParaRPr lang="en-US"/>
          </a:p>
        </p:txBody>
      </p:sp>
      <p:pic>
        <p:nvPicPr>
          <p:cNvPr id="10243" name="Picture 4"/>
          <p:cNvPicPr>
            <a:picLocks noChangeAspect="1" noChangeArrowheads="1"/>
          </p:cNvPicPr>
          <p:nvPr/>
        </p:nvPicPr>
        <p:blipFill>
          <a:blip r:embed="rId2" cstate="print"/>
          <a:srcRect l="41891" t="30463" r="20042" b="18750"/>
          <a:stretch>
            <a:fillRect/>
          </a:stretch>
        </p:blipFill>
        <p:spPr bwMode="auto">
          <a:xfrm>
            <a:off x="2285984" y="1428736"/>
            <a:ext cx="5006975" cy="500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4" name="Text Box 5"/>
          <p:cNvSpPr txBox="1">
            <a:spLocks noChangeArrowheads="1"/>
          </p:cNvSpPr>
          <p:nvPr/>
        </p:nvSpPr>
        <p:spPr bwMode="auto">
          <a:xfrm>
            <a:off x="3786182" y="6215082"/>
            <a:ext cx="24098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 dirty="0"/>
              <a:t>Kristal Örüntüleri</a:t>
            </a:r>
          </a:p>
        </p:txBody>
      </p:sp>
      <p:sp>
        <p:nvSpPr>
          <p:cNvPr id="5" name="5 Başlık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</p:spPr>
        <p:txBody>
          <a:bodyPr/>
          <a:lstStyle/>
          <a:p>
            <a:r>
              <a:rPr lang="tr-TR" dirty="0"/>
              <a:t>Örüntü Tanıma İçin Örnekler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tr-TR" dirty="0"/>
              <a:t>Montaj bandındaki parçaların otomatik olarak denetimi.</a:t>
            </a:r>
            <a:endParaRPr lang="en-US" dirty="0"/>
          </a:p>
          <a:p>
            <a:endParaRPr lang="tr-TR" dirty="0"/>
          </a:p>
        </p:txBody>
      </p:sp>
      <p:pic>
        <p:nvPicPr>
          <p:cNvPr id="4" name="Picture 2" descr="http://www.c3systems.co.uk/wp-content/gallery/other-industries/factory-modern-robotic-assembly-line0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71670" y="2143116"/>
            <a:ext cx="4714908" cy="3654968"/>
          </a:xfrm>
          <a:prstGeom prst="rect">
            <a:avLst/>
          </a:prstGeom>
          <a:noFill/>
        </p:spPr>
      </p:pic>
      <p:sp>
        <p:nvSpPr>
          <p:cNvPr id="5" name="5 Başlık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</p:spPr>
        <p:txBody>
          <a:bodyPr/>
          <a:lstStyle/>
          <a:p>
            <a:r>
              <a:rPr lang="tr-TR" dirty="0"/>
              <a:t>Örüntü Tanıma İçin Örnekler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sz="quarter" idx="1"/>
          </p:nvPr>
        </p:nvSpPr>
        <p:spPr>
          <a:xfrm>
            <a:off x="785786" y="1447800"/>
            <a:ext cx="7901014" cy="4572000"/>
          </a:xfrm>
        </p:spPr>
        <p:txBody>
          <a:bodyPr>
            <a:normAutofit/>
          </a:bodyPr>
          <a:lstStyle/>
          <a:p>
            <a:endParaRPr lang="tr-TR" dirty="0"/>
          </a:p>
          <a:p>
            <a:r>
              <a:rPr lang="tr-TR" dirty="0"/>
              <a:t>Çizilmiş desenlerin ve basılmış karakterlerin otomatik olarak tespiti ve el yazısı tanıma.</a:t>
            </a:r>
            <a:endParaRPr lang="en-US" dirty="0"/>
          </a:p>
          <a:p>
            <a:endParaRPr lang="tr-TR" dirty="0"/>
          </a:p>
        </p:txBody>
      </p:sp>
      <p:pic>
        <p:nvPicPr>
          <p:cNvPr id="9218" name="Picture 2" descr="http://ritescript.com/products/images/rP-screenshot-1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728" y="3071810"/>
            <a:ext cx="2352675" cy="3086101"/>
          </a:xfrm>
          <a:prstGeom prst="rect">
            <a:avLst/>
          </a:prstGeom>
          <a:noFill/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00562" y="3429000"/>
            <a:ext cx="3571900" cy="2020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5 Başlık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</p:spPr>
        <p:txBody>
          <a:bodyPr/>
          <a:lstStyle/>
          <a:p>
            <a:r>
              <a:rPr lang="tr-TR" dirty="0"/>
              <a:t>Örüntü Tanıma İçin Örnekler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tr-TR" dirty="0"/>
              <a:t>Tarım ürünlerinin durumu ve tipini, hava durumunu, kar ve su rezervlerini ve mineralleri tespit etmek için kullanılan uydu görüntülerinin otomatik analizi.</a:t>
            </a:r>
            <a:endParaRPr lang="en-US" dirty="0"/>
          </a:p>
          <a:p>
            <a:pPr>
              <a:buNone/>
            </a:pPr>
            <a:endParaRPr lang="tr-TR" dirty="0"/>
          </a:p>
          <a:p>
            <a:endParaRPr lang="tr-TR" dirty="0"/>
          </a:p>
        </p:txBody>
      </p:sp>
      <p:pic>
        <p:nvPicPr>
          <p:cNvPr id="5" name="Picture 2" descr="Satellite view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71670" y="2714620"/>
            <a:ext cx="5000660" cy="3742919"/>
          </a:xfrm>
          <a:prstGeom prst="rect">
            <a:avLst/>
          </a:prstGeom>
          <a:noFill/>
        </p:spPr>
      </p:pic>
      <p:sp>
        <p:nvSpPr>
          <p:cNvPr id="4" name="5 Başlık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</p:spPr>
        <p:txBody>
          <a:bodyPr/>
          <a:lstStyle/>
          <a:p>
            <a:r>
              <a:rPr lang="tr-TR" dirty="0"/>
              <a:t>Örüntü Tanıma İçin Örnekler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sz="quarter" idx="1"/>
          </p:nvPr>
        </p:nvSpPr>
        <p:spPr>
          <a:xfrm>
            <a:off x="1285852" y="2643182"/>
            <a:ext cx="2443154" cy="2052638"/>
          </a:xfrm>
        </p:spPr>
        <p:txBody>
          <a:bodyPr/>
          <a:lstStyle/>
          <a:p>
            <a:r>
              <a:rPr lang="tr-TR" dirty="0"/>
              <a:t>Menü listesinden uygun seçim yapma</a:t>
            </a:r>
            <a:endParaRPr lang="en-US" dirty="0"/>
          </a:p>
        </p:txBody>
      </p:sp>
      <p:pic>
        <p:nvPicPr>
          <p:cNvPr id="29700" name="Picture 4" descr="http://www.woknrollonline.com/menu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57686" y="1571612"/>
            <a:ext cx="3571900" cy="4637590"/>
          </a:xfrm>
          <a:prstGeom prst="rect">
            <a:avLst/>
          </a:prstGeom>
          <a:noFill/>
        </p:spPr>
      </p:pic>
      <p:sp>
        <p:nvSpPr>
          <p:cNvPr id="4" name="5 Başlık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</p:spPr>
        <p:txBody>
          <a:bodyPr/>
          <a:lstStyle/>
          <a:p>
            <a:r>
              <a:rPr lang="tr-TR" dirty="0"/>
              <a:t>Örüntü Tanıma İçin Örnekler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tr-TR" dirty="0"/>
              <a:t>Elektrokardiyogramlar (solda)</a:t>
            </a:r>
            <a:r>
              <a:rPr lang="en-US" dirty="0"/>
              <a:t> </a:t>
            </a:r>
            <a:r>
              <a:rPr lang="tr-TR" dirty="0"/>
              <a:t>yardımıyla kalp hastalarının tıbbi kategorilerinin sınıflandırılması</a:t>
            </a:r>
            <a:r>
              <a:rPr lang="en-US" dirty="0"/>
              <a:t>, </a:t>
            </a:r>
            <a:r>
              <a:rPr lang="tr-TR" dirty="0"/>
              <a:t>elektroansefalogramlardaki (ortada ve sağda) dalgaların tespiti ve diğer tıbbi dalgaların analizi</a:t>
            </a:r>
            <a:endParaRPr lang="en-US" dirty="0"/>
          </a:p>
          <a:p>
            <a:endParaRPr lang="tr-TR" dirty="0"/>
          </a:p>
          <a:p>
            <a:endParaRPr lang="tr-TR" dirty="0"/>
          </a:p>
        </p:txBody>
      </p:sp>
      <p:pic>
        <p:nvPicPr>
          <p:cNvPr id="4" name="Picture 2" descr="http://www.heartsite.com/assets/images/ekg2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472" y="3429000"/>
            <a:ext cx="2599945" cy="2071702"/>
          </a:xfrm>
          <a:prstGeom prst="rect">
            <a:avLst/>
          </a:prstGeom>
          <a:noFill/>
        </p:spPr>
      </p:pic>
      <p:pic>
        <p:nvPicPr>
          <p:cNvPr id="28674" name="Picture 2" descr="http://whyfiles.org/coolimages/images/csi/geodes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57554" y="3200414"/>
            <a:ext cx="2857500" cy="2371726"/>
          </a:xfrm>
          <a:prstGeom prst="rect">
            <a:avLst/>
          </a:prstGeom>
          <a:noFill/>
        </p:spPr>
      </p:pic>
      <p:pic>
        <p:nvPicPr>
          <p:cNvPr id="28676" name="Picture 4" descr="http://img.tfd.com/dorland/thumbs/electroencephalogram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57950" y="3338526"/>
            <a:ext cx="2381250" cy="2162176"/>
          </a:xfrm>
          <a:prstGeom prst="rect">
            <a:avLst/>
          </a:prstGeom>
          <a:noFill/>
        </p:spPr>
      </p:pic>
      <p:sp>
        <p:nvSpPr>
          <p:cNvPr id="6" name="5 Başlık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</p:spPr>
        <p:txBody>
          <a:bodyPr/>
          <a:lstStyle/>
          <a:p>
            <a:r>
              <a:rPr lang="tr-TR" dirty="0"/>
              <a:t>Örüntü Tanıma İçin Örnekler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5 Başlık"/>
          <p:cNvSpPr>
            <a:spLocks noGrp="1"/>
          </p:cNvSpPr>
          <p:nvPr>
            <p:ph type="title"/>
          </p:nvPr>
        </p:nvSpPr>
        <p:spPr>
          <a:xfrm>
            <a:off x="571472" y="142852"/>
            <a:ext cx="7772400" cy="1143000"/>
          </a:xfrm>
        </p:spPr>
        <p:txBody>
          <a:bodyPr/>
          <a:lstStyle/>
          <a:p>
            <a:r>
              <a:rPr lang="tr-TR" dirty="0"/>
              <a:t>Örüntü Tanıma İçin Örnekler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14480" y="1214422"/>
            <a:ext cx="5295900" cy="549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 cstate="print"/>
          <a:srcRect l="12582" t="20309" r="12086" b="44371"/>
          <a:stretch>
            <a:fillRect/>
          </a:stretch>
        </p:blipFill>
        <p:spPr bwMode="auto">
          <a:xfrm>
            <a:off x="285720" y="214290"/>
            <a:ext cx="8569325" cy="297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219075" y="3140075"/>
            <a:ext cx="8566150" cy="2862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tr-TR" sz="2000" dirty="0"/>
              <a:t>Cinsiyet: Erkekse “1” bayansa “0”.</a:t>
            </a:r>
          </a:p>
          <a:p>
            <a:r>
              <a:rPr lang="tr-TR" sz="2000" dirty="0"/>
              <a:t>Eşi çalışıyorsa “1” yoksa “0”</a:t>
            </a:r>
            <a:endParaRPr lang="tr-TR" sz="2000" u="sng" dirty="0"/>
          </a:p>
          <a:p>
            <a:r>
              <a:rPr lang="tr-TR" sz="2000" u="sng" dirty="0"/>
              <a:t>Meslekler:  </a:t>
            </a:r>
            <a:r>
              <a:rPr lang="tr-TR" sz="2000" dirty="0"/>
              <a:t>Öğretmen: 0, Öğretim üyesi: 1,  Bankacı: 2, Mühendis: 3, Serbest meslek: 4, Doktor 5</a:t>
            </a:r>
          </a:p>
          <a:p>
            <a:r>
              <a:rPr lang="tr-TR" sz="2000" dirty="0"/>
              <a:t>Eşi çalışıyorsa “1” çalışmıyorsa “0”</a:t>
            </a:r>
          </a:p>
          <a:p>
            <a:r>
              <a:rPr lang="tr-TR" sz="2000" dirty="0"/>
              <a:t>Kendine ait evi varsa “1” yoksa 0”</a:t>
            </a:r>
          </a:p>
          <a:p>
            <a:r>
              <a:rPr lang="tr-TR" sz="2000" dirty="0"/>
              <a:t>Arabası varsa “1” yoksa “0”</a:t>
            </a:r>
          </a:p>
          <a:p>
            <a:r>
              <a:rPr lang="tr-TR" sz="2000" dirty="0"/>
              <a:t>Daha önce ödenmemiş borcu var mı (istihbarat): Varsa “1” yoksa “0”</a:t>
            </a:r>
          </a:p>
          <a:p>
            <a:r>
              <a:rPr lang="tr-TR" sz="2000" dirty="0"/>
              <a:t>Sonuç: Kredi kartı verilebilir “1” verilmesi riskli “0”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476" name="Group 820"/>
          <p:cNvGraphicFramePr>
            <a:graphicFrameLocks noGrp="1"/>
          </p:cNvGraphicFramePr>
          <p:nvPr>
            <p:ph/>
          </p:nvPr>
        </p:nvGraphicFramePr>
        <p:xfrm>
          <a:off x="711200" y="463550"/>
          <a:ext cx="7772400" cy="6098792"/>
        </p:xfrm>
        <a:graphic>
          <a:graphicData uri="http://schemas.openxmlformats.org/drawingml/2006/table">
            <a:tbl>
              <a:tblPr/>
              <a:tblGrid>
                <a:gridCol w="233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2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6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206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6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Problem alanı</a:t>
                      </a:r>
                      <a:endParaRPr kumimoji="0" lang="tr-TR" sz="16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horzOverflow="overflow">
                    <a:lnL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6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Uygulama</a:t>
                      </a:r>
                      <a:endParaRPr kumimoji="0" lang="tr-TR" sz="16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6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Giriş örüntüsü</a:t>
                      </a:r>
                      <a:endParaRPr kumimoji="0" lang="tr-TR" sz="16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6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Örüntü sınıfları</a:t>
                      </a:r>
                      <a:endParaRPr kumimoji="0" lang="tr-TR" sz="16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Doküman analizi </a:t>
                      </a:r>
                      <a:endParaRPr kumimoji="0" lang="tr-T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horzOverflow="overflow">
                    <a:lnL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Optik karakter tan</a:t>
                      </a: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ıma</a:t>
                      </a:r>
                      <a:endParaRPr kumimoji="0" 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Doküman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görüntüsü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Karakterler,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Kelimeler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Doküman sınıflama</a:t>
                      </a:r>
                      <a:endParaRPr kumimoji="0" lang="tr-T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horzOverflow="overflow">
                    <a:lnL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Internette arama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Yaz</a:t>
                      </a: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ı dokümanlar</a:t>
                      </a:r>
                      <a:endParaRPr kumimoji="0" 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Anlamsal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kategoriler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64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Doküman sınıflama</a:t>
                      </a:r>
                      <a:endParaRPr kumimoji="0" lang="tr-T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horzOverflow="overflow">
                    <a:lnL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Junk  e-posta filtreleme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E-mail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Junk e-mail/junk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olmayan e-mail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4863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Ses tanıma</a:t>
                      </a:r>
                      <a:endParaRPr kumimoji="0" lang="tr-T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horzOverflow="overflow">
                    <a:lnL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Telefon rehberi deste</a:t>
                      </a: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ği</a:t>
                      </a:r>
                      <a:endParaRPr kumimoji="0" 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Ses dalga</a:t>
                      </a: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 şekilleri</a:t>
                      </a:r>
                      <a:endParaRPr kumimoji="0" 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Konu</a:t>
                      </a: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şulan kelimeler</a:t>
                      </a:r>
                      <a:endParaRPr kumimoji="0" 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64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Doğal dil işleme</a:t>
                      </a:r>
                      <a:endParaRPr kumimoji="0" lang="tr-T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horzOverflow="overflow">
                    <a:lnL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Bilgi ç</a:t>
                      </a: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ıkartımı</a:t>
                      </a:r>
                      <a:endParaRPr kumimoji="0" 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Cümleler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Konu</a:t>
                      </a: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şmanın bölümleri</a:t>
                      </a:r>
                      <a:endParaRPr kumimoji="0" 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04863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Biometrik tanıma</a:t>
                      </a:r>
                      <a:endParaRPr kumimoji="0" lang="tr-T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horzOverflow="overflow">
                    <a:lnL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Ki</a:t>
                      </a: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şi tanımlama</a:t>
                      </a:r>
                      <a:endParaRPr kumimoji="0" 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Yüz, iris, parmak izi, imza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Kontrolde ki</a:t>
                      </a: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şi yetkilendirme</a:t>
                      </a:r>
                      <a:endParaRPr kumimoji="0" 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064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Tıpta </a:t>
                      </a:r>
                      <a:endParaRPr kumimoji="0" lang="tr-T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horzOverflow="overflow">
                    <a:lnL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Te</a:t>
                      </a: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şhis</a:t>
                      </a:r>
                      <a:endParaRPr kumimoji="0" 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Mikroskopik görüntüler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Kanserli/sa</a:t>
                      </a:r>
                      <a:r>
                        <a:rPr kumimoji="0" lang="tr-T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ğlıklı hücre</a:t>
                      </a:r>
                      <a:endParaRPr kumimoji="0" lang="tr-T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170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242BF0-C588-4AA0-AC85-D2FA3D8FA9DE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5170" name="Text Box 821"/>
          <p:cNvSpPr txBox="1">
            <a:spLocks noChangeArrowheads="1"/>
          </p:cNvSpPr>
          <p:nvPr/>
        </p:nvSpPr>
        <p:spPr bwMode="auto">
          <a:xfrm>
            <a:off x="503238" y="0"/>
            <a:ext cx="78089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tr-TR"/>
              <a:t>Örnek örüntü tanıma uygulamaları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3936" name="Group 208"/>
          <p:cNvGraphicFramePr>
            <a:graphicFrameLocks noGrp="1"/>
          </p:cNvGraphicFramePr>
          <p:nvPr>
            <p:ph/>
          </p:nvPr>
        </p:nvGraphicFramePr>
        <p:xfrm>
          <a:off x="517525" y="317500"/>
          <a:ext cx="7772400" cy="6350001"/>
        </p:xfrm>
        <a:graphic>
          <a:graphicData uri="http://schemas.openxmlformats.org/drawingml/2006/table">
            <a:tbl>
              <a:tblPr/>
              <a:tblGrid>
                <a:gridCol w="233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2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6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608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Problem alanı</a:t>
                      </a:r>
                      <a:endParaRPr kumimoji="0" lang="tr-T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horzOverflow="overflow">
                    <a:lnL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Uygulama</a:t>
                      </a:r>
                      <a:endParaRPr kumimoji="0" lang="tr-T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Giriş </a:t>
                      </a:r>
                      <a:r>
                        <a:rPr kumimoji="0" lang="tr-T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 pitchFamily="18" charset="0"/>
                          <a:cs typeface="Tahoma" pitchFamily="34" charset="0"/>
                        </a:rPr>
                        <a:t>ö</a:t>
                      </a:r>
                      <a:r>
                        <a:rPr kumimoji="0" lang="tr-T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r</a:t>
                      </a:r>
                      <a:r>
                        <a:rPr kumimoji="0" lang="tr-T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 pitchFamily="18" charset="0"/>
                          <a:cs typeface="Tahoma" pitchFamily="34" charset="0"/>
                        </a:rPr>
                        <a:t>ü</a:t>
                      </a:r>
                      <a:r>
                        <a:rPr kumimoji="0" lang="tr-T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nt</a:t>
                      </a:r>
                      <a:r>
                        <a:rPr kumimoji="0" lang="tr-T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 pitchFamily="18" charset="0"/>
                          <a:cs typeface="Tahoma" pitchFamily="34" charset="0"/>
                        </a:rPr>
                        <a:t>ü</a:t>
                      </a:r>
                      <a:r>
                        <a:rPr kumimoji="0" lang="tr-T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s</a:t>
                      </a:r>
                      <a:r>
                        <a:rPr kumimoji="0" lang="tr-T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 pitchFamily="18" charset="0"/>
                          <a:cs typeface="Tahoma" pitchFamily="34" charset="0"/>
                        </a:rPr>
                        <a:t>ü</a:t>
                      </a:r>
                      <a:endParaRPr kumimoji="0" lang="tr-T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 pitchFamily="18" charset="0"/>
                          <a:cs typeface="Tahoma" pitchFamily="34" charset="0"/>
                        </a:rPr>
                        <a:t>Ö</a:t>
                      </a:r>
                      <a:r>
                        <a:rPr kumimoji="0" lang="tr-T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r</a:t>
                      </a:r>
                      <a:r>
                        <a:rPr kumimoji="0" lang="tr-T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 pitchFamily="18" charset="0"/>
                          <a:cs typeface="Tahoma" pitchFamily="34" charset="0"/>
                        </a:rPr>
                        <a:t>ü</a:t>
                      </a:r>
                      <a:r>
                        <a:rPr kumimoji="0" lang="tr-T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nt</a:t>
                      </a:r>
                      <a:r>
                        <a:rPr kumimoji="0" lang="tr-T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 pitchFamily="18" charset="0"/>
                          <a:cs typeface="Tahoma" pitchFamily="34" charset="0"/>
                        </a:rPr>
                        <a:t>ü</a:t>
                      </a:r>
                      <a:r>
                        <a:rPr kumimoji="0" lang="tr-T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 sınıfları</a:t>
                      </a:r>
                      <a:endParaRPr kumimoji="0" 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1363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Askeriyede</a:t>
                      </a:r>
                      <a:endParaRPr kumimoji="0" 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horzOverflow="overflow">
                    <a:lnL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Otomatik hedef tan</a:t>
                      </a: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ıma</a:t>
                      </a:r>
                      <a:endParaRPr kumimoji="0" 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Optik yada</a:t>
                      </a:r>
                      <a:endParaRPr kumimoji="0" 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İnfrared</a:t>
                      </a: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image</a:t>
                      </a:r>
                      <a:endParaRPr kumimoji="0" 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Hedef tipi</a:t>
                      </a:r>
                      <a:endParaRPr kumimoji="0" 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663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End</a:t>
                      </a:r>
                      <a:r>
                        <a:rPr kumimoji="0" lang="tr-T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 pitchFamily="18" charset="0"/>
                          <a:cs typeface="Tahoma" pitchFamily="34" charset="0"/>
                        </a:rPr>
                        <a:t>ü</a:t>
                      </a:r>
                      <a:r>
                        <a:rPr kumimoji="0" lang="tr-T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striyel otomasyon</a:t>
                      </a:r>
                      <a:endParaRPr kumimoji="0" 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horzOverflow="overflow">
                    <a:lnL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Bask</a:t>
                      </a: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ılı devre denetimi</a:t>
                      </a:r>
                      <a:endParaRPr kumimoji="0" 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Görüntüde ışık</a:t>
                      </a:r>
                      <a:endParaRPr kumimoji="0" 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yoğunluğu yada</a:t>
                      </a:r>
                      <a:endParaRPr kumimoji="0" 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aral</a:t>
                      </a: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ığı</a:t>
                      </a:r>
                      <a:endParaRPr kumimoji="0" 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Hatal</a:t>
                      </a: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ı/hatasız </a:t>
                      </a: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 pitchFamily="18" charset="0"/>
                          <a:cs typeface="Tahoma" pitchFamily="34" charset="0"/>
                        </a:rPr>
                        <a:t>ü</a:t>
                      </a: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r</a:t>
                      </a: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 pitchFamily="18" charset="0"/>
                          <a:cs typeface="Tahoma" pitchFamily="34" charset="0"/>
                        </a:rPr>
                        <a:t>ü</a:t>
                      </a: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n</a:t>
                      </a:r>
                      <a:endParaRPr kumimoji="0" 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822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End</a:t>
                      </a:r>
                      <a:r>
                        <a:rPr kumimoji="0" lang="tr-T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 pitchFamily="18" charset="0"/>
                          <a:cs typeface="Tahoma" pitchFamily="34" charset="0"/>
                        </a:rPr>
                        <a:t>ü</a:t>
                      </a:r>
                      <a:r>
                        <a:rPr kumimoji="0" lang="tr-T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striyel otomasyon</a:t>
                      </a:r>
                      <a:endParaRPr kumimoji="0" 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horzOverflow="overflow">
                    <a:lnL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Meyve</a:t>
                      </a:r>
                      <a:endParaRPr kumimoji="0" 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ınıflandırma</a:t>
                      </a:r>
                      <a:endParaRPr kumimoji="0" 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Yürüyen bant</a:t>
                      </a:r>
                      <a:endParaRPr kumimoji="0" 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Üzerinden</a:t>
                      </a:r>
                      <a:endParaRPr kumimoji="0" 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al</a:t>
                      </a: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ınan meyve</a:t>
                      </a:r>
                      <a:endParaRPr kumimoji="0" 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g</a:t>
                      </a: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 pitchFamily="18" charset="0"/>
                        </a:rPr>
                        <a:t>ö</a:t>
                      </a: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r</a:t>
                      </a: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 pitchFamily="18" charset="0"/>
                        </a:rPr>
                        <a:t>ü</a:t>
                      </a: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nt</a:t>
                      </a: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 pitchFamily="18" charset="0"/>
                        </a:rPr>
                        <a:t>ü</a:t>
                      </a: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leri</a:t>
                      </a:r>
                      <a:endParaRPr kumimoji="0" 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Kalite derecesi</a:t>
                      </a:r>
                      <a:endParaRPr kumimoji="0" 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977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Uzaktan algılama</a:t>
                      </a:r>
                      <a:endParaRPr kumimoji="0" 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horzOverflow="overflow">
                    <a:lnL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Ürün kar</a:t>
                      </a: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ı tahmini</a:t>
                      </a:r>
                      <a:endParaRPr kumimoji="0" 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Çok yönlü</a:t>
                      </a:r>
                      <a:endParaRPr kumimoji="0" 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Foto</a:t>
                      </a: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ğraf</a:t>
                      </a:r>
                      <a:endParaRPr kumimoji="0" 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(multispektral)</a:t>
                      </a:r>
                      <a:endParaRPr kumimoji="0" 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Toprak kullan</a:t>
                      </a: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ım kategorileri</a:t>
                      </a:r>
                      <a:endParaRPr kumimoji="0" 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Biyoenformasyon</a:t>
                      </a:r>
                      <a:endParaRPr kumimoji="0" 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horzOverflow="overflow">
                    <a:lnL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Dizi analizleri</a:t>
                      </a:r>
                      <a:endParaRPr kumimoji="0" 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DNA dizileri</a:t>
                      </a:r>
                      <a:endParaRPr kumimoji="0" 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Bilinen gen tipleri</a:t>
                      </a:r>
                      <a:endParaRPr kumimoji="0" 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3663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Datamining</a:t>
                      </a:r>
                      <a:r>
                        <a:rPr kumimoji="0" lang="tr-T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 </a:t>
                      </a:r>
                      <a:endParaRPr kumimoji="0" lang="tr-T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Tahoma" pitchFamily="34" charset="0"/>
                      </a:endParaRPr>
                    </a:p>
                  </a:txBody>
                  <a:tcPr horzOverflow="overflow">
                    <a:lnL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Anlaml</a:t>
                      </a:r>
                      <a:r>
                        <a:rPr kumimoji="0" lang="tr-T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ı </a:t>
                      </a:r>
                      <a:r>
                        <a:rPr kumimoji="0" lang="tr-T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 pitchFamily="18" charset="0"/>
                          <a:cs typeface="Tahoma" pitchFamily="34" charset="0"/>
                        </a:rPr>
                        <a:t>ö</a:t>
                      </a:r>
                      <a:r>
                        <a:rPr kumimoji="0" lang="tr-T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r</a:t>
                      </a:r>
                      <a:r>
                        <a:rPr kumimoji="0" lang="tr-T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 pitchFamily="18" charset="0"/>
                          <a:cs typeface="Tahoma" pitchFamily="34" charset="0"/>
                        </a:rPr>
                        <a:t>ü</a:t>
                      </a:r>
                      <a:r>
                        <a:rPr kumimoji="0" lang="tr-T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nt</a:t>
                      </a:r>
                      <a:r>
                        <a:rPr kumimoji="0" lang="tr-T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 pitchFamily="18" charset="0"/>
                          <a:cs typeface="Tahoma" pitchFamily="34" charset="0"/>
                        </a:rPr>
                        <a:t>ü</a:t>
                      </a:r>
                      <a:r>
                        <a:rPr kumimoji="0" lang="tr-T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ler i</a:t>
                      </a:r>
                      <a:r>
                        <a:rPr kumimoji="0" lang="tr-T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 pitchFamily="18" charset="0"/>
                          <a:cs typeface="Tahoma" pitchFamily="34" charset="0"/>
                        </a:rPr>
                        <a:t>ç</a:t>
                      </a:r>
                      <a:r>
                        <a:rPr kumimoji="0" lang="tr-T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in arama</a:t>
                      </a:r>
                      <a:endParaRPr kumimoji="0" lang="tr-T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Çok boyutlu</a:t>
                      </a:r>
                      <a:endParaRPr kumimoji="0" 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uzayda noktalar</a:t>
                      </a:r>
                      <a:endParaRPr kumimoji="0" 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kumimoji="0" lang="tr-T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imes New Roman" pitchFamily="18" charset="0"/>
                          <a:cs typeface="Tahoma" pitchFamily="34" charset="0"/>
                        </a:rPr>
                        <a:t>ıkı (yoğun)</a:t>
                      </a:r>
                      <a:endParaRPr kumimoji="0" lang="tr-T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y</a:t>
                      </a:r>
                      <a:r>
                        <a:rPr kumimoji="0" lang="tr-T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ada iyi</a:t>
                      </a:r>
                      <a:r>
                        <a:rPr kumimoji="0" lang="tr-T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kumimoji="0" lang="tr-T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ayrıştırılmış</a:t>
                      </a:r>
                      <a:endParaRPr kumimoji="0" lang="tr-T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K</a:t>
                      </a:r>
                      <a:r>
                        <a:rPr kumimoji="0" lang="tr-T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 pitchFamily="18" charset="0"/>
                        </a:rPr>
                        <a:t>ü</a:t>
                      </a:r>
                      <a:r>
                        <a:rPr kumimoji="0" lang="tr-T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meler</a:t>
                      </a:r>
                      <a:r>
                        <a:rPr kumimoji="0" lang="tr-T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 gruplar</a:t>
                      </a:r>
                      <a:endParaRPr kumimoji="0" lang="tr-T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194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1C5745-10CD-4F03-97B7-39312E570179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sz="quarter" idx="1"/>
          </p:nvPr>
        </p:nvSpPr>
        <p:spPr>
          <a:xfrm>
            <a:off x="914400" y="1285860"/>
            <a:ext cx="7772400" cy="4733940"/>
          </a:xfrm>
        </p:spPr>
        <p:txBody>
          <a:bodyPr>
            <a:normAutofit fontScale="92500"/>
          </a:bodyPr>
          <a:lstStyle/>
          <a:p>
            <a:r>
              <a:rPr lang="tr-TR" dirty="0">
                <a:solidFill>
                  <a:srgbClr val="FF0000"/>
                </a:solidFill>
              </a:rPr>
              <a:t>Örüntü tanıma  (</a:t>
            </a:r>
            <a:r>
              <a:rPr lang="tr-TR" dirty="0" err="1">
                <a:solidFill>
                  <a:srgbClr val="FF0000"/>
                </a:solidFill>
              </a:rPr>
              <a:t>pattern</a:t>
            </a:r>
            <a:r>
              <a:rPr lang="tr-TR" dirty="0">
                <a:solidFill>
                  <a:srgbClr val="FF0000"/>
                </a:solidFill>
              </a:rPr>
              <a:t> </a:t>
            </a:r>
            <a:r>
              <a:rPr lang="tr-TR" dirty="0" err="1">
                <a:solidFill>
                  <a:srgbClr val="FF0000"/>
                </a:solidFill>
              </a:rPr>
              <a:t>recognition</a:t>
            </a:r>
            <a:r>
              <a:rPr lang="tr-TR" dirty="0">
                <a:solidFill>
                  <a:srgbClr val="FF0000"/>
                </a:solidFill>
              </a:rPr>
              <a:t>) </a:t>
            </a:r>
            <a:r>
              <a:rPr lang="tr-TR" dirty="0"/>
              <a:t>nesnelerin ve olayların otomatik olarak tespiti ve sınıflandırılmasıdır.</a:t>
            </a:r>
            <a:r>
              <a:rPr lang="en-US" dirty="0"/>
              <a:t> </a:t>
            </a:r>
          </a:p>
          <a:p>
            <a:r>
              <a:rPr lang="tr-TR" dirty="0">
                <a:solidFill>
                  <a:srgbClr val="FF0000"/>
                </a:solidFill>
              </a:rPr>
              <a:t>Örüntü tanıma </a:t>
            </a:r>
            <a:r>
              <a:rPr lang="tr-TR" dirty="0"/>
              <a:t>nesnelerin özellikle makineler tarafından kategorilere ayrılması ile ilgilidir.</a:t>
            </a:r>
            <a:endParaRPr lang="en-US" dirty="0"/>
          </a:p>
          <a:p>
            <a:pPr>
              <a:buNone/>
            </a:pPr>
            <a:endParaRPr lang="tr-TR" dirty="0"/>
          </a:p>
          <a:p>
            <a:r>
              <a:rPr lang="tr-TR" dirty="0"/>
              <a:t>Nesneleri sınıflandırmak için kullanılan ölçümler ve nitelikler  </a:t>
            </a:r>
            <a:r>
              <a:rPr lang="tr-TR" dirty="0">
                <a:solidFill>
                  <a:srgbClr val="FF0000"/>
                </a:solidFill>
              </a:rPr>
              <a:t>özellik</a:t>
            </a:r>
            <a:r>
              <a:rPr lang="tr-TR" dirty="0"/>
              <a:t> </a:t>
            </a:r>
            <a:r>
              <a:rPr lang="tr-TR" dirty="0">
                <a:solidFill>
                  <a:srgbClr val="FF0000"/>
                </a:solidFill>
              </a:rPr>
              <a:t>(</a:t>
            </a:r>
            <a:r>
              <a:rPr lang="tr-TR" dirty="0" err="1">
                <a:solidFill>
                  <a:srgbClr val="FF0000"/>
                </a:solidFill>
              </a:rPr>
              <a:t>features</a:t>
            </a:r>
            <a:r>
              <a:rPr lang="tr-TR" dirty="0">
                <a:solidFill>
                  <a:srgbClr val="FF0000"/>
                </a:solidFill>
              </a:rPr>
              <a:t>)  </a:t>
            </a:r>
            <a:r>
              <a:rPr lang="tr-TR" dirty="0"/>
              <a:t>ve bunların gruplandırıldıkları tip ve kategoriler </a:t>
            </a:r>
            <a:r>
              <a:rPr lang="tr-TR" dirty="0">
                <a:solidFill>
                  <a:srgbClr val="FF0000"/>
                </a:solidFill>
              </a:rPr>
              <a:t>sınıf</a:t>
            </a:r>
            <a:r>
              <a:rPr lang="tr-TR" dirty="0"/>
              <a:t> </a:t>
            </a:r>
            <a:r>
              <a:rPr lang="tr-TR" dirty="0">
                <a:solidFill>
                  <a:srgbClr val="FF0000"/>
                </a:solidFill>
              </a:rPr>
              <a:t>(</a:t>
            </a:r>
            <a:r>
              <a:rPr lang="tr-TR" dirty="0" err="1">
                <a:solidFill>
                  <a:srgbClr val="FF0000"/>
                </a:solidFill>
              </a:rPr>
              <a:t>classes</a:t>
            </a:r>
            <a:r>
              <a:rPr lang="tr-TR" dirty="0">
                <a:solidFill>
                  <a:srgbClr val="FF0000"/>
                </a:solidFill>
              </a:rPr>
              <a:t>) </a:t>
            </a:r>
            <a:r>
              <a:rPr lang="tr-TR" dirty="0"/>
              <a:t>olarak adlandırılır.</a:t>
            </a:r>
          </a:p>
          <a:p>
            <a:endParaRPr lang="tr-TR" dirty="0"/>
          </a:p>
          <a:p>
            <a:r>
              <a:rPr lang="tr-TR" dirty="0"/>
              <a:t>Sınıflandırılacak olan bireysel parçalar nesne ve durumlar </a:t>
            </a:r>
            <a:r>
              <a:rPr lang="tr-TR" dirty="0">
                <a:solidFill>
                  <a:srgbClr val="FF0000"/>
                </a:solidFill>
              </a:rPr>
              <a:t>örnek (</a:t>
            </a:r>
            <a:r>
              <a:rPr lang="tr-TR" dirty="0" err="1">
                <a:solidFill>
                  <a:srgbClr val="FF0000"/>
                </a:solidFill>
              </a:rPr>
              <a:t>samples</a:t>
            </a:r>
            <a:r>
              <a:rPr lang="tr-TR" dirty="0">
                <a:solidFill>
                  <a:srgbClr val="FF0000"/>
                </a:solidFill>
              </a:rPr>
              <a:t>)</a:t>
            </a:r>
            <a:r>
              <a:rPr lang="tr-TR" dirty="0"/>
              <a:t> veya bazen </a:t>
            </a:r>
            <a:r>
              <a:rPr lang="tr-TR" dirty="0">
                <a:solidFill>
                  <a:srgbClr val="FF0000"/>
                </a:solidFill>
              </a:rPr>
              <a:t>örüntü (</a:t>
            </a:r>
            <a:r>
              <a:rPr lang="tr-TR" dirty="0" err="1">
                <a:solidFill>
                  <a:srgbClr val="FF0000"/>
                </a:solidFill>
              </a:rPr>
              <a:t>patterns</a:t>
            </a:r>
            <a:r>
              <a:rPr lang="tr-TR" dirty="0">
                <a:solidFill>
                  <a:srgbClr val="FF0000"/>
                </a:solidFill>
              </a:rPr>
              <a:t>) </a:t>
            </a:r>
            <a:r>
              <a:rPr lang="tr-TR" dirty="0"/>
              <a:t>olarak adlandırılır.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İçerik Yer Tutucusu"/>
          <p:cNvSpPr>
            <a:spLocks noGrp="1"/>
          </p:cNvSpPr>
          <p:nvPr>
            <p:ph sz="quarter" idx="1"/>
          </p:nvPr>
        </p:nvSpPr>
        <p:spPr>
          <a:xfrm>
            <a:off x="971600" y="836712"/>
            <a:ext cx="7772400" cy="3838588"/>
          </a:xfrm>
        </p:spPr>
        <p:txBody>
          <a:bodyPr>
            <a:normAutofit lnSpcReduction="10000"/>
          </a:bodyPr>
          <a:lstStyle/>
          <a:p>
            <a:r>
              <a:rPr lang="tr-TR" dirty="0"/>
              <a:t>Şekil 1’de gösterilen el yazısı ile yazılmış rakamları göz önünde bulunduralım. Her rakam </a:t>
            </a:r>
            <a:r>
              <a:rPr lang="en-US" dirty="0"/>
              <a:t>28x28 pi</a:t>
            </a:r>
            <a:r>
              <a:rPr lang="tr-TR" dirty="0"/>
              <a:t>ks</a:t>
            </a:r>
            <a:r>
              <a:rPr lang="en-US" dirty="0"/>
              <a:t>el</a:t>
            </a:r>
            <a:r>
              <a:rPr lang="tr-TR" dirty="0" err="1"/>
              <a:t>lik</a:t>
            </a:r>
            <a:r>
              <a:rPr lang="en-US" dirty="0"/>
              <a:t> </a:t>
            </a:r>
            <a:r>
              <a:rPr lang="tr-TR" dirty="0"/>
              <a:t>görüntüye karşılık gelir ve böylece 784 rakamlı bir</a:t>
            </a:r>
            <a:r>
              <a:rPr lang="tr-TR" i="1" dirty="0"/>
              <a:t> x </a:t>
            </a:r>
            <a:r>
              <a:rPr lang="tr-TR" dirty="0"/>
              <a:t>vektörü ile temsil edilir. Hedef böyle bir vektörü giriş olarak alarak, 0,..9 rakamlarını çıkış olarak üreten bir makine inşa etmektir.</a:t>
            </a:r>
            <a:r>
              <a:rPr lang="en-US" dirty="0"/>
              <a:t> </a:t>
            </a:r>
            <a:r>
              <a:rPr lang="tr-TR" dirty="0"/>
              <a:t>Bu, el yazısının çeşitliliğinden dolayı önemli bir problemdir.</a:t>
            </a:r>
            <a:r>
              <a:rPr lang="en-US" dirty="0"/>
              <a:t> </a:t>
            </a:r>
            <a:r>
              <a:rPr lang="tr-TR" dirty="0"/>
              <a:t>Bu rakamları ayırt etmek için desendeki vuruş şekillerini temel alan el sanatı kurallarını veya sezgi kullanılabilir</a:t>
            </a:r>
            <a:r>
              <a:rPr lang="en-US" dirty="0"/>
              <a:t>, </a:t>
            </a:r>
            <a:r>
              <a:rPr lang="tr-TR" dirty="0"/>
              <a:t>fakat pratikte böyle bir yaklaşım</a:t>
            </a:r>
            <a:r>
              <a:rPr lang="en-US" dirty="0"/>
              <a:t> </a:t>
            </a:r>
            <a:r>
              <a:rPr lang="tr-TR" dirty="0"/>
              <a:t>kuralların ve istisnaların artmasına neden olur ve değişmeyen yetersiz sonuçlar verir.</a:t>
            </a:r>
            <a:endParaRPr lang="en-US" dirty="0"/>
          </a:p>
        </p:txBody>
      </p:sp>
      <p:sp>
        <p:nvSpPr>
          <p:cNvPr id="6" name="5 Metin kutusu"/>
          <p:cNvSpPr txBox="1"/>
          <p:nvPr/>
        </p:nvSpPr>
        <p:spPr>
          <a:xfrm>
            <a:off x="1214414" y="5214950"/>
            <a:ext cx="24288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Şekil.1 Örnek el yazısı rakamları.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5400000">
            <a:off x="6000759" y="4214819"/>
            <a:ext cx="1643076" cy="3214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tr-TR" dirty="0"/>
              <a:t>	Daha iyi sonuçlar makine öğrenmesi yaklaşımının benimsenmesi ile elde edilebilir. Bu yaklaşımda, </a:t>
            </a:r>
            <a:r>
              <a:rPr lang="tr-TR" dirty="0" err="1"/>
              <a:t>adaptif</a:t>
            </a:r>
            <a:r>
              <a:rPr lang="tr-TR" dirty="0"/>
              <a:t> bir modele ayarlamak için </a:t>
            </a:r>
            <a:r>
              <a:rPr lang="tr-TR" dirty="0">
                <a:solidFill>
                  <a:srgbClr val="FF0000"/>
                </a:solidFill>
              </a:rPr>
              <a:t>eğitim seti (</a:t>
            </a:r>
            <a:r>
              <a:rPr lang="en-US" dirty="0">
                <a:solidFill>
                  <a:srgbClr val="FF0000"/>
                </a:solidFill>
              </a:rPr>
              <a:t>training set</a:t>
            </a:r>
            <a:r>
              <a:rPr lang="tr-TR" dirty="0">
                <a:solidFill>
                  <a:srgbClr val="FF0000"/>
                </a:solidFill>
              </a:rPr>
              <a:t>)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tr-TR" dirty="0">
                <a:solidFill>
                  <a:srgbClr val="FF0000"/>
                </a:solidFill>
              </a:rPr>
              <a:t> </a:t>
            </a:r>
            <a:r>
              <a:rPr lang="tr-TR" dirty="0"/>
              <a:t>olarak adlandırılan </a:t>
            </a:r>
            <a:r>
              <a:rPr lang="en-US" dirty="0"/>
              <a:t>N </a:t>
            </a:r>
            <a:r>
              <a:rPr lang="tr-TR" dirty="0"/>
              <a:t>tane rakamın serisi</a:t>
            </a:r>
            <a:r>
              <a:rPr lang="en-US" i="1" dirty="0"/>
              <a:t>{x1</a:t>
            </a:r>
            <a:r>
              <a:rPr lang="en-US" dirty="0"/>
              <a:t>,…</a:t>
            </a:r>
            <a:r>
              <a:rPr lang="tr-TR" dirty="0"/>
              <a:t>,</a:t>
            </a:r>
            <a:r>
              <a:rPr lang="en-US" i="1" dirty="0" err="1"/>
              <a:t>xn</a:t>
            </a:r>
            <a:r>
              <a:rPr lang="en-US" dirty="0"/>
              <a:t>} </a:t>
            </a:r>
            <a:r>
              <a:rPr lang="tr-TR" dirty="0"/>
              <a:t>kullanılır</a:t>
            </a:r>
            <a:r>
              <a:rPr lang="en-US" dirty="0"/>
              <a:t>. </a:t>
            </a:r>
            <a:r>
              <a:rPr lang="tr-TR" dirty="0"/>
              <a:t>Eğitim setindeki rakamların tipik olarak her birinin incelenmesi ve el ile etiketlenmesi ile kategorileri  önceden bilinir. </a:t>
            </a:r>
            <a:r>
              <a:rPr lang="tr-TR" dirty="0">
                <a:solidFill>
                  <a:srgbClr val="FF0000"/>
                </a:solidFill>
              </a:rPr>
              <a:t>Hedef vektör (</a:t>
            </a:r>
            <a:r>
              <a:rPr lang="en-US" dirty="0">
                <a:solidFill>
                  <a:srgbClr val="FF0000"/>
                </a:solidFill>
              </a:rPr>
              <a:t>target vector</a:t>
            </a:r>
            <a:r>
              <a:rPr lang="tr-TR" dirty="0">
                <a:solidFill>
                  <a:srgbClr val="FF0000"/>
                </a:solidFill>
              </a:rPr>
              <a:t>)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i="1" dirty="0"/>
              <a:t>t</a:t>
            </a:r>
            <a:r>
              <a:rPr lang="tr-TR" dirty="0"/>
              <a:t> kullanılarak bir rakama karşılık gelen rakamı temsil eden kategoriyi belirleyebiliriz.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Çalışan bir makine öğrenme algoritmasının sonucu yeni rakam görüntüsü </a:t>
            </a:r>
            <a:r>
              <a:rPr lang="tr-TR" i="1" dirty="0" err="1"/>
              <a:t>x</a:t>
            </a:r>
            <a:r>
              <a:rPr lang="tr-TR" dirty="0" err="1"/>
              <a:t>’i</a:t>
            </a:r>
            <a:r>
              <a:rPr lang="tr-TR" dirty="0"/>
              <a:t> giriş olarak alan ve hedef vektörü olarak şifrelenmiş y çıkış vektörünü üreten </a:t>
            </a:r>
            <a:r>
              <a:rPr lang="tr-TR" i="1" dirty="0"/>
              <a:t>y</a:t>
            </a:r>
            <a:r>
              <a:rPr lang="tr-TR" dirty="0"/>
              <a:t>(</a:t>
            </a:r>
            <a:r>
              <a:rPr lang="tr-TR" i="1" dirty="0"/>
              <a:t>x</a:t>
            </a:r>
            <a:r>
              <a:rPr lang="tr-TR" dirty="0"/>
              <a:t>) fonksiyonu olarak açıklanabilir. </a:t>
            </a:r>
            <a:r>
              <a:rPr lang="tr-TR" i="1" dirty="0"/>
              <a:t>y</a:t>
            </a:r>
            <a:r>
              <a:rPr lang="tr-TR" dirty="0"/>
              <a:t>(</a:t>
            </a:r>
            <a:r>
              <a:rPr lang="tr-TR" i="1" dirty="0"/>
              <a:t>x</a:t>
            </a:r>
            <a:r>
              <a:rPr lang="tr-TR" dirty="0"/>
              <a:t>) fonksiyonunun kesin biçimi </a:t>
            </a:r>
            <a:r>
              <a:rPr lang="tr-TR" dirty="0">
                <a:solidFill>
                  <a:srgbClr val="FF0000"/>
                </a:solidFill>
              </a:rPr>
              <a:t>eğitim (</a:t>
            </a:r>
            <a:r>
              <a:rPr lang="tr-TR" dirty="0" err="1">
                <a:solidFill>
                  <a:srgbClr val="FF0000"/>
                </a:solidFill>
              </a:rPr>
              <a:t>training</a:t>
            </a:r>
            <a:r>
              <a:rPr lang="tr-TR" dirty="0">
                <a:solidFill>
                  <a:srgbClr val="FF0000"/>
                </a:solidFill>
              </a:rPr>
              <a:t>)</a:t>
            </a:r>
            <a:r>
              <a:rPr lang="tr-TR" dirty="0"/>
              <a:t> fazı esnasında tespit edilir. Bu, </a:t>
            </a:r>
            <a:r>
              <a:rPr lang="tr-TR" dirty="0">
                <a:solidFill>
                  <a:srgbClr val="FF0000"/>
                </a:solidFill>
              </a:rPr>
              <a:t>öğrenme</a:t>
            </a:r>
            <a:r>
              <a:rPr lang="tr-TR" dirty="0"/>
              <a:t> </a:t>
            </a:r>
            <a:r>
              <a:rPr lang="tr-TR" dirty="0">
                <a:solidFill>
                  <a:srgbClr val="FF0000"/>
                </a:solidFill>
              </a:rPr>
              <a:t>(</a:t>
            </a:r>
            <a:r>
              <a:rPr lang="en-US" dirty="0">
                <a:solidFill>
                  <a:srgbClr val="FF0000"/>
                </a:solidFill>
              </a:rPr>
              <a:t>learning</a:t>
            </a:r>
            <a:r>
              <a:rPr lang="tr-TR" dirty="0">
                <a:solidFill>
                  <a:srgbClr val="FF0000"/>
                </a:solidFill>
              </a:rPr>
              <a:t>)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tr-TR" dirty="0"/>
              <a:t>fazı olarak da bilinir. Model bir kere eğitildiğinde artık </a:t>
            </a:r>
            <a:r>
              <a:rPr lang="tr-TR" dirty="0">
                <a:solidFill>
                  <a:srgbClr val="FF0000"/>
                </a:solidFill>
              </a:rPr>
              <a:t>test</a:t>
            </a:r>
            <a:r>
              <a:rPr lang="tr-TR" dirty="0"/>
              <a:t> </a:t>
            </a:r>
            <a:r>
              <a:rPr lang="tr-TR" dirty="0">
                <a:solidFill>
                  <a:srgbClr val="FF0000"/>
                </a:solidFill>
              </a:rPr>
              <a:t>seti</a:t>
            </a:r>
            <a:r>
              <a:rPr lang="tr-TR" dirty="0"/>
              <a:t> olarak isimlendirilen yeni rakam görüntülerinin kimliklerini de tespit edebilir. Yeni örnekleri eğitim yapmadan doğru olarak sınıflandırma kabiliyetine </a:t>
            </a:r>
            <a:r>
              <a:rPr lang="tr-TR" dirty="0">
                <a:solidFill>
                  <a:srgbClr val="FF0000"/>
                </a:solidFill>
              </a:rPr>
              <a:t>genelleştirme</a:t>
            </a:r>
            <a:r>
              <a:rPr lang="tr-TR" dirty="0"/>
              <a:t> </a:t>
            </a:r>
            <a:r>
              <a:rPr lang="tr-TR" dirty="0">
                <a:solidFill>
                  <a:srgbClr val="FF0000"/>
                </a:solidFill>
              </a:rPr>
              <a:t>(</a:t>
            </a:r>
            <a:r>
              <a:rPr lang="en-US" dirty="0">
                <a:solidFill>
                  <a:srgbClr val="FF0000"/>
                </a:solidFill>
              </a:rPr>
              <a:t>generalization</a:t>
            </a:r>
            <a:r>
              <a:rPr lang="tr-TR" dirty="0">
                <a:solidFill>
                  <a:srgbClr val="FF0000"/>
                </a:solidFill>
              </a:rPr>
              <a:t>)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tr-TR" dirty="0"/>
              <a:t>denir.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tr-TR" dirty="0"/>
              <a:t>Daha pratik yaklaşımlar için orijinal giriş değişkenleri yeni uzaya dönüştürülmek üzere tipik olarak </a:t>
            </a:r>
            <a:r>
              <a:rPr lang="tr-TR" dirty="0">
                <a:solidFill>
                  <a:srgbClr val="FF0000"/>
                </a:solidFill>
              </a:rPr>
              <a:t>ön işleme (</a:t>
            </a:r>
            <a:r>
              <a:rPr lang="en-US" dirty="0">
                <a:solidFill>
                  <a:srgbClr val="FF0000"/>
                </a:solidFill>
              </a:rPr>
              <a:t>pre-process</a:t>
            </a:r>
            <a:r>
              <a:rPr lang="tr-TR" dirty="0">
                <a:solidFill>
                  <a:srgbClr val="FF0000"/>
                </a:solidFill>
              </a:rPr>
              <a:t>)</a:t>
            </a:r>
            <a:r>
              <a:rPr lang="tr-TR" dirty="0"/>
              <a:t> tabi tutulur. Böylelikle örüntü tanıma problemi daha kolay çözülebilir. Bu ön işlem basamağı bazen </a:t>
            </a:r>
            <a:r>
              <a:rPr lang="tr-TR" dirty="0">
                <a:solidFill>
                  <a:srgbClr val="FF0000"/>
                </a:solidFill>
              </a:rPr>
              <a:t>özellik çıkartma (</a:t>
            </a:r>
            <a:r>
              <a:rPr lang="en-US" dirty="0">
                <a:solidFill>
                  <a:srgbClr val="FF0000"/>
                </a:solidFill>
              </a:rPr>
              <a:t>feature extraction </a:t>
            </a:r>
            <a:r>
              <a:rPr lang="tr-TR" dirty="0">
                <a:solidFill>
                  <a:srgbClr val="FF0000"/>
                </a:solidFill>
              </a:rPr>
              <a:t>) </a:t>
            </a:r>
            <a:r>
              <a:rPr lang="tr-TR" dirty="0"/>
              <a:t>olarak adlandırılır.</a:t>
            </a:r>
          </a:p>
          <a:p>
            <a:endParaRPr lang="tr-TR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Giriş vektörlerinin ve bunlara uyan hedef vektörlerin verildiği örneklerden oluşan eğitme uygulamaları </a:t>
            </a:r>
            <a:r>
              <a:rPr lang="tr-TR" dirty="0">
                <a:solidFill>
                  <a:srgbClr val="FF0000"/>
                </a:solidFill>
              </a:rPr>
              <a:t>eğiticili öğrenme (</a:t>
            </a:r>
            <a:r>
              <a:rPr lang="en-US" dirty="0">
                <a:solidFill>
                  <a:srgbClr val="FF0000"/>
                </a:solidFill>
              </a:rPr>
              <a:t>supervised learning</a:t>
            </a:r>
            <a:r>
              <a:rPr lang="tr-TR" dirty="0">
                <a:solidFill>
                  <a:srgbClr val="FF0000"/>
                </a:solidFill>
              </a:rPr>
              <a:t>)</a:t>
            </a:r>
            <a:r>
              <a:rPr lang="en-US" dirty="0"/>
              <a:t> </a:t>
            </a:r>
            <a:r>
              <a:rPr lang="tr-TR" dirty="0"/>
              <a:t>problemi olarak adlandırılır.</a:t>
            </a:r>
          </a:p>
          <a:p>
            <a:pPr>
              <a:buNone/>
            </a:pPr>
            <a:r>
              <a:rPr lang="tr-TR" dirty="0"/>
              <a:t>	 Rakam tanıma örneğindeki durumlardaki gibi, her bir giriş vektörünün ayrık kategorideki sonlu sayılardan birine tahsis edildiği problemler, </a:t>
            </a:r>
            <a:r>
              <a:rPr lang="tr-TR" dirty="0">
                <a:solidFill>
                  <a:srgbClr val="FF0000"/>
                </a:solidFill>
              </a:rPr>
              <a:t>sınıflandırma</a:t>
            </a:r>
            <a:r>
              <a:rPr lang="tr-TR" dirty="0"/>
              <a:t> </a:t>
            </a:r>
            <a:r>
              <a:rPr lang="tr-TR" dirty="0">
                <a:solidFill>
                  <a:srgbClr val="FF0000"/>
                </a:solidFill>
              </a:rPr>
              <a:t>(</a:t>
            </a:r>
            <a:r>
              <a:rPr lang="en-US" dirty="0">
                <a:solidFill>
                  <a:srgbClr val="FF0000"/>
                </a:solidFill>
              </a:rPr>
              <a:t>classification</a:t>
            </a:r>
            <a:r>
              <a:rPr lang="tr-TR" dirty="0">
                <a:solidFill>
                  <a:srgbClr val="FF0000"/>
                </a:solidFill>
              </a:rPr>
              <a:t>) </a:t>
            </a:r>
            <a:r>
              <a:rPr lang="tr-TR" dirty="0"/>
              <a:t>problemi olarak bilinir. Eğer istenen çıkış bir veya daha fazla değişken içeriyorsa, o zaman görev </a:t>
            </a:r>
            <a:r>
              <a:rPr lang="tr-TR" dirty="0">
                <a:solidFill>
                  <a:srgbClr val="FF0000"/>
                </a:solidFill>
              </a:rPr>
              <a:t>regresyon (</a:t>
            </a:r>
            <a:r>
              <a:rPr lang="tr-TR" dirty="0" err="1">
                <a:solidFill>
                  <a:srgbClr val="FF0000"/>
                </a:solidFill>
              </a:rPr>
              <a:t>regression</a:t>
            </a:r>
            <a:r>
              <a:rPr lang="tr-TR" dirty="0">
                <a:solidFill>
                  <a:srgbClr val="FF0000"/>
                </a:solidFill>
              </a:rPr>
              <a:t>)</a:t>
            </a:r>
            <a:r>
              <a:rPr lang="tr-TR" dirty="0"/>
              <a:t> olarak adlandırılır.</a:t>
            </a:r>
            <a:r>
              <a:rPr lang="en-US" dirty="0"/>
              <a:t> </a:t>
            </a:r>
            <a:r>
              <a:rPr lang="tr-TR" dirty="0"/>
              <a:t> </a:t>
            </a:r>
          </a:p>
          <a:p>
            <a:pPr>
              <a:buNone/>
            </a:pPr>
            <a:r>
              <a:rPr lang="tr-TR" dirty="0"/>
              <a:t>	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tr-TR" dirty="0"/>
              <a:t>Örüntü tanıma problemlerinde eğitim verisi herhangi bir hedef vektörü olmadan bir </a:t>
            </a:r>
            <a:r>
              <a:rPr lang="tr-TR" i="1" dirty="0"/>
              <a:t>x</a:t>
            </a:r>
            <a:r>
              <a:rPr lang="tr-TR" dirty="0"/>
              <a:t> giriş vektörü dizisinden oluşursa bu tip problemlere </a:t>
            </a:r>
            <a:r>
              <a:rPr lang="tr-TR" dirty="0">
                <a:solidFill>
                  <a:srgbClr val="FF0000"/>
                </a:solidFill>
              </a:rPr>
              <a:t>eğiticisiz öğrenme (</a:t>
            </a:r>
            <a:r>
              <a:rPr lang="en-US" dirty="0">
                <a:solidFill>
                  <a:srgbClr val="FF0000"/>
                </a:solidFill>
              </a:rPr>
              <a:t>unsupervised learning</a:t>
            </a:r>
            <a:r>
              <a:rPr lang="tr-TR" dirty="0">
                <a:solidFill>
                  <a:srgbClr val="FF0000"/>
                </a:solidFill>
              </a:rPr>
              <a:t>) </a:t>
            </a:r>
            <a:r>
              <a:rPr lang="tr-TR" dirty="0"/>
              <a:t>problemi denir. Eğiticisiz öğrenme verilerdeki benzer örnekleri bulmaya çalışır ve buna </a:t>
            </a:r>
            <a:r>
              <a:rPr lang="tr-TR" dirty="0">
                <a:solidFill>
                  <a:srgbClr val="FF0000"/>
                </a:solidFill>
              </a:rPr>
              <a:t>kümeleme (</a:t>
            </a:r>
            <a:r>
              <a:rPr lang="tr-TR" dirty="0" err="1">
                <a:solidFill>
                  <a:srgbClr val="FF0000"/>
                </a:solidFill>
              </a:rPr>
              <a:t>clustering</a:t>
            </a:r>
            <a:r>
              <a:rPr lang="tr-TR" dirty="0">
                <a:solidFill>
                  <a:srgbClr val="FF0000"/>
                </a:solidFill>
              </a:rPr>
              <a:t>)</a:t>
            </a:r>
            <a:r>
              <a:rPr lang="tr-TR" dirty="0"/>
              <a:t> denir.</a:t>
            </a:r>
          </a:p>
          <a:p>
            <a:pPr>
              <a:buNone/>
            </a:pPr>
            <a:endParaRPr lang="en-US" dirty="0"/>
          </a:p>
          <a:p>
            <a:r>
              <a:rPr lang="tr-TR" dirty="0"/>
              <a:t>Son olarak </a:t>
            </a:r>
            <a:r>
              <a:rPr lang="tr-TR" dirty="0">
                <a:solidFill>
                  <a:srgbClr val="FF0000"/>
                </a:solidFill>
              </a:rPr>
              <a:t>takviyeli öğrenme (</a:t>
            </a:r>
            <a:r>
              <a:rPr lang="en-US" dirty="0">
                <a:solidFill>
                  <a:srgbClr val="FF0000"/>
                </a:solidFill>
              </a:rPr>
              <a:t>reinforcement learning</a:t>
            </a:r>
            <a:r>
              <a:rPr lang="tr-TR" dirty="0">
                <a:solidFill>
                  <a:srgbClr val="FF0000"/>
                </a:solidFill>
              </a:rPr>
              <a:t>) </a:t>
            </a:r>
            <a:r>
              <a:rPr lang="tr-TR" dirty="0"/>
              <a:t>tekniği verilen durumda ödülü maksimuma çıkarmak için uygun davranışı bulma problemi ile ilgilidir. Burada, eğiticili öğrenmenin aksine, öğrenme algoritmasına en iyi sonuçların örnekleri verilmez, deneme yanılma işlemiyle bunları keşfetmesi beklenir. 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Kaynaklar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endParaRPr lang="tr-TR" dirty="0"/>
          </a:p>
          <a:p>
            <a:r>
              <a:rPr lang="tr-TR" dirty="0" err="1"/>
              <a:t>Pattern</a:t>
            </a:r>
            <a:r>
              <a:rPr lang="tr-TR" dirty="0"/>
              <a:t> </a:t>
            </a:r>
            <a:r>
              <a:rPr lang="tr-TR" dirty="0" err="1"/>
              <a:t>Recognition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Image</a:t>
            </a:r>
            <a:r>
              <a:rPr lang="tr-TR" dirty="0"/>
              <a:t> </a:t>
            </a:r>
            <a:r>
              <a:rPr lang="tr-TR" dirty="0" err="1"/>
              <a:t>Analysis</a:t>
            </a:r>
            <a:r>
              <a:rPr lang="tr-TR" dirty="0"/>
              <a:t>,</a:t>
            </a:r>
            <a:br>
              <a:rPr lang="tr-TR" dirty="0"/>
            </a:br>
            <a:r>
              <a:rPr lang="tr-TR" dirty="0" err="1"/>
              <a:t>Gose</a:t>
            </a:r>
            <a:r>
              <a:rPr lang="tr-TR" dirty="0"/>
              <a:t>, </a:t>
            </a:r>
            <a:r>
              <a:rPr lang="tr-TR" dirty="0" err="1"/>
              <a:t>Earl</a:t>
            </a:r>
            <a:r>
              <a:rPr lang="tr-TR" dirty="0"/>
              <a:t> ; Richard </a:t>
            </a:r>
            <a:r>
              <a:rPr lang="tr-TR" dirty="0" err="1"/>
              <a:t>Johnsonbaugh</a:t>
            </a:r>
            <a:r>
              <a:rPr lang="tr-TR" dirty="0"/>
              <a:t>, </a:t>
            </a:r>
            <a:r>
              <a:rPr lang="tr-TR" dirty="0" err="1"/>
              <a:t>Steve</a:t>
            </a:r>
            <a:r>
              <a:rPr lang="tr-TR" dirty="0"/>
              <a:t> </a:t>
            </a:r>
            <a:r>
              <a:rPr lang="tr-TR" dirty="0" err="1"/>
              <a:t>Lost</a:t>
            </a:r>
            <a:r>
              <a:rPr lang="tr-TR" dirty="0"/>
              <a:t>, </a:t>
            </a:r>
            <a:r>
              <a:rPr lang="tr-TR" dirty="0" err="1"/>
              <a:t>Prentice</a:t>
            </a:r>
            <a:r>
              <a:rPr lang="tr-TR" dirty="0"/>
              <a:t> </a:t>
            </a:r>
            <a:r>
              <a:rPr lang="tr-TR" dirty="0" err="1"/>
              <a:t>Hall</a:t>
            </a:r>
            <a:r>
              <a:rPr lang="tr-TR" dirty="0"/>
              <a:t>, 1996  </a:t>
            </a:r>
          </a:p>
          <a:p>
            <a:endParaRPr lang="tr-TR" dirty="0"/>
          </a:p>
          <a:p>
            <a:r>
              <a:rPr lang="tr-TR" dirty="0" err="1"/>
              <a:t>Pattern</a:t>
            </a:r>
            <a:r>
              <a:rPr lang="tr-TR" dirty="0"/>
              <a:t> </a:t>
            </a:r>
            <a:r>
              <a:rPr lang="tr-TR" dirty="0" err="1"/>
              <a:t>Recognition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Machine</a:t>
            </a:r>
            <a:r>
              <a:rPr lang="tr-TR" dirty="0"/>
              <a:t> </a:t>
            </a:r>
            <a:r>
              <a:rPr lang="tr-TR" dirty="0" err="1"/>
              <a:t>Learning</a:t>
            </a:r>
            <a:br>
              <a:rPr lang="tr-TR" dirty="0"/>
            </a:br>
            <a:r>
              <a:rPr lang="tr-TR" dirty="0" err="1"/>
              <a:t>Bishop</a:t>
            </a:r>
            <a:r>
              <a:rPr lang="tr-TR" dirty="0"/>
              <a:t>, </a:t>
            </a:r>
            <a:r>
              <a:rPr lang="tr-TR" dirty="0" err="1"/>
              <a:t>Christopher</a:t>
            </a:r>
            <a:r>
              <a:rPr lang="tr-TR" dirty="0"/>
              <a:t> M. , </a:t>
            </a:r>
            <a:r>
              <a:rPr lang="tr-TR" dirty="0" err="1"/>
              <a:t>Springer</a:t>
            </a:r>
            <a:r>
              <a:rPr lang="tr-TR" dirty="0"/>
              <a:t> , 2006 </a:t>
            </a:r>
          </a:p>
          <a:p>
            <a:endParaRPr lang="tr-TR" dirty="0"/>
          </a:p>
          <a:p>
            <a:r>
              <a:rPr lang="en-US" dirty="0"/>
              <a:t>Introduction to Pattern Recognition and Computer Vision</a:t>
            </a:r>
            <a:r>
              <a:rPr lang="tr-TR" dirty="0"/>
              <a:t>, </a:t>
            </a:r>
            <a:r>
              <a:rPr lang="tr-TR" dirty="0" err="1"/>
              <a:t>Koichiro</a:t>
            </a:r>
            <a:r>
              <a:rPr lang="tr-TR" dirty="0"/>
              <a:t> DEGUCHI, </a:t>
            </a:r>
            <a:r>
              <a:rPr lang="en-US" dirty="0"/>
              <a:t>Graduate School of Information Sciences, Tohoku University</a:t>
            </a:r>
            <a:r>
              <a:rPr lang="tr-TR" dirty="0"/>
              <a:t>, 2011</a:t>
            </a:r>
          </a:p>
          <a:p>
            <a:pPr>
              <a:buNone/>
            </a:pPr>
            <a:endParaRPr lang="tr-TR" dirty="0"/>
          </a:p>
          <a:p>
            <a:r>
              <a:rPr lang="tr-TR" dirty="0" err="1"/>
              <a:t>Pattern</a:t>
            </a:r>
            <a:r>
              <a:rPr lang="tr-TR" dirty="0"/>
              <a:t> </a:t>
            </a:r>
            <a:r>
              <a:rPr lang="tr-TR" dirty="0" err="1"/>
              <a:t>Classification</a:t>
            </a:r>
            <a:r>
              <a:rPr lang="tr-TR" dirty="0"/>
              <a:t>, Richard O. </a:t>
            </a:r>
            <a:r>
              <a:rPr lang="tr-TR" dirty="0" err="1"/>
              <a:t>Duda</a:t>
            </a:r>
            <a:r>
              <a:rPr lang="tr-TR" dirty="0"/>
              <a:t>, Peter E. Hart, </a:t>
            </a:r>
            <a:r>
              <a:rPr lang="tr-TR" dirty="0" err="1"/>
              <a:t>David</a:t>
            </a:r>
            <a:r>
              <a:rPr lang="tr-TR" dirty="0"/>
              <a:t> G. </a:t>
            </a:r>
            <a:r>
              <a:rPr lang="tr-TR" dirty="0" err="1"/>
              <a:t>Stork</a:t>
            </a:r>
            <a:br>
              <a:rPr lang="tr-TR" dirty="0"/>
            </a:br>
            <a:endParaRPr lang="tr-TR" dirty="0"/>
          </a:p>
          <a:p>
            <a:endParaRPr lang="tr-TR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isse Senedi">
  <a:themeElements>
    <a:clrScheme name="Hisse Senedi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Hisse Senedi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Hisse Senedi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642</TotalTime>
  <Words>1230</Words>
  <Application>Microsoft Office PowerPoint</Application>
  <PresentationFormat>Ekran Gösterisi (4:3)</PresentationFormat>
  <Paragraphs>181</Paragraphs>
  <Slides>27</Slides>
  <Notes>3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27</vt:i4>
      </vt:variant>
    </vt:vector>
  </HeadingPairs>
  <TitlesOfParts>
    <vt:vector size="34" baseType="lpstr">
      <vt:lpstr>Calibri</vt:lpstr>
      <vt:lpstr>Franklin Gothic Book</vt:lpstr>
      <vt:lpstr>Perpetua</vt:lpstr>
      <vt:lpstr>Tahoma</vt:lpstr>
      <vt:lpstr>Times New Roman</vt:lpstr>
      <vt:lpstr>Wingdings 2</vt:lpstr>
      <vt:lpstr>Hisse Senedi</vt:lpstr>
      <vt:lpstr>Örüntü Tanıma </vt:lpstr>
      <vt:lpstr>Dersin İçeriği</vt:lpstr>
      <vt:lpstr>Örüntü Tanıma Uygulamaları</vt:lpstr>
      <vt:lpstr>Örüntü Tanıma İçin Örnekler</vt:lpstr>
      <vt:lpstr>Örüntü Tanıma İçin Örnekler</vt:lpstr>
      <vt:lpstr>Örüntü Tanıma İçin Örnekler</vt:lpstr>
      <vt:lpstr>Örüntü Tanıma İçin Örnekler</vt:lpstr>
      <vt:lpstr>Örüntü Tanıma İçin Örnekler</vt:lpstr>
      <vt:lpstr>Örüntü Tanıma İçin Örnekler</vt:lpstr>
      <vt:lpstr>Örüntü Tanıma İçin Örnekler</vt:lpstr>
      <vt:lpstr>Örüntü Tanıma İçin Örnekler</vt:lpstr>
      <vt:lpstr>Örüntü Tanıma İçin Örnekler</vt:lpstr>
      <vt:lpstr>Örüntü Tanıma İçin Örnekler</vt:lpstr>
      <vt:lpstr>Örüntü Tanıma İçin Örnekler</vt:lpstr>
      <vt:lpstr>Örüntü Tanıma İçin Örnekler</vt:lpstr>
      <vt:lpstr>Örüntü Tanıma İçin Örnekler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Kaynaklar</vt:lpstr>
    </vt:vector>
  </TitlesOfParts>
  <Company>SAU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Örüntü Tanımaya Giriş</dc:title>
  <dc:creator>Serap KAZAN</dc:creator>
  <cp:lastModifiedBy>Serap Çakar Kaman</cp:lastModifiedBy>
  <cp:revision>177</cp:revision>
  <dcterms:created xsi:type="dcterms:W3CDTF">2012-07-26T11:26:46Z</dcterms:created>
  <dcterms:modified xsi:type="dcterms:W3CDTF">2026-02-10T13:19:56Z</dcterms:modified>
</cp:coreProperties>
</file>